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B963BFD-98EB-4DF4-8F07-928FAB306286}">
  <a:tblStyle styleId="{EB963BFD-98EB-4DF4-8F07-928FAB30628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be4607b51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be4607b51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e4607b51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be4607b51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c2481b234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c2481b234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c2481b234a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c2481b234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c2481b234a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c2481b234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c2481b234a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c2481b234a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c2481b234a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c2481b234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c2481b234a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c2481b234a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2481b234a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c2481b234a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c2481b234a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c2481b234a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c2481b234a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c2481b234a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r>
              <a:rPr lang="en"/>
              <a:t>/12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200">
                <a:solidFill>
                  <a:schemeClr val="dk2"/>
                </a:solidFill>
              </a:defRPr>
            </a:lvl1pPr>
            <a:lvl2pPr lvl="1" algn="r">
              <a:buNone/>
              <a:defRPr sz="1200">
                <a:solidFill>
                  <a:schemeClr val="dk2"/>
                </a:solidFill>
              </a:defRPr>
            </a:lvl2pPr>
            <a:lvl3pPr lvl="2" algn="r">
              <a:buNone/>
              <a:defRPr sz="1200">
                <a:solidFill>
                  <a:schemeClr val="dk2"/>
                </a:solidFill>
              </a:defRPr>
            </a:lvl3pPr>
            <a:lvl4pPr lvl="3" algn="r">
              <a:buNone/>
              <a:defRPr sz="1200">
                <a:solidFill>
                  <a:schemeClr val="dk2"/>
                </a:solidFill>
              </a:defRPr>
            </a:lvl4pPr>
            <a:lvl5pPr lvl="4" algn="r">
              <a:buNone/>
              <a:defRPr sz="1200">
                <a:solidFill>
                  <a:schemeClr val="dk2"/>
                </a:solidFill>
              </a:defRPr>
            </a:lvl5pPr>
            <a:lvl6pPr lvl="5" algn="r">
              <a:buNone/>
              <a:defRPr sz="1200">
                <a:solidFill>
                  <a:schemeClr val="dk2"/>
                </a:solidFill>
              </a:defRPr>
            </a:lvl6pPr>
            <a:lvl7pPr lvl="6" algn="r">
              <a:buNone/>
              <a:defRPr sz="1200">
                <a:solidFill>
                  <a:schemeClr val="dk2"/>
                </a:solidFill>
              </a:defRPr>
            </a:lvl7pPr>
            <a:lvl8pPr lvl="7" algn="r">
              <a:buNone/>
              <a:defRPr sz="1200">
                <a:solidFill>
                  <a:schemeClr val="dk2"/>
                </a:solidFill>
              </a:defRPr>
            </a:lvl8pPr>
            <a:lvl9pPr lvl="8" algn="r">
              <a:buNone/>
              <a:defRPr sz="12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r>
              <a:rPr lang="en"/>
              <a:t>/12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Prezentacija i usporedba tema za diplomski rad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</a:rPr>
              <a:t>Zagreb, siječanj 2026.</a:t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5794800" y="4450500"/>
            <a:ext cx="3349200" cy="6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CCCCCC"/>
                </a:solidFill>
              </a:rPr>
              <a:t>Autor: Ante Čavar</a:t>
            </a:r>
            <a:endParaRPr sz="1800">
              <a:solidFill>
                <a:srgbClr val="CCCCCC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CCCCCC"/>
                </a:solidFill>
              </a:rPr>
              <a:t>Mentor: prof. Stjepan Groš</a:t>
            </a:r>
            <a:endParaRPr sz="1800">
              <a:solidFill>
                <a:srgbClr val="CCCCC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/>
              <a:t>Pregled</a:t>
            </a:r>
            <a:endParaRPr sz="3020"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Predstavljanje tema</a:t>
            </a:r>
            <a:endParaRPr sz="2400"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Prednosti</a:t>
            </a:r>
            <a:endParaRPr sz="2400"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Mane</a:t>
            </a:r>
            <a:endParaRPr sz="2400"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Usporedba</a:t>
            </a:r>
            <a:endParaRPr sz="2400"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Zaključak</a:t>
            </a:r>
            <a:endParaRPr sz="2400"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Literatura</a:t>
            </a:r>
            <a:endParaRPr sz="2400"/>
          </a:p>
        </p:txBody>
      </p:sp>
      <p:sp>
        <p:nvSpPr>
          <p:cNvPr id="63" name="Google Shape;63;p14"/>
          <p:cNvSpPr txBox="1"/>
          <p:nvPr/>
        </p:nvSpPr>
        <p:spPr>
          <a:xfrm>
            <a:off x="0" y="4748700"/>
            <a:ext cx="46425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Slajdovi za teme idu sekvencijalno po temi.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Točnije imati ćemo 1. 2. 3. </a:t>
            </a:r>
            <a:r>
              <a:rPr lang="en" sz="800">
                <a:solidFill>
                  <a:schemeClr val="dk2"/>
                </a:solidFill>
              </a:rPr>
              <a:t>za 1. temu</a:t>
            </a:r>
            <a:r>
              <a:rPr lang="en" sz="800">
                <a:solidFill>
                  <a:schemeClr val="dk2"/>
                </a:solidFill>
              </a:rPr>
              <a:t> pa opet 1. 2. 3. za 2. temu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r>
              <a:rPr lang="en"/>
              <a:t>/12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Osjetilna sposobnost ESP32 uz pomoć WiFi-a i CSI podataka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CSI (Channel State Information): stalno prisutan izvor informacija (OS obično te informacije skriva no Linux i ESP-IDF omogućuju čitanje tih informacija)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Korištenje ESP32 platforme -&gt; OGROMAN iskorak u polju “nevizualnog” nadziranja (špijunaža, nadziranje starijih, nadzor u osjetljivim prostorijama…)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3 stanja obrade signala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Uklanjanje šuma -&gt; ekstrakcija značajki -&gt; klasifikacija (prazna soba, x osoba prisutno, osoba stoji/sjedi/leži…)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U generativnim dubokim modelima zadnji korak je zamjenjen sa modeliranjem (prostora)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Točnost klasifikacije u “divljini” iznosi između 69% i 76%</a:t>
            </a:r>
            <a:endParaRPr/>
          </a:p>
        </p:txBody>
      </p:sp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r>
              <a:rPr lang="en"/>
              <a:t>/12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Prednosti - WiFi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Privatnost bez kamera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vizualna privatnost (spavaće sobe, kupaonice…)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Niska cijena i sveprisutnost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ESP32 pločice koštaju manje od 10€ te se ne mora mijenjati postojeća infrastruktura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Bez prepreka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WiFi signal prolazi kroz zidove za razliku od infracrvenih i fotonskih signala (toplina i svijetlost) te se sa 2-3 pločice može osigurati pokrivenost cijelog stana (ovisi o veličini i rasporedu i materijalu zidova)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Neiskorišten potencijal i nezasićeno tržište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N</a:t>
            </a:r>
            <a:r>
              <a:rPr lang="en"/>
              <a:t>a tržištu ne postoji rješenje koje je ovdje opisano a vjerujem da bi se ljudi osjećali sigurnije kad ih ne bi konstantno kamera promatrala</a:t>
            </a:r>
            <a:endParaRPr/>
          </a:p>
        </p:txBody>
      </p:sp>
      <p:sp>
        <p:nvSpPr>
          <p:cNvPr id="78" name="Google Shape;7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r>
              <a:rPr lang="en"/>
              <a:t>/12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Mane - WiFi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Ograničena publika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Broj ljudi/ustanova kojima je ovo rješenje potrebno nije velik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Eventualno zdravstvene ustanove, starački domovi, moteli…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Nepouzdani podatci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U “divljini” je teško dobiti točne oznake podataka zbog previše varijabli koje utječu na CSI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Sigurnosni rizici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Kako je tema podskup pametnih domova izložena je istim napadima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Zlonamjerni aktori mogu iskoristiti naše rješenje za prisluškivanje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Alternativna tema: Izgradnja open-source sustava poput AntiSense i ScatterShield koji služe kao ometači CSI informacija; trenutno se </a:t>
            </a:r>
            <a:r>
              <a:rPr lang="en"/>
              <a:t>primjenjuju</a:t>
            </a:r>
            <a:r>
              <a:rPr lang="en"/>
              <a:t> u korporativnom okruženju i u visokosigurnosnim uredskim prostorima (npr. sastanak u SOA-i)</a:t>
            </a:r>
            <a:endParaRPr/>
          </a:p>
        </p:txBody>
      </p:sp>
      <p:sp>
        <p:nvSpPr>
          <p:cNvPr id="85" name="Google Shape;8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r>
              <a:rPr lang="en"/>
              <a:t>/12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Trovanje/Lažiranje digitalnog otiska (u tražilicama)</a:t>
            </a:r>
            <a:endParaRPr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152475"/>
            <a:ext cx="8520600" cy="364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Tražilice prikupljaju veliki broj suptilnih informacija (konfiguracija sustava, hardware, software) kako bi izgradile UUID (Unique User IDentifier)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Canvas Fingerprinting, WebGL i AudioContext, nabrajanje ekstenzija, sistemski podatci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Informacije skupljene koristeći JavaScript API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Na temelju tog tog otiska se gradi psihološki profil korisnika od strane više različitih “trackera” koji međusobno razmjenjuju informacije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Lažiranje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Zamjena podataka generičkim ili uobičajnim vrijednostima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Chameleon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Trovanje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Dodavanje nasumičnog šuma običnim podatcima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CanvasBlocker</a:t>
            </a:r>
            <a:endParaRPr/>
          </a:p>
        </p:txBody>
      </p:sp>
      <p:sp>
        <p:nvSpPr>
          <p:cNvPr id="92" name="Google Shape;9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r>
              <a:rPr lang="en"/>
              <a:t>/12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Prednosti - Fingerprinting</a:t>
            </a:r>
            <a:endParaRPr/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Ne bi bilo “izmišljanje tople vode”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Trenutna rješenja se fokusiraju na JavaScript dok WASM (WebAssembly) i dalje ostaje netaknuto područje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Gašenje ili onemogućavanje JS-a dovodi do slomljenih stranica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WASM bi nam omogućio trovanje/lažiranje u kompletno novoj domeni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Beskonačna igra mačke i miša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Ne postoji konačno rješenje već se strane prilagođavaju promjenama i poboljšanjima</a:t>
            </a:r>
            <a:endParaRPr/>
          </a:p>
        </p:txBody>
      </p:sp>
      <p:sp>
        <p:nvSpPr>
          <p:cNvPr id="99" name="Google Shape;9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r>
              <a:rPr lang="en"/>
              <a:t>/12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Mane - Fingerprinting</a:t>
            </a:r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Neznanje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WASM mi je nepoznato područje te nisam ni siguran bi li mogao uspješno napraviti programsko rješenje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Zasićenost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Većina ljudi je dovoljno sretna s postojećim rješenjima te se očekuje od autora trenutnih rješenja da će se prilagođavati kako “trackeri” budu pametniji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Teško naplativo i upitna publika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Ovakve usluge svi očekuju za besplatno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Tema je jedinstvena te ovakvo rješenje bi bilo zanimljivo samo nekom tko je dovoljno osviješten</a:t>
            </a:r>
            <a:endParaRPr/>
          </a:p>
        </p:txBody>
      </p:sp>
      <p:sp>
        <p:nvSpPr>
          <p:cNvPr id="106" name="Google Shape;10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r>
              <a:rPr lang="en"/>
              <a:t>/12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Usporedba</a:t>
            </a:r>
            <a:endParaRPr/>
          </a:p>
        </p:txBody>
      </p:sp>
      <p:sp>
        <p:nvSpPr>
          <p:cNvPr id="112" name="Google Shape;11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r>
              <a:rPr lang="en"/>
              <a:t>/12</a:t>
            </a:r>
            <a:endParaRPr/>
          </a:p>
        </p:txBody>
      </p:sp>
      <p:graphicFrame>
        <p:nvGraphicFramePr>
          <p:cNvPr id="113" name="Google Shape;113;p21"/>
          <p:cNvGraphicFramePr/>
          <p:nvPr/>
        </p:nvGraphicFramePr>
        <p:xfrm>
          <a:off x="311700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{EB963BFD-98EB-4DF4-8F07-928FAB306286}</a:tableStyleId>
              </a:tblPr>
              <a:tblGrid>
                <a:gridCol w="1675725"/>
                <a:gridCol w="3395800"/>
                <a:gridCol w="3637925"/>
              </a:tblGrid>
              <a:tr h="566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Osjetilna sposobnost ESP32 uz pomoć WiFi-a i CSI podataka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Trovanje/Lažiranje digitalnog otiska (u tražilicama)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000000"/>
                    </a:solidFill>
                  </a:tcPr>
                </a:tc>
              </a:tr>
              <a:tr h="513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Izvedivost</a:t>
                      </a:r>
                      <a:endParaRPr sz="16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5</a:t>
                      </a:r>
                      <a:endParaRPr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5</a:t>
                      </a:r>
                      <a:endParaRPr sz="1600"/>
                    </a:p>
                  </a:txBody>
                  <a:tcPr marT="91425" marB="91425" marR="91425" marL="91425" anchor="ctr"/>
                </a:tc>
              </a:tr>
              <a:tr h="513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Naplativost</a:t>
                      </a:r>
                      <a:endParaRPr sz="16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4</a:t>
                      </a:r>
                      <a:endParaRPr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2</a:t>
                      </a:r>
                      <a:endParaRPr sz="1600"/>
                    </a:p>
                  </a:txBody>
                  <a:tcPr marT="91425" marB="91425" marR="91425" marL="91425" anchor="ctr"/>
                </a:tc>
              </a:tr>
              <a:tr h="513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Apriori znanje</a:t>
                      </a:r>
                      <a:endParaRPr sz="16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3</a:t>
                      </a:r>
                      <a:endParaRPr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1</a:t>
                      </a:r>
                      <a:endParaRPr sz="1600"/>
                    </a:p>
                  </a:txBody>
                  <a:tcPr marT="91425" marB="91425" marR="91425" marL="91425" anchor="ctr"/>
                </a:tc>
              </a:tr>
              <a:tr h="513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Korisnost</a:t>
                      </a:r>
                      <a:endParaRPr sz="16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3</a:t>
                      </a:r>
                      <a:endParaRPr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5</a:t>
                      </a:r>
                      <a:endParaRPr sz="1600"/>
                    </a:p>
                  </a:txBody>
                  <a:tcPr marT="91425" marB="91425" marR="91425" marL="91425" anchor="ctr"/>
                </a:tc>
              </a:tr>
              <a:tr h="513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Prezentabilnost</a:t>
                      </a:r>
                      <a:endParaRPr sz="16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4</a:t>
                      </a:r>
                      <a:endParaRPr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3</a:t>
                      </a:r>
                      <a:endParaRPr sz="1600"/>
                    </a:p>
                  </a:txBody>
                  <a:tcPr marT="91425" marB="91425" marR="91425" marL="91425" anchor="ctr"/>
                </a:tc>
              </a:tr>
              <a:tr h="513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Ocjena</a:t>
                      </a:r>
                      <a:endParaRPr sz="1600"/>
                    </a:p>
                  </a:txBody>
                  <a:tcPr marT="91425" marB="91425" marR="91425" marL="91425" anchor="ctr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5+4*2+3*2=19 /5= </a:t>
                      </a:r>
                      <a:r>
                        <a:rPr lang="en" sz="1600">
                          <a:solidFill>
                            <a:srgbClr val="38761D"/>
                          </a:solidFill>
                        </a:rPr>
                        <a:t>3.8</a:t>
                      </a:r>
                      <a:endParaRPr sz="1600">
                        <a:solidFill>
                          <a:srgbClr val="38761D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2*5+3+2+1=16 /5= </a:t>
                      </a:r>
                      <a:r>
                        <a:rPr lang="en" sz="1600">
                          <a:solidFill>
                            <a:srgbClr val="CC0000"/>
                          </a:solidFill>
                        </a:rPr>
                        <a:t>3.2</a:t>
                      </a:r>
                      <a:endParaRPr sz="1600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14" name="Google Shape;114;p21"/>
          <p:cNvSpPr txBox="1"/>
          <p:nvPr/>
        </p:nvSpPr>
        <p:spPr>
          <a:xfrm>
            <a:off x="0" y="4884600"/>
            <a:ext cx="71391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Skala: od 1 do 5, gdje je 1 jako loše/malo a 5 jako dobro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Zaključak</a:t>
            </a:r>
            <a:endParaRPr/>
          </a:p>
        </p:txBody>
      </p:sp>
      <p:sp>
        <p:nvSpPr>
          <p:cNvPr id="120" name="Google Shape;12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Smatram da je projekt sa ESP32 mnogo realniji a uz to je </a:t>
            </a:r>
            <a:r>
              <a:rPr lang="en"/>
              <a:t>ostvarivo</a:t>
            </a:r>
            <a:r>
              <a:rPr lang="en"/>
              <a:t> i lakše ga je monetizirati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Ja nemam ništa protiv ijedne ideje te sam otvoren za savjete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Uz limit od otprilike 4-5mj. (rok je u 7. mjesecu) smatram da je tema sa WiFi i ESP32 daleko ostvarivija</a:t>
            </a:r>
            <a:endParaRPr/>
          </a:p>
        </p:txBody>
      </p:sp>
      <p:sp>
        <p:nvSpPr>
          <p:cNvPr id="121" name="Google Shape;121;p22"/>
          <p:cNvSpPr txBox="1"/>
          <p:nvPr>
            <p:ph idx="12" type="sldNum"/>
          </p:nvPr>
        </p:nvSpPr>
        <p:spPr>
          <a:xfrm>
            <a:off x="8116045" y="4663225"/>
            <a:ext cx="9051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r>
              <a:rPr lang="en"/>
              <a:t>/12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Literatura</a:t>
            </a:r>
            <a:endParaRPr/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 sz="1000"/>
              <a:t>M. Cominelli, F. Gringoli, and R. Lo Cigno, "AntiSense: Standard-Compliant CSI Obfuscation Against Unauthorized Wi-Fi Sensing," Computer Communications, vol. 185, no. 4, pp. 200–210, Mar. 2022.</a:t>
            </a:r>
            <a:endParaRPr sz="1000"/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 sz="1000"/>
              <a:t>Y. Chen and J. Wang, "ScatterShield: Defending Against Unauthorized WiFi Sensing with Backscatter Tags," IEEE Transactions on Mobile Computing, vol. 24, no. 12, Dec. 2025.</a:t>
            </a:r>
            <a:endParaRPr sz="1000"/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 sz="1000"/>
              <a:t>J. Strohmayer, R. Sterzinger, C. Stippel, and M. Kampel, "Through-Wall Imaging Based on WiFi Channel State Information," arXiv preprint arXiv:2401.17417, Jan. 2024.</a:t>
            </a:r>
            <a:endParaRPr sz="1000"/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 sz="1000"/>
              <a:t>Y. Zhang, R. Bao, and X. Shi, "A Novel WiFi-Based Personnel Behavior Sensing with A Deep Learning Method," Sensors, vol. 25, no. 6, Mar. 2025.</a:t>
            </a:r>
            <a:endParaRPr sz="1000"/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 sz="1000"/>
              <a:t>M. S. M. S. Annamalai, I. Bilogrevic, and E. De Cristofaro, "Beyond the Crawl: Unmasking Browser Fingerprinting in Real User Interactions," in Proc. WWW Conf., 2025, pp. 3896–3907.</a:t>
            </a:r>
            <a:endParaRPr sz="1000"/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 sz="1000"/>
              <a:t> S. Shahcheraghi, J. Link, M. Cominelli, and A. Asadi, "Fingerprinting detection in the WebAssembly era: Defenses and gaps," Computers &amp; Security, vol. 157, Oct. 2025.</a:t>
            </a:r>
            <a:endParaRPr sz="1000"/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 sz="1000"/>
              <a:t> P. N. Bahrami, D. Cutler, and I. Bilogrevic, "Byte by Byte: Unmasking Browser Fingerprinting at the Function Level Using V8 Bytecode Transformers," in Proc. ACM Conf. Comput. Commun. Secur. (CCS), 2025, pp. 3723–3736.</a:t>
            </a:r>
            <a:endParaRPr sz="1000"/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 sz="1000"/>
              <a:t> B. Amin Azad, O. Starov, P. Laperdrix, and N. Nikiforakis, "Taming The Shape Shifter: Detecting Anti-fingerprinting Browsers," in Proc. DIMVA, 2020, pp. 189–209.</a:t>
            </a:r>
            <a:endParaRPr/>
          </a:p>
        </p:txBody>
      </p:sp>
      <p:sp>
        <p:nvSpPr>
          <p:cNvPr id="128" name="Google Shape;128;p23"/>
          <p:cNvSpPr txBox="1"/>
          <p:nvPr>
            <p:ph idx="12" type="sldNum"/>
          </p:nvPr>
        </p:nvSpPr>
        <p:spPr>
          <a:xfrm>
            <a:off x="7606688" y="4663225"/>
            <a:ext cx="141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r>
              <a:rPr lang="en"/>
              <a:t>/12</a:t>
            </a:r>
            <a:endParaRPr/>
          </a:p>
        </p:txBody>
      </p:sp>
      <p:cxnSp>
        <p:nvCxnSpPr>
          <p:cNvPr id="129" name="Google Shape;129;p23"/>
          <p:cNvCxnSpPr/>
          <p:nvPr/>
        </p:nvCxnSpPr>
        <p:spPr>
          <a:xfrm>
            <a:off x="500600" y="2810575"/>
            <a:ext cx="8520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diamond"/>
            <a:tailEnd len="med" w="med" type="diamond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Kraj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