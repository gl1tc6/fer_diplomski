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1140"/>
              </a:lnSpc>
            </a:pPr>
            <a:fld id="{81D60167-4931-47E6-BA6A-407CBD079E47}" type="slidenum">
              <a:rPr dirty="0" sz="1100" spc="-50">
                <a:latin typeface="Calibri"/>
                <a:cs typeface="Calibri"/>
              </a:rPr>
              <a:t>#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1140"/>
              </a:lnSpc>
            </a:pPr>
            <a:fld id="{81D60167-4931-47E6-BA6A-407CBD079E47}" type="slidenum">
              <a:rPr dirty="0" sz="1100" spc="-50">
                <a:latin typeface="Calibri"/>
                <a:cs typeface="Calibri"/>
              </a:rPr>
              <a:t>#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1140"/>
              </a:lnSpc>
            </a:pPr>
            <a:fld id="{81D60167-4931-47E6-BA6A-407CBD079E47}" type="slidenum">
              <a:rPr dirty="0" sz="1100" spc="-50">
                <a:latin typeface="Calibri"/>
                <a:cs typeface="Calibri"/>
              </a:rPr>
              <a:t>#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1140"/>
              </a:lnSpc>
            </a:pPr>
            <a:fld id="{81D60167-4931-47E6-BA6A-407CBD079E47}" type="slidenum">
              <a:rPr dirty="0" sz="1100" spc="-50">
                <a:latin typeface="Calibri"/>
                <a:cs typeface="Calibri"/>
              </a:rPr>
              <a:t>#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1140"/>
              </a:lnSpc>
            </a:pPr>
            <a:fld id="{81D60167-4931-47E6-BA6A-407CBD079E47}" type="slidenum">
              <a:rPr dirty="0" sz="1100" spc="-50">
                <a:latin typeface="Calibri"/>
                <a:cs typeface="Calibri"/>
              </a:rPr>
              <a:t>#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813467" y="9583142"/>
            <a:ext cx="158750" cy="2056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ts val="1140"/>
              </a:lnSpc>
            </a:pPr>
            <a:fld id="{81D60167-4931-47E6-BA6A-407CBD079E47}" type="slidenum">
              <a:rPr dirty="0" sz="1100" spc="-50">
                <a:latin typeface="Calibri"/>
                <a:cs typeface="Calibri"/>
              </a:rPr>
              <a:t>#</a:t>
            </a:fld>
            <a:endParaRPr sz="1100">
              <a:latin typeface="Calibri"/>
              <a:cs typeface="Calibri"/>
            </a:endParaRP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20509" y="274320"/>
          <a:ext cx="5133340" cy="353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4850"/>
                <a:gridCol w="1806575"/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Prezime,</a:t>
                      </a:r>
                      <a:r>
                        <a:rPr dirty="0" sz="1100" spc="3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Ime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135">
                          <a:latin typeface="Calibri"/>
                          <a:cs typeface="Calibri"/>
                        </a:rPr>
                        <a:t>JMBAG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6821030" y="276847"/>
            <a:ext cx="582295" cy="17716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1190"/>
              </a:lnSpc>
            </a:pPr>
            <a:r>
              <a:rPr dirty="0" sz="1100" spc="-10">
                <a:latin typeface="Calibri"/>
                <a:cs typeface="Calibri"/>
              </a:rPr>
              <a:t>Bodovi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21030" y="453986"/>
            <a:ext cx="582295" cy="177165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95275">
              <a:lnSpc>
                <a:spcPts val="1190"/>
              </a:lnSpc>
            </a:pPr>
            <a:r>
              <a:rPr dirty="0" sz="1100" spc="-25" i="1">
                <a:latin typeface="Calibri"/>
                <a:cs typeface="Calibri"/>
              </a:rPr>
              <a:t>/</a:t>
            </a:r>
            <a:r>
              <a:rPr dirty="0" sz="1100" spc="-25">
                <a:latin typeface="Calibri"/>
                <a:cs typeface="Calibri"/>
              </a:rPr>
              <a:t>30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217312" y="789495"/>
            <a:ext cx="61594" cy="0"/>
          </a:xfrm>
          <a:custGeom>
            <a:avLst/>
            <a:gdLst/>
            <a:ahLst/>
            <a:cxnLst/>
            <a:rect l="l" t="t" r="r" b="b"/>
            <a:pathLst>
              <a:path w="61595" h="0">
                <a:moveTo>
                  <a:pt x="0" y="0"/>
                </a:moveTo>
                <a:lnTo>
                  <a:pt x="61493" y="0"/>
                </a:lnTo>
              </a:path>
            </a:pathLst>
          </a:custGeom>
          <a:ln w="810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256154" y="2039950"/>
            <a:ext cx="48260" cy="0"/>
          </a:xfrm>
          <a:custGeom>
            <a:avLst/>
            <a:gdLst/>
            <a:ahLst/>
            <a:cxnLst/>
            <a:rect l="l" t="t" r="r" b="b"/>
            <a:pathLst>
              <a:path w="48260" h="0">
                <a:moveTo>
                  <a:pt x="0" y="0"/>
                </a:moveTo>
                <a:lnTo>
                  <a:pt x="48006" y="0"/>
                </a:lnTo>
              </a:path>
            </a:pathLst>
          </a:custGeom>
          <a:ln w="59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910776" y="2039950"/>
            <a:ext cx="48260" cy="0"/>
          </a:xfrm>
          <a:custGeom>
            <a:avLst/>
            <a:gdLst/>
            <a:ahLst/>
            <a:cxnLst/>
            <a:rect l="l" t="t" r="r" b="b"/>
            <a:pathLst>
              <a:path w="48260" h="0">
                <a:moveTo>
                  <a:pt x="0" y="0"/>
                </a:moveTo>
                <a:lnTo>
                  <a:pt x="48006" y="0"/>
                </a:lnTo>
              </a:path>
            </a:pathLst>
          </a:custGeom>
          <a:ln w="59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92861" y="692020"/>
            <a:ext cx="7156450" cy="143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86230">
              <a:lnSpc>
                <a:spcPct val="100000"/>
              </a:lnSpc>
              <a:spcBef>
                <a:spcPts val="135"/>
              </a:spcBef>
            </a:pPr>
            <a:r>
              <a:rPr dirty="0" sz="1400" spc="135" b="1">
                <a:latin typeface="Calibri"/>
                <a:cs typeface="Calibri"/>
              </a:rPr>
              <a:t>Kriptografija</a:t>
            </a:r>
            <a:r>
              <a:rPr dirty="0" sz="1400" spc="229" b="1">
                <a:latin typeface="Calibri"/>
                <a:cs typeface="Calibri"/>
              </a:rPr>
              <a:t> </a:t>
            </a:r>
            <a:r>
              <a:rPr dirty="0" sz="1400" spc="90" b="1">
                <a:latin typeface="Calibri"/>
                <a:cs typeface="Calibri"/>
              </a:rPr>
              <a:t>i</a:t>
            </a:r>
            <a:r>
              <a:rPr dirty="0" sz="1400" spc="229" b="1">
                <a:latin typeface="Calibri"/>
                <a:cs typeface="Calibri"/>
              </a:rPr>
              <a:t> </a:t>
            </a:r>
            <a:r>
              <a:rPr dirty="0" sz="1400" spc="140" b="1">
                <a:latin typeface="Calibri"/>
                <a:cs typeface="Calibri"/>
              </a:rPr>
              <a:t>Kriptoanaliza</a:t>
            </a:r>
            <a:r>
              <a:rPr dirty="0" sz="1400" spc="235" b="1">
                <a:latin typeface="Calibri"/>
                <a:cs typeface="Calibri"/>
              </a:rPr>
              <a:t> </a:t>
            </a:r>
            <a:r>
              <a:rPr dirty="0" sz="1400" spc="340" b="1">
                <a:latin typeface="Calibri"/>
                <a:cs typeface="Calibri"/>
              </a:rPr>
              <a:t>—</a:t>
            </a:r>
            <a:r>
              <a:rPr dirty="0" sz="1400" spc="229" b="1">
                <a:latin typeface="Calibri"/>
                <a:cs typeface="Calibri"/>
              </a:rPr>
              <a:t> </a:t>
            </a:r>
            <a:r>
              <a:rPr dirty="0" sz="1400" spc="114" b="1">
                <a:latin typeface="Calibri"/>
                <a:cs typeface="Calibri"/>
              </a:rPr>
              <a:t>Meduispit</a:t>
            </a:r>
            <a:endParaRPr sz="1400">
              <a:latin typeface="Calibri"/>
              <a:cs typeface="Calibri"/>
            </a:endParaRPr>
          </a:p>
          <a:p>
            <a:pPr marL="2947670">
              <a:lnSpc>
                <a:spcPct val="1000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3.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prosinca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2021.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2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1.</a:t>
            </a:r>
            <a:r>
              <a:rPr dirty="0" sz="1100" spc="3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(2)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Klasiˇcna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kriptografija.</a:t>
            </a:r>
            <a:endParaRPr sz="1100">
              <a:latin typeface="Calibri"/>
              <a:cs typeface="Calibri"/>
            </a:endParaRPr>
          </a:p>
          <a:p>
            <a:pPr marL="227329" marR="43180">
              <a:lnSpc>
                <a:spcPct val="102699"/>
              </a:lnSpc>
            </a:pPr>
            <a:r>
              <a:rPr dirty="0" sz="1100">
                <a:latin typeface="Calibri"/>
                <a:cs typeface="Calibri"/>
              </a:rPr>
              <a:t>Dekriptirati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tekst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</a:t>
            </a:r>
            <a:r>
              <a:rPr dirty="0" baseline="10101" sz="1650" spc="-15">
                <a:latin typeface="Calibri"/>
                <a:cs typeface="Calibri"/>
              </a:rPr>
              <a:t>ˇ</a:t>
            </a:r>
            <a:r>
              <a:rPr dirty="0" sz="1100" spc="-10">
                <a:latin typeface="Calibri"/>
                <a:cs typeface="Calibri"/>
              </a:rPr>
              <a:t>CMIJZ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koji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kriptiran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Playfairovom</a:t>
            </a:r>
            <a:r>
              <a:rPr dirty="0" sz="1100" spc="310" i="1">
                <a:latin typeface="Calibri"/>
                <a:cs typeface="Calibri"/>
              </a:rPr>
              <a:t> </a:t>
            </a:r>
            <a:r>
              <a:rPr dirty="0" sz="1100" spc="-30">
                <a:latin typeface="Calibri"/>
                <a:cs typeface="Calibri"/>
              </a:rPr>
              <a:t>ˇsifrom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kljuˇcem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 spc="-45">
                <a:latin typeface="Calibri"/>
                <a:cs typeface="Calibri"/>
              </a:rPr>
              <a:t>OVOJEMOJKLJU</a:t>
            </a:r>
            <a:r>
              <a:rPr dirty="0" baseline="10101" sz="1650" spc="-67">
                <a:latin typeface="Calibri"/>
                <a:cs typeface="Calibri"/>
              </a:rPr>
              <a:t>ˇ</a:t>
            </a:r>
            <a:r>
              <a:rPr dirty="0" sz="1100" spc="-45">
                <a:latin typeface="Calibri"/>
                <a:cs typeface="Calibri"/>
              </a:rPr>
              <a:t>C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ako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koristi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sljede´ci </a:t>
            </a:r>
            <a:r>
              <a:rPr dirty="0" sz="1100">
                <a:latin typeface="Calibri"/>
                <a:cs typeface="Calibri"/>
              </a:rPr>
              <a:t>alfabet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25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znakova:</a:t>
            </a:r>
            <a:endParaRPr sz="1100">
              <a:latin typeface="Calibri"/>
              <a:cs typeface="Calibri"/>
            </a:endParaRPr>
          </a:p>
          <a:p>
            <a:pPr algn="ctr" marL="176530">
              <a:lnSpc>
                <a:spcPct val="100000"/>
              </a:lnSpc>
              <a:spcBef>
                <a:spcPts val="819"/>
              </a:spcBef>
            </a:pP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2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baseline="10101" sz="1650" spc="-202">
                <a:latin typeface="Calibri"/>
                <a:cs typeface="Calibri"/>
              </a:rPr>
              <a:t>ˇ</a:t>
            </a:r>
            <a:r>
              <a:rPr dirty="0" sz="1100" spc="-135">
                <a:latin typeface="Calibri"/>
                <a:cs typeface="Calibri"/>
              </a:rPr>
              <a:t>C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baseline="10101" sz="1650" spc="-120">
                <a:latin typeface="Calibri"/>
                <a:cs typeface="Calibri"/>
              </a:rPr>
              <a:t>´</a:t>
            </a:r>
            <a:r>
              <a:rPr dirty="0" sz="1100" spc="-80">
                <a:latin typeface="Calibri"/>
                <a:cs typeface="Calibri"/>
              </a:rPr>
              <a:t>C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DD-</a:t>
            </a:r>
            <a:r>
              <a:rPr dirty="0" sz="1100" spc="65">
                <a:latin typeface="Calibri"/>
                <a:cs typeface="Calibri"/>
              </a:rPr>
              <a:t>(D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 spc="320">
                <a:latin typeface="Calibri"/>
                <a:cs typeface="Calibri"/>
              </a:rPr>
              <a:t>ili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 spc="65">
                <a:latin typeface="Calibri"/>
                <a:cs typeface="Calibri"/>
              </a:rPr>
              <a:t>D)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 spc="70">
                <a:latin typeface="Calibri"/>
                <a:cs typeface="Calibri"/>
              </a:rPr>
              <a:t>F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 spc="295">
                <a:latin typeface="Calibri"/>
                <a:cs typeface="Calibri"/>
              </a:rPr>
              <a:t>I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 spc="220">
                <a:latin typeface="Calibri"/>
                <a:cs typeface="Calibri"/>
              </a:rPr>
              <a:t>J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 spc="105">
                <a:latin typeface="Calibri"/>
                <a:cs typeface="Calibri"/>
              </a:rPr>
              <a:t>L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 spc="-370">
                <a:latin typeface="Calibri"/>
                <a:cs typeface="Calibri"/>
              </a:rPr>
              <a:t>M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 spc="-45">
                <a:latin typeface="Calibri"/>
                <a:cs typeface="Calibri"/>
              </a:rPr>
              <a:t>S</a:t>
            </a:r>
            <a:r>
              <a:rPr dirty="0" baseline="10101" sz="1650" spc="-67">
                <a:latin typeface="Calibri"/>
                <a:cs typeface="Calibri"/>
              </a:rPr>
              <a:t>ˇ</a:t>
            </a:r>
            <a:r>
              <a:rPr dirty="0" sz="1100" spc="-45">
                <a:latin typeface="Calibri"/>
                <a:cs typeface="Calibri"/>
              </a:rPr>
              <a:t>S-</a:t>
            </a:r>
            <a:r>
              <a:rPr dirty="0" sz="1100" spc="190">
                <a:latin typeface="Calibri"/>
                <a:cs typeface="Calibri"/>
              </a:rPr>
              <a:t>(S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 spc="320">
                <a:latin typeface="Calibri"/>
                <a:cs typeface="Calibri"/>
              </a:rPr>
              <a:t>ili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baseline="10101" sz="1650">
                <a:latin typeface="Calibri"/>
                <a:cs typeface="Calibri"/>
              </a:rPr>
              <a:t>ˇ</a:t>
            </a:r>
            <a:r>
              <a:rPr dirty="0" sz="1100">
                <a:latin typeface="Calibri"/>
                <a:cs typeface="Calibri"/>
              </a:rPr>
              <a:t>S)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sz="1100" spc="55">
                <a:latin typeface="Calibri"/>
                <a:cs typeface="Calibri"/>
              </a:rPr>
              <a:t>Z</a:t>
            </a:r>
            <a:r>
              <a:rPr dirty="0" sz="1100" spc="280">
                <a:latin typeface="Calibri"/>
                <a:cs typeface="Calibri"/>
              </a:rPr>
              <a:t> </a:t>
            </a:r>
            <a:r>
              <a:rPr dirty="0" baseline="10101" sz="1650" spc="-37">
                <a:latin typeface="Calibri"/>
                <a:cs typeface="Calibri"/>
              </a:rPr>
              <a:t>ˇ</a:t>
            </a:r>
            <a:r>
              <a:rPr dirty="0" sz="1100" spc="-25">
                <a:latin typeface="Calibri"/>
                <a:cs typeface="Calibri"/>
              </a:rPr>
              <a:t>Z.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337634" y="3031223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 h="0">
                <a:moveTo>
                  <a:pt x="0" y="0"/>
                </a:moveTo>
                <a:lnTo>
                  <a:pt x="45720" y="0"/>
                </a:lnTo>
              </a:path>
            </a:pathLst>
          </a:custGeom>
          <a:ln w="596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588937" y="2306238"/>
          <a:ext cx="4234815" cy="985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1170"/>
                <a:gridCol w="280669"/>
                <a:gridCol w="267970"/>
                <a:gridCol w="363220"/>
                <a:gridCol w="234314"/>
              </a:tblGrid>
              <a:tr h="231775">
                <a:tc>
                  <a:txBody>
                    <a:bodyPr/>
                    <a:lstStyle/>
                    <a:p>
                      <a:pPr marL="31750">
                        <a:lnSpc>
                          <a:spcPts val="1080"/>
                        </a:lnSpc>
                      </a:pPr>
                      <a:r>
                        <a:rPr dirty="0" sz="1100" i="1">
                          <a:latin typeface="Calibri"/>
                          <a:cs typeface="Calibri"/>
                        </a:rPr>
                        <a:t>Rjeˇsenje:</a:t>
                      </a:r>
                      <a:r>
                        <a:rPr dirty="0" sz="1100" spc="300" i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8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Iz</a:t>
                      </a:r>
                      <a:r>
                        <a:rPr dirty="0" sz="1100" spc="12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kljuˇca</a:t>
                      </a:r>
                      <a:r>
                        <a:rPr dirty="0" sz="1100" spc="114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se</a:t>
                      </a:r>
                      <a:r>
                        <a:rPr dirty="0" sz="1100" spc="12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generira</a:t>
                      </a:r>
                      <a:r>
                        <a:rPr dirty="0" sz="1100" spc="1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matrica</a:t>
                      </a:r>
                      <a:r>
                        <a:rPr dirty="0" sz="1100" spc="12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 </a:t>
                      </a:r>
                      <a:r>
                        <a:rPr dirty="0" sz="1100" spc="-35">
                          <a:solidFill>
                            <a:srgbClr val="0000FF"/>
                          </a:solidFill>
                          <a:latin typeface="Lucida Sans Unicode"/>
                          <a:cs typeface="Lucida Sans Unicode"/>
                        </a:rPr>
                        <a:t>×</a:t>
                      </a:r>
                      <a:r>
                        <a:rPr dirty="0" sz="1100" spc="-105">
                          <a:solidFill>
                            <a:srgbClr val="0000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-2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5: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3840">
                <a:tc>
                  <a:txBody>
                    <a:bodyPr/>
                    <a:lstStyle/>
                    <a:p>
                      <a:pPr algn="r" marR="8128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100" spc="6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20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100" spc="13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V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2069"/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100" spc="15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J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206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100" spc="1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2069"/>
                </a:tc>
                <a:tc>
                  <a:txBody>
                    <a:bodyPr/>
                    <a:lstStyle/>
                    <a:p>
                      <a:pPr algn="ctr" marL="4381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100" spc="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2069"/>
                </a:tc>
              </a:tr>
              <a:tr h="177800">
                <a:tc>
                  <a:txBody>
                    <a:bodyPr/>
                    <a:lstStyle/>
                    <a:p>
                      <a:pPr algn="r" marR="81280">
                        <a:lnSpc>
                          <a:spcPts val="1175"/>
                        </a:lnSpc>
                      </a:pPr>
                      <a:r>
                        <a:rPr dirty="0" sz="1100" spc="2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dirty="0" sz="1100" spc="16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75"/>
                        </a:lnSpc>
                      </a:pPr>
                      <a:r>
                        <a:rPr dirty="0" sz="1100" spc="6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U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7620">
                        <a:lnSpc>
                          <a:spcPts val="900"/>
                        </a:lnSpc>
                      </a:pPr>
                      <a:r>
                        <a:rPr dirty="0" baseline="-15151" sz="1650" spc="-412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100" spc="22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ˇ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3815">
                        <a:lnSpc>
                          <a:spcPts val="1175"/>
                        </a:lnSpc>
                      </a:pPr>
                      <a:r>
                        <a:rPr dirty="0" sz="1100" spc="12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77165">
                <a:tc>
                  <a:txBody>
                    <a:bodyPr/>
                    <a:lstStyle/>
                    <a:p>
                      <a:pPr algn="r" marR="85725">
                        <a:lnSpc>
                          <a:spcPts val="1215"/>
                        </a:lnSpc>
                      </a:pPr>
                      <a:r>
                        <a:rPr dirty="0" sz="1100" spc="114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dirty="0" sz="1100" spc="14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5"/>
                        </a:lnSpc>
                      </a:pPr>
                      <a:r>
                        <a:rPr dirty="0" baseline="-15151" sz="1650" spc="-412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100" spc="22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´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</a:pPr>
                      <a:r>
                        <a:rPr dirty="0" sz="1100" spc="13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DD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3815">
                        <a:lnSpc>
                          <a:spcPts val="1215"/>
                        </a:lnSpc>
                      </a:pPr>
                      <a:r>
                        <a:rPr dirty="0" sz="1100" spc="16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F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4940">
                <a:tc>
                  <a:txBody>
                    <a:bodyPr/>
                    <a:lstStyle/>
                    <a:p>
                      <a:pPr algn="r" marR="80645">
                        <a:lnSpc>
                          <a:spcPts val="1125"/>
                        </a:lnSpc>
                      </a:pPr>
                      <a:r>
                        <a:rPr dirty="0" sz="1100" spc="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G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5"/>
                        </a:lnSpc>
                      </a:pPr>
                      <a:r>
                        <a:rPr dirty="0" sz="1100" spc="8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H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1125"/>
                        </a:lnSpc>
                      </a:pPr>
                      <a:r>
                        <a:rPr dirty="0" sz="1100" spc="6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5"/>
                        </a:lnSpc>
                      </a:pPr>
                      <a:r>
                        <a:rPr dirty="0" sz="1100" spc="3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3815">
                        <a:lnSpc>
                          <a:spcPts val="1125"/>
                        </a:lnSpc>
                      </a:pPr>
                      <a:r>
                        <a:rPr dirty="0" sz="1100" spc="12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3342970" y="3280828"/>
            <a:ext cx="1068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  <a:tabLst>
                <a:tab pos="320040" algn="l"/>
                <a:tab pos="628015" algn="l"/>
                <a:tab pos="945515" algn="l"/>
              </a:tabLst>
            </a:pP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SS</a:t>
            </a:r>
            <a:r>
              <a:rPr dirty="0" baseline="15151" sz="1650" spc="-37">
                <a:solidFill>
                  <a:srgbClr val="0000FF"/>
                </a:solidFill>
                <a:latin typeface="Calibri"/>
                <a:cs typeface="Calibri"/>
              </a:rPr>
              <a:t>ˇ</a:t>
            </a:r>
            <a:r>
              <a:rPr dirty="0" baseline="15151" sz="165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T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100" spc="100">
                <a:solidFill>
                  <a:srgbClr val="0000FF"/>
                </a:solidFill>
                <a:latin typeface="Calibri"/>
                <a:cs typeface="Calibri"/>
              </a:rPr>
              <a:t>Z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571733" y="3245801"/>
            <a:ext cx="1536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15151" sz="1650" spc="-67">
                <a:solidFill>
                  <a:srgbClr val="0000FF"/>
                </a:solidFill>
                <a:latin typeface="Calibri"/>
                <a:cs typeface="Calibri"/>
              </a:rPr>
              <a:t>Z</a:t>
            </a:r>
            <a:r>
              <a:rPr dirty="0" sz="1100" spc="-45">
                <a:solidFill>
                  <a:srgbClr val="0000FF"/>
                </a:solidFill>
                <a:latin typeface="Calibri"/>
                <a:cs typeface="Calibri"/>
              </a:rPr>
              <a:t>ˇ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3905084" y="3717429"/>
            <a:ext cx="45720" cy="0"/>
          </a:xfrm>
          <a:custGeom>
            <a:avLst/>
            <a:gdLst/>
            <a:ahLst/>
            <a:cxnLst/>
            <a:rect l="l" t="t" r="r" b="b"/>
            <a:pathLst>
              <a:path w="45720" h="0">
                <a:moveTo>
                  <a:pt x="0" y="0"/>
                </a:moveTo>
                <a:lnTo>
                  <a:pt x="45720" y="0"/>
                </a:lnTo>
              </a:path>
            </a:pathLst>
          </a:custGeom>
          <a:ln w="596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546430" y="7523022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96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380161" y="3621238"/>
            <a:ext cx="7181850" cy="48120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40029">
              <a:lnSpc>
                <a:spcPct val="100000"/>
              </a:lnSpc>
              <a:spcBef>
                <a:spcPts val="90"/>
              </a:spcBef>
            </a:pP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Dekriptiraju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se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parovi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slova:</a:t>
            </a:r>
            <a:r>
              <a:rPr dirty="0" sz="1100" spc="25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95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dirty="0" sz="1100" spc="-409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15151" sz="1650" spc="315">
                <a:solidFill>
                  <a:srgbClr val="0000FF"/>
                </a:solidFill>
                <a:latin typeface="Calibri"/>
                <a:cs typeface="Calibri"/>
              </a:rPr>
              <a:t>ˇ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60">
                <a:solidFill>
                  <a:srgbClr val="0000FF"/>
                </a:solidFill>
                <a:latin typeface="Calibri"/>
                <a:cs typeface="Calibri"/>
              </a:rPr>
              <a:t>MI,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JZ,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te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imamo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50">
                <a:solidFill>
                  <a:srgbClr val="0000FF"/>
                </a:solidFill>
                <a:latin typeface="Calibri"/>
                <a:cs typeface="Calibri"/>
              </a:rPr>
              <a:t>DDA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JP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25">
                <a:solidFill>
                  <a:srgbClr val="0000FF"/>
                </a:solidFill>
                <a:latin typeface="Calibri"/>
                <a:cs typeface="Calibri"/>
              </a:rPr>
              <a:t>ET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70">
                <a:solidFill>
                  <a:srgbClr val="0000FF"/>
                </a:solidFill>
                <a:latin typeface="Calibri"/>
                <a:cs typeface="Calibri"/>
              </a:rPr>
              <a:t>DAJ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PET!</a:t>
            </a:r>
            <a:endParaRPr sz="1100">
              <a:latin typeface="Calibri"/>
              <a:cs typeface="Calibri"/>
            </a:endParaRPr>
          </a:p>
          <a:p>
            <a:pPr marL="240029" indent="-176530">
              <a:lnSpc>
                <a:spcPct val="100000"/>
              </a:lnSpc>
              <a:spcBef>
                <a:spcPts val="885"/>
              </a:spcBef>
              <a:buAutoNum type="arabicPeriod" startAt="2"/>
              <a:tabLst>
                <a:tab pos="240029" algn="l"/>
              </a:tabLst>
            </a:pPr>
            <a:r>
              <a:rPr dirty="0" sz="1100">
                <a:latin typeface="Calibri"/>
                <a:cs typeface="Calibri"/>
              </a:rPr>
              <a:t>(4)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Napadi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kriptosustave.</a:t>
            </a:r>
            <a:endParaRPr sz="1100">
              <a:latin typeface="Calibri"/>
              <a:cs typeface="Calibri"/>
            </a:endParaRPr>
          </a:p>
          <a:p>
            <a:pPr algn="just" lvl="1" marL="544830" marR="55880" indent="-246379">
              <a:lnSpc>
                <a:spcPct val="102600"/>
              </a:lnSpc>
              <a:spcBef>
                <a:spcPts val="855"/>
              </a:spcBef>
              <a:buAutoNum type="alphaLcParenBoth"/>
              <a:tabLst>
                <a:tab pos="544830" algn="l"/>
              </a:tabLst>
            </a:pPr>
            <a:r>
              <a:rPr dirty="0" sz="1100" spc="10">
                <a:latin typeface="Calibri"/>
                <a:cs typeface="Calibri"/>
              </a:rPr>
              <a:t>(1)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55">
                <a:latin typeface="Calibri"/>
                <a:cs typeface="Calibri"/>
              </a:rPr>
              <a:t>Koliko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ukupno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ulaznih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razlika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te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koliko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ukupmo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izlaznih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razlika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treba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razmotriti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u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postupku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diferencijalne </a:t>
            </a:r>
            <a:r>
              <a:rPr dirty="0" sz="1100">
                <a:latin typeface="Calibri"/>
                <a:cs typeface="Calibri"/>
              </a:rPr>
              <a:t>kriptoanalize</a:t>
            </a:r>
            <a:r>
              <a:rPr dirty="0" sz="1100" spc="25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nekog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simetriˇcnog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kriptosustava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jednom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supstitucijskom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tablicom</a:t>
            </a:r>
            <a:r>
              <a:rPr dirty="0" sz="1100" spc="25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koja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mijenja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jedan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 spc="55">
                <a:latin typeface="Calibri"/>
                <a:cs typeface="Calibri"/>
              </a:rPr>
              <a:t>bajt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na </a:t>
            </a:r>
            <a:r>
              <a:rPr dirty="0" sz="1100">
                <a:latin typeface="Calibri"/>
                <a:cs typeface="Calibri"/>
              </a:rPr>
              <a:t>ulazu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novim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bajtom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izlazu?</a:t>
            </a:r>
            <a:r>
              <a:rPr dirty="0" sz="1100" spc="3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Odgovor:</a:t>
            </a:r>
            <a:r>
              <a:rPr dirty="0" sz="1100" spc="3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Ukupan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broj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mogu´cih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ulaznih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razlika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iznosi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u="sng" sz="1100" spc="484">
                <a:uFill>
                  <a:solidFill>
                    <a:srgbClr val="7F7F7F"/>
                  </a:solidFill>
                </a:uFill>
                <a:latin typeface="Times New Roman"/>
                <a:cs typeface="Times New Roman"/>
              </a:rPr>
              <a:t>    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2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ukupan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broj </a:t>
            </a:r>
            <a:r>
              <a:rPr dirty="0" sz="1100">
                <a:latin typeface="Calibri"/>
                <a:cs typeface="Calibri"/>
              </a:rPr>
              <a:t>izlaznih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razlika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iznosi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u="sng" sz="1100" spc="395">
                <a:uFill>
                  <a:solidFill>
                    <a:srgbClr val="7F7F7F"/>
                  </a:solidFill>
                </a:uFill>
                <a:latin typeface="Times New Roman"/>
                <a:cs typeface="Times New Roman"/>
              </a:rPr>
              <a:t>     </a:t>
            </a:r>
            <a:r>
              <a:rPr dirty="0" sz="1100" spc="-5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54483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256</a:t>
            </a:r>
            <a:r>
              <a:rPr dirty="0" sz="1100" spc="-10" i="1">
                <a:solidFill>
                  <a:srgbClr val="0000FF"/>
                </a:solidFill>
                <a:latin typeface="Calibri"/>
                <a:cs typeface="Calibri"/>
              </a:rPr>
              <a:t>/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256</a:t>
            </a:r>
            <a:endParaRPr sz="1100">
              <a:latin typeface="Calibri"/>
              <a:cs typeface="Calibri"/>
            </a:endParaRPr>
          </a:p>
          <a:p>
            <a:pPr lvl="1" marL="544195" indent="-253365">
              <a:lnSpc>
                <a:spcPct val="100000"/>
              </a:lnSpc>
              <a:spcBef>
                <a:spcPts val="390"/>
              </a:spcBef>
              <a:buAutoNum type="alphaLcParenBoth" startAt="2"/>
              <a:tabLst>
                <a:tab pos="544195" algn="l"/>
              </a:tabLst>
            </a:pPr>
            <a:r>
              <a:rPr dirty="0" sz="1100">
                <a:latin typeface="Calibri"/>
                <a:cs typeface="Calibri"/>
              </a:rPr>
              <a:t>(1)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75">
                <a:latin typeface="Calibri"/>
                <a:cs typeface="Calibri"/>
              </a:rPr>
              <a:t>Koje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svojstvo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nekih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simetriˇcnih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kriptoalgoritama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omogu´cuje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napad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pretraˇzivanje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pola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prostora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rjeˇsenja?</a:t>
            </a:r>
            <a:endParaRPr sz="1100">
              <a:latin typeface="Calibri"/>
              <a:cs typeface="Calibri"/>
            </a:endParaRPr>
          </a:p>
          <a:p>
            <a:pPr marL="544830">
              <a:lnSpc>
                <a:spcPct val="100000"/>
              </a:lnSpc>
              <a:spcBef>
                <a:spcPts val="35"/>
              </a:spcBef>
            </a:pPr>
            <a:r>
              <a:rPr dirty="0" sz="1100" spc="2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sz="1100" spc="18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1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75" i="1">
                <a:solidFill>
                  <a:srgbClr val="0000FF"/>
                </a:solidFill>
                <a:latin typeface="Calibri"/>
                <a:cs typeface="Calibri"/>
              </a:rPr>
              <a:t>DES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175" i="1">
                <a:solidFill>
                  <a:srgbClr val="0000FF"/>
                </a:solidFill>
                <a:latin typeface="Calibri"/>
                <a:cs typeface="Calibri"/>
              </a:rPr>
              <a:t>M,</a:t>
            </a:r>
            <a:r>
              <a:rPr dirty="0" sz="1100" spc="-4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54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254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r>
              <a:rPr dirty="0" sz="1100" spc="1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1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8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27777" sz="1200" spc="120" i="1">
                <a:solidFill>
                  <a:srgbClr val="0000FF"/>
                </a:solidFill>
                <a:latin typeface="Verdana"/>
                <a:cs typeface="Verdana"/>
              </a:rPr>
              <a:t>r</a:t>
            </a:r>
            <a:r>
              <a:rPr dirty="0" baseline="27777" sz="1200" spc="187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1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50" i="1">
                <a:solidFill>
                  <a:srgbClr val="0000FF"/>
                </a:solidFill>
                <a:latin typeface="Calibri"/>
                <a:cs typeface="Calibri"/>
              </a:rPr>
              <a:t>DES</a:t>
            </a:r>
            <a:r>
              <a:rPr dirty="0" sz="1100" spc="15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15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27777" sz="1200" spc="225" i="1">
                <a:solidFill>
                  <a:srgbClr val="0000FF"/>
                </a:solidFill>
                <a:latin typeface="Verdana"/>
                <a:cs typeface="Verdana"/>
              </a:rPr>
              <a:t>r</a:t>
            </a:r>
            <a:r>
              <a:rPr dirty="0" sz="1100" spc="15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100" spc="-4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14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baseline="27777" sz="1200" spc="172" i="1">
                <a:solidFill>
                  <a:srgbClr val="0000FF"/>
                </a:solidFill>
                <a:latin typeface="Verdana"/>
                <a:cs typeface="Verdana"/>
              </a:rPr>
              <a:t>r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),</a:t>
            </a:r>
            <a:r>
              <a:rPr dirty="0" sz="1100" spc="1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gdje</a:t>
            </a:r>
            <a:r>
              <a:rPr dirty="0" sz="1100" spc="1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je</a:t>
            </a:r>
            <a:r>
              <a:rPr dirty="0" sz="1100" spc="1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50" i="1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dirty="0" baseline="27777" sz="1200" spc="225" i="1">
                <a:solidFill>
                  <a:srgbClr val="0000FF"/>
                </a:solidFill>
                <a:latin typeface="Verdana"/>
                <a:cs typeface="Verdana"/>
              </a:rPr>
              <a:t>r</a:t>
            </a:r>
            <a:r>
              <a:rPr dirty="0" baseline="27777" sz="1200" spc="284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oznaka</a:t>
            </a:r>
            <a:r>
              <a:rPr dirty="0" sz="1100" spc="1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za</a:t>
            </a:r>
            <a:r>
              <a:rPr dirty="0" sz="1100" spc="1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bitovni</a:t>
            </a:r>
            <a:r>
              <a:rPr dirty="0" sz="1100" spc="1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komplement</a:t>
            </a:r>
            <a:r>
              <a:rPr dirty="0" sz="1100" spc="1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vrijednosti</a:t>
            </a:r>
            <a:r>
              <a:rPr dirty="0" sz="1100" spc="1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75" i="1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endParaRPr sz="1100">
              <a:latin typeface="Calibri"/>
              <a:cs typeface="Calibri"/>
            </a:endParaRPr>
          </a:p>
          <a:p>
            <a:pPr lvl="1" marL="544830" indent="-238125">
              <a:lnSpc>
                <a:spcPct val="100000"/>
              </a:lnSpc>
              <a:spcBef>
                <a:spcPts val="390"/>
              </a:spcBef>
              <a:buAutoNum type="alphaLcParenBoth" startAt="3"/>
              <a:tabLst>
                <a:tab pos="544830" algn="l"/>
              </a:tabLst>
            </a:pPr>
            <a:r>
              <a:rPr dirty="0" sz="1100">
                <a:latin typeface="Calibri"/>
                <a:cs typeface="Calibri"/>
              </a:rPr>
              <a:t>(0.5)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Prilikom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napada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poznatim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ˇcistim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tekstom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</a:t>
            </a:r>
            <a:r>
              <a:rPr dirty="0" sz="1100" i="1">
                <a:latin typeface="Calibri"/>
                <a:cs typeface="Calibri"/>
              </a:rPr>
              <a:t>known-plaintext</a:t>
            </a:r>
            <a:r>
              <a:rPr dirty="0" sz="1100" spc="15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attack</a:t>
            </a:r>
            <a:r>
              <a:rPr dirty="0" sz="1100" spc="-95" i="1">
                <a:latin typeface="Calibri"/>
                <a:cs typeface="Calibri"/>
              </a:rPr>
              <a:t> </a:t>
            </a:r>
            <a:r>
              <a:rPr dirty="0" sz="1100" spc="80">
                <a:latin typeface="Calibri"/>
                <a:cs typeface="Calibri"/>
              </a:rPr>
              <a:t>)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 spc="-35">
                <a:latin typeface="Calibri"/>
                <a:cs typeface="Calibri"/>
              </a:rPr>
              <a:t>napadaˇc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 spc="45">
                <a:latin typeface="Calibri"/>
                <a:cs typeface="Calibri"/>
              </a:rPr>
              <a:t>(</a:t>
            </a:r>
            <a:r>
              <a:rPr dirty="0" sz="1100" spc="45" b="1">
                <a:latin typeface="Calibri"/>
                <a:cs typeface="Calibri"/>
              </a:rPr>
              <a:t>zaokruˇziti</a:t>
            </a:r>
            <a:r>
              <a:rPr dirty="0" sz="1100" spc="95" b="1">
                <a:latin typeface="Calibri"/>
                <a:cs typeface="Calibri"/>
              </a:rPr>
              <a:t> </a:t>
            </a:r>
            <a:r>
              <a:rPr dirty="0" sz="1100" spc="-55">
                <a:latin typeface="Calibri"/>
                <a:cs typeface="Calibri"/>
              </a:rPr>
              <a:t>toˇcan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odgovor)</a:t>
            </a:r>
            <a:endParaRPr sz="1100">
              <a:latin typeface="Calibri"/>
              <a:cs typeface="Calibri"/>
            </a:endParaRPr>
          </a:p>
          <a:p>
            <a:pPr lvl="2" marL="803275" indent="-191770">
              <a:lnSpc>
                <a:spcPct val="100000"/>
              </a:lnSpc>
              <a:spcBef>
                <a:spcPts val="390"/>
              </a:spcBef>
              <a:buAutoNum type="alphaLcParenR"/>
              <a:tabLst>
                <a:tab pos="803275" algn="l"/>
              </a:tabLst>
            </a:pPr>
            <a:r>
              <a:rPr dirty="0" sz="1100">
                <a:latin typeface="Calibri"/>
                <a:cs typeface="Calibri"/>
              </a:rPr>
              <a:t>ima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raspolaganju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neke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jasne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tekstove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 spc="5">
                <a:latin typeface="Calibri"/>
                <a:cs typeface="Calibri"/>
              </a:rPr>
              <a:t>M</a:t>
            </a:r>
            <a:endParaRPr sz="1100">
              <a:latin typeface="Calibri"/>
              <a:cs typeface="Calibri"/>
            </a:endParaRPr>
          </a:p>
          <a:p>
            <a:pPr lvl="2" marL="803275" indent="-199390">
              <a:lnSpc>
                <a:spcPct val="100000"/>
              </a:lnSpc>
              <a:spcBef>
                <a:spcPts val="210"/>
              </a:spcBef>
              <a:buAutoNum type="alphaLcParenR"/>
              <a:tabLst>
                <a:tab pos="803275" algn="l"/>
              </a:tabLst>
            </a:pPr>
            <a:r>
              <a:rPr dirty="0" sz="1100" spc="10">
                <a:latin typeface="Calibri"/>
                <a:cs typeface="Calibri"/>
              </a:rPr>
              <a:t>ima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na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raspolaganju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neke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parove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jasni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kriptirani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tekst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75">
                <a:latin typeface="Calibri"/>
                <a:cs typeface="Calibri"/>
              </a:rPr>
              <a:t>(M,C)</a:t>
            </a:r>
            <a:endParaRPr sz="1100">
              <a:latin typeface="Calibri"/>
              <a:cs typeface="Calibri"/>
            </a:endParaRPr>
          </a:p>
          <a:p>
            <a:pPr lvl="2" marL="803275" indent="-184150">
              <a:lnSpc>
                <a:spcPct val="100000"/>
              </a:lnSpc>
              <a:spcBef>
                <a:spcPts val="215"/>
              </a:spcBef>
              <a:buAutoNum type="alphaLcParenR"/>
              <a:tabLst>
                <a:tab pos="803275" algn="l"/>
              </a:tabLst>
            </a:pPr>
            <a:r>
              <a:rPr dirty="0" sz="1100" spc="-75">
                <a:latin typeface="Calibri"/>
                <a:cs typeface="Calibri"/>
              </a:rPr>
              <a:t>moˇze</a:t>
            </a:r>
            <a:r>
              <a:rPr dirty="0" sz="1100" spc="2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dekriptirati</a:t>
            </a:r>
            <a:r>
              <a:rPr dirty="0" sz="1100" spc="2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poruku</a:t>
            </a:r>
            <a:r>
              <a:rPr dirty="0" sz="1100" spc="2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za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</a:t>
            </a:r>
            <a:r>
              <a:rPr dirty="0" sz="1100" spc="2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svojoj</a:t>
            </a:r>
            <a:r>
              <a:rPr dirty="0" sz="1100" spc="2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volji</a:t>
            </a:r>
            <a:r>
              <a:rPr dirty="0" sz="1100" spc="2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odabrani</a:t>
            </a:r>
            <a:r>
              <a:rPr dirty="0" sz="1100" spc="2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kriptirani</a:t>
            </a:r>
            <a:r>
              <a:rPr dirty="0" sz="1100" spc="2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tekst</a:t>
            </a:r>
            <a:r>
              <a:rPr dirty="0" sz="1100" spc="295">
                <a:latin typeface="Calibri"/>
                <a:cs typeface="Calibri"/>
              </a:rPr>
              <a:t> </a:t>
            </a:r>
            <a:r>
              <a:rPr dirty="0" sz="1100" spc="145">
                <a:latin typeface="Calibri"/>
                <a:cs typeface="Calibri"/>
              </a:rPr>
              <a:t>C</a:t>
            </a:r>
            <a:endParaRPr sz="1100">
              <a:latin typeface="Calibri"/>
              <a:cs typeface="Calibri"/>
            </a:endParaRPr>
          </a:p>
          <a:p>
            <a:pPr lvl="2" marL="803275" indent="-199390">
              <a:lnSpc>
                <a:spcPct val="100000"/>
              </a:lnSpc>
              <a:spcBef>
                <a:spcPts val="210"/>
              </a:spcBef>
              <a:buAutoNum type="alphaLcParenR"/>
              <a:tabLst>
                <a:tab pos="803275" algn="l"/>
              </a:tabLst>
            </a:pPr>
            <a:r>
              <a:rPr dirty="0" sz="1100" spc="-75">
                <a:latin typeface="Calibri"/>
                <a:cs typeface="Calibri"/>
              </a:rPr>
              <a:t>moˇze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kriptirati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poruku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za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svojoj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volji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odabrani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jasni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tekst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 spc="5">
                <a:latin typeface="Calibri"/>
                <a:cs typeface="Calibri"/>
              </a:rPr>
              <a:t>M</a:t>
            </a:r>
            <a:endParaRPr sz="1100">
              <a:latin typeface="Calibri"/>
              <a:cs typeface="Calibri"/>
            </a:endParaRPr>
          </a:p>
          <a:p>
            <a:pPr marL="544830">
              <a:lnSpc>
                <a:spcPct val="100000"/>
              </a:lnSpc>
              <a:spcBef>
                <a:spcPts val="390"/>
              </a:spcBef>
            </a:pP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(b)</a:t>
            </a:r>
            <a:endParaRPr sz="1100">
              <a:latin typeface="Calibri"/>
              <a:cs typeface="Calibri"/>
            </a:endParaRPr>
          </a:p>
          <a:p>
            <a:pPr algn="just" lvl="1" marL="544830" marR="55880" indent="-254000">
              <a:lnSpc>
                <a:spcPct val="102600"/>
              </a:lnSpc>
              <a:spcBef>
                <a:spcPts val="355"/>
              </a:spcBef>
              <a:buAutoNum type="alphaLcParenBoth" startAt="4"/>
              <a:tabLst>
                <a:tab pos="544830" algn="l"/>
              </a:tabLst>
            </a:pPr>
            <a:r>
              <a:rPr dirty="0" sz="1100">
                <a:latin typeface="Calibri"/>
                <a:cs typeface="Calibri"/>
              </a:rPr>
              <a:t>(0.5)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 spc="80">
                <a:latin typeface="Calibri"/>
                <a:cs typeface="Calibri"/>
              </a:rPr>
              <a:t>Za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koliko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bitova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efektivno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smanjuje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veliˇcina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kljuˇca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ako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za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neki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kriptosustav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vrijedi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vjerojatnoˇs´cu </a:t>
            </a:r>
            <a:r>
              <a:rPr dirty="0" sz="1100">
                <a:latin typeface="Calibri"/>
                <a:cs typeface="Calibri"/>
              </a:rPr>
              <a:t>100%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izraz: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 spc="-10">
                <a:latin typeface="Arial MT"/>
                <a:cs typeface="Arial MT"/>
              </a:rPr>
              <a:t>M</a:t>
            </a:r>
            <a:r>
              <a:rPr dirty="0" sz="1100" spc="-10">
                <a:latin typeface="Calibri"/>
                <a:cs typeface="Calibri"/>
              </a:rPr>
              <a:t>[1</a:t>
            </a:r>
            <a:r>
              <a:rPr dirty="0" sz="1100" spc="-10" i="1">
                <a:latin typeface="Calibri"/>
                <a:cs typeface="Calibri"/>
              </a:rPr>
              <a:t>,</a:t>
            </a:r>
            <a:r>
              <a:rPr dirty="0" sz="1100" spc="-45" i="1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5</a:t>
            </a:r>
            <a:r>
              <a:rPr dirty="0" sz="1100" spc="-10" i="1">
                <a:latin typeface="Calibri"/>
                <a:cs typeface="Calibri"/>
              </a:rPr>
              <a:t>,</a:t>
            </a:r>
            <a:r>
              <a:rPr dirty="0" sz="1100" spc="-50" i="1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19</a:t>
            </a:r>
            <a:r>
              <a:rPr dirty="0" sz="1100" spc="-20" i="1">
                <a:latin typeface="Calibri"/>
                <a:cs typeface="Calibri"/>
              </a:rPr>
              <a:t>,</a:t>
            </a:r>
            <a:r>
              <a:rPr dirty="0" sz="1100" spc="-4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3]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 spc="-35">
                <a:latin typeface="Arial MT"/>
                <a:cs typeface="Arial MT"/>
              </a:rPr>
              <a:t>XOR</a:t>
            </a:r>
            <a:r>
              <a:rPr dirty="0" sz="1100" spc="10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</a:t>
            </a:r>
            <a:r>
              <a:rPr dirty="0" sz="1100" spc="-55">
                <a:latin typeface="Calibri"/>
                <a:cs typeface="Calibri"/>
              </a:rPr>
              <a:t>[2</a:t>
            </a:r>
            <a:r>
              <a:rPr dirty="0" sz="1100" spc="-55" i="1">
                <a:latin typeface="Calibri"/>
                <a:cs typeface="Calibri"/>
              </a:rPr>
              <a:t>,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3</a:t>
            </a:r>
            <a:r>
              <a:rPr dirty="0" sz="1100" spc="-20" i="1">
                <a:latin typeface="Calibri"/>
                <a:cs typeface="Calibri"/>
              </a:rPr>
              <a:t>,</a:t>
            </a:r>
            <a:r>
              <a:rPr dirty="0" sz="1100" spc="-40" i="1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8</a:t>
            </a:r>
            <a:r>
              <a:rPr dirty="0" sz="1100" spc="-20" i="1">
                <a:latin typeface="Calibri"/>
                <a:cs typeface="Calibri"/>
              </a:rPr>
              <a:t>,</a:t>
            </a:r>
            <a:r>
              <a:rPr dirty="0" sz="1100" spc="-45" i="1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9</a:t>
            </a:r>
            <a:r>
              <a:rPr dirty="0" sz="1100" spc="-20" i="1">
                <a:latin typeface="Calibri"/>
                <a:cs typeface="Calibri"/>
              </a:rPr>
              <a:t>,</a:t>
            </a:r>
            <a:r>
              <a:rPr dirty="0" sz="1100" spc="-40" i="1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11</a:t>
            </a:r>
            <a:r>
              <a:rPr dirty="0" sz="1100" spc="-20" i="1">
                <a:latin typeface="Calibri"/>
                <a:cs typeface="Calibri"/>
              </a:rPr>
              <a:t>,</a:t>
            </a:r>
            <a:r>
              <a:rPr dirty="0" sz="1100" spc="-45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19]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 spc="295">
                <a:latin typeface="Calibri"/>
                <a:cs typeface="Calibri"/>
              </a:rPr>
              <a:t>=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 spc="-10">
                <a:latin typeface="Arial MT"/>
                <a:cs typeface="Arial MT"/>
              </a:rPr>
              <a:t>K</a:t>
            </a:r>
            <a:r>
              <a:rPr dirty="0" sz="1100" spc="-10">
                <a:latin typeface="Calibri"/>
                <a:cs typeface="Calibri"/>
              </a:rPr>
              <a:t>[2</a:t>
            </a:r>
            <a:r>
              <a:rPr dirty="0" sz="1100" spc="-10" i="1">
                <a:latin typeface="Calibri"/>
                <a:cs typeface="Calibri"/>
              </a:rPr>
              <a:t>,</a:t>
            </a:r>
            <a:r>
              <a:rPr dirty="0" sz="1100" spc="-45" i="1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5</a:t>
            </a:r>
            <a:r>
              <a:rPr dirty="0" sz="1100" spc="-10" i="1">
                <a:latin typeface="Calibri"/>
                <a:cs typeface="Calibri"/>
              </a:rPr>
              <a:t>,</a:t>
            </a:r>
            <a:r>
              <a:rPr dirty="0" sz="1100" spc="-5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19],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gdje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primjerice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 spc="95" i="1">
                <a:latin typeface="Calibri"/>
                <a:cs typeface="Calibri"/>
              </a:rPr>
              <a:t>K</a:t>
            </a:r>
            <a:r>
              <a:rPr dirty="0" sz="1100" spc="95">
                <a:latin typeface="Calibri"/>
                <a:cs typeface="Calibri"/>
              </a:rPr>
              <a:t>[2</a:t>
            </a:r>
            <a:r>
              <a:rPr dirty="0" sz="1100" spc="95" i="1">
                <a:latin typeface="Calibri"/>
                <a:cs typeface="Calibri"/>
              </a:rPr>
              <a:t>,</a:t>
            </a:r>
            <a:r>
              <a:rPr dirty="0" sz="1100" spc="-50" i="1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5</a:t>
            </a:r>
            <a:r>
              <a:rPr dirty="0" sz="1100" spc="-10" i="1">
                <a:latin typeface="Calibri"/>
                <a:cs typeface="Calibri"/>
              </a:rPr>
              <a:t>,</a:t>
            </a:r>
            <a:r>
              <a:rPr dirty="0" sz="1100" spc="-5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17]</a:t>
            </a:r>
            <a:r>
              <a:rPr dirty="0" sz="1100" spc="100">
                <a:latin typeface="Calibri"/>
                <a:cs typeface="Calibri"/>
              </a:rPr>
              <a:t> </a:t>
            </a:r>
            <a:r>
              <a:rPr dirty="0" sz="1100" spc="295">
                <a:latin typeface="Calibri"/>
                <a:cs typeface="Calibri"/>
              </a:rPr>
              <a:t>=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drugi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bit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kljuˇca </a:t>
            </a:r>
            <a:r>
              <a:rPr dirty="0" sz="1100" spc="-40">
                <a:latin typeface="Arial MT"/>
                <a:cs typeface="Arial MT"/>
              </a:rPr>
              <a:t>XOR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>
                <a:latin typeface="Calibri"/>
                <a:cs typeface="Calibri"/>
              </a:rPr>
              <a:t>peti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bit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kljuˇca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 spc="-40">
                <a:latin typeface="Arial MT"/>
                <a:cs typeface="Arial MT"/>
              </a:rPr>
              <a:t>XOR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>
                <a:latin typeface="Calibri"/>
                <a:cs typeface="Calibri"/>
              </a:rPr>
              <a:t>sedamnaesti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bit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kljuˇca?</a:t>
            </a:r>
            <a:endParaRPr sz="1100">
              <a:latin typeface="Calibri"/>
              <a:cs typeface="Calibri"/>
            </a:endParaRPr>
          </a:p>
          <a:p>
            <a:pPr algn="just" marL="544830">
              <a:lnSpc>
                <a:spcPct val="100000"/>
              </a:lnSpc>
              <a:spcBef>
                <a:spcPts val="35"/>
              </a:spcBef>
            </a:pPr>
            <a:r>
              <a:rPr dirty="0" sz="1100" spc="80">
                <a:solidFill>
                  <a:srgbClr val="0000FF"/>
                </a:solidFill>
                <a:latin typeface="Calibri"/>
                <a:cs typeface="Calibri"/>
              </a:rPr>
              <a:t>Za</a:t>
            </a:r>
            <a:r>
              <a:rPr dirty="0" sz="1100" spc="1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bit,</a:t>
            </a:r>
            <a:endParaRPr sz="1100">
              <a:latin typeface="Calibri"/>
              <a:cs typeface="Calibri"/>
            </a:endParaRPr>
          </a:p>
          <a:p>
            <a:pPr algn="just" lvl="1" marL="544830" marR="55880" indent="-238760">
              <a:lnSpc>
                <a:spcPct val="102600"/>
              </a:lnSpc>
              <a:spcBef>
                <a:spcPts val="355"/>
              </a:spcBef>
              <a:buAutoNum type="alphaLcParenBoth" startAt="5"/>
              <a:tabLst>
                <a:tab pos="544830" algn="l"/>
              </a:tabLst>
            </a:pPr>
            <a:r>
              <a:rPr dirty="0" sz="1100">
                <a:latin typeface="Calibri"/>
                <a:cs typeface="Calibri"/>
              </a:rPr>
              <a:t>(1)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 spc="45">
                <a:latin typeface="Calibri"/>
                <a:cs typeface="Calibri"/>
              </a:rPr>
              <a:t>Ukratko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opisati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napad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jednostavnom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analizom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potroˇsnje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elektriˇcne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energije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neki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uredaj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kojem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se </a:t>
            </a:r>
            <a:r>
              <a:rPr dirty="0" sz="1100" spc="10">
                <a:latin typeface="Calibri"/>
                <a:cs typeface="Calibri"/>
              </a:rPr>
              <a:t>izvodi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kriptoalgoritam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 spc="160">
                <a:latin typeface="Calibri"/>
                <a:cs typeface="Calibri"/>
              </a:rPr>
              <a:t>AES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gdje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je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cilj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doznati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duljinu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kljuˇca.</a:t>
            </a:r>
            <a:endParaRPr sz="1100">
              <a:latin typeface="Calibri"/>
              <a:cs typeface="Calibri"/>
            </a:endParaRPr>
          </a:p>
          <a:p>
            <a:pPr algn="just" marL="544830" marR="57150">
              <a:lnSpc>
                <a:spcPct val="102600"/>
              </a:lnSpc>
            </a:pPr>
            <a:r>
              <a:rPr dirty="0" sz="1100" spc="160">
                <a:solidFill>
                  <a:srgbClr val="0000FF"/>
                </a:solidFill>
                <a:latin typeface="Calibri"/>
                <a:cs typeface="Calibri"/>
              </a:rPr>
              <a:t>AES</a:t>
            </a:r>
            <a:r>
              <a:rPr dirty="0" sz="1100" spc="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koristi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Calibri"/>
                <a:cs typeface="Calibri"/>
              </a:rPr>
              <a:t>veliˇcine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kljuˇca:</a:t>
            </a:r>
            <a:r>
              <a:rPr dirty="0" sz="1100" spc="2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128,</a:t>
            </a:r>
            <a:r>
              <a:rPr dirty="0" sz="1100" spc="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192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256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bitova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te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prema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veliˇcini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kljuˇca</a:t>
            </a:r>
            <a:r>
              <a:rPr dirty="0" sz="1100" spc="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obavlja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se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kriptiranje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dekriptiranje</a:t>
            </a:r>
            <a:r>
              <a:rPr dirty="0" sz="1100" spc="5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u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10,</a:t>
            </a:r>
            <a:r>
              <a:rPr dirty="0" sz="1100" spc="1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12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ili</a:t>
            </a:r>
            <a:r>
              <a:rPr dirty="0" sz="1100" spc="1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14</a:t>
            </a:r>
            <a:r>
              <a:rPr dirty="0" sz="1100" spc="1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krugova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pa</a:t>
            </a:r>
            <a:r>
              <a:rPr dirty="0" sz="1100" spc="1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treba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samo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izbrojati</a:t>
            </a:r>
            <a:r>
              <a:rPr dirty="0" sz="1100" spc="1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te</a:t>
            </a:r>
            <a:r>
              <a:rPr dirty="0" sz="1100" spc="1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krugove.</a:t>
            </a:r>
            <a:endParaRPr sz="1100">
              <a:latin typeface="Calibri"/>
              <a:cs typeface="Calibri"/>
            </a:endParaRPr>
          </a:p>
          <a:p>
            <a:pPr marL="240029" indent="-176530">
              <a:lnSpc>
                <a:spcPct val="100000"/>
              </a:lnSpc>
              <a:spcBef>
                <a:spcPts val="890"/>
              </a:spcBef>
              <a:buAutoNum type="arabicPeriod" startAt="3"/>
              <a:tabLst>
                <a:tab pos="240029" algn="l"/>
              </a:tabLst>
            </a:pPr>
            <a:r>
              <a:rPr dirty="0" sz="1100">
                <a:latin typeface="Calibri"/>
                <a:cs typeface="Calibri"/>
              </a:rPr>
              <a:t>(9)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45">
                <a:latin typeface="Calibri"/>
                <a:cs typeface="Calibri"/>
              </a:rPr>
              <a:t>Kriptosustavi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150">
                <a:latin typeface="Calibri"/>
                <a:cs typeface="Calibri"/>
              </a:rPr>
              <a:t>DES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105">
                <a:latin typeface="Calibri"/>
                <a:cs typeface="Calibri"/>
              </a:rPr>
              <a:t>AES.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1212" rIns="0" bIns="0" rtlCol="0" vert="horz">
            <a:spAutoFit/>
          </a:bodyPr>
          <a:lstStyle/>
          <a:p>
            <a:pPr marL="38100">
              <a:lnSpc>
                <a:spcPts val="1140"/>
              </a:lnSpc>
            </a:pPr>
            <a:fld id="{81D60167-4931-47E6-BA6A-407CBD079E47}" type="slidenum">
              <a:rPr dirty="0" sz="1100" spc="-50">
                <a:latin typeface="Calibri"/>
                <a:cs typeface="Calibri"/>
              </a:rPr>
              <a:t>1</a:t>
            </a:fld>
            <a:endParaRPr sz="11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663351" y="8603436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5">
                <a:latin typeface="Calibri"/>
                <a:cs typeface="Calibri"/>
              </a:rPr>
              <a:t>”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66483" y="8521851"/>
            <a:ext cx="68446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60">
                <a:latin typeface="Calibri"/>
                <a:cs typeface="Calibri"/>
              </a:rPr>
              <a:t>(a)</a:t>
            </a:r>
            <a:r>
              <a:rPr dirty="0" sz="1100" spc="35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(4)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Pretpostavimo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da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kriptiramo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dva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toka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podataka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koriste´ci</a:t>
            </a:r>
            <a:r>
              <a:rPr dirty="0" sz="1100" spc="240">
                <a:latin typeface="Calibri"/>
                <a:cs typeface="Calibri"/>
              </a:rPr>
              <a:t>  </a:t>
            </a:r>
            <a:r>
              <a:rPr dirty="0" sz="1100" spc="50">
                <a:latin typeface="Calibri"/>
                <a:cs typeface="Calibri"/>
              </a:rPr>
              <a:t>Output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Feedback”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35">
                <a:latin typeface="Calibri"/>
                <a:cs typeface="Calibri"/>
              </a:rPr>
              <a:t>(OFB)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tako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da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u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oba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toka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87387" y="8693923"/>
            <a:ext cx="6648450" cy="7080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38100" marR="30480">
              <a:lnSpc>
                <a:spcPct val="102600"/>
              </a:lnSpc>
              <a:spcBef>
                <a:spcPts val="55"/>
              </a:spcBef>
            </a:pPr>
            <a:r>
              <a:rPr dirty="0" sz="1100" spc="20">
                <a:latin typeface="Calibri"/>
                <a:cs typeface="Calibri"/>
              </a:rPr>
              <a:t>iskoristimo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isti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inicijalizacijski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vektor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95">
                <a:latin typeface="Calibri"/>
                <a:cs typeface="Calibri"/>
              </a:rPr>
              <a:t>(IV).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Neka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je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prvi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kriptirani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blok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prvog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toka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110" i="1">
                <a:latin typeface="Calibri"/>
                <a:cs typeface="Calibri"/>
              </a:rPr>
              <a:t>C</a:t>
            </a:r>
            <a:r>
              <a:rPr dirty="0" baseline="-10416" sz="1200" spc="165">
                <a:latin typeface="Calibri"/>
                <a:cs typeface="Calibri"/>
              </a:rPr>
              <a:t>1</a:t>
            </a:r>
            <a:r>
              <a:rPr dirty="0" baseline="-10416" sz="1200" spc="254">
                <a:latin typeface="Calibri"/>
                <a:cs typeface="Calibri"/>
              </a:rPr>
              <a:t> </a:t>
            </a:r>
            <a:r>
              <a:rPr dirty="0" sz="1100" spc="295">
                <a:latin typeface="Calibri"/>
                <a:cs typeface="Calibri"/>
              </a:rPr>
              <a:t>=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(10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39</a:t>
            </a:r>
            <a:r>
              <a:rPr dirty="0" sz="1100" spc="330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23</a:t>
            </a:r>
            <a:r>
              <a:rPr dirty="0" sz="1100" spc="330">
                <a:latin typeface="Calibri"/>
                <a:cs typeface="Calibri"/>
              </a:rPr>
              <a:t> </a:t>
            </a:r>
            <a:r>
              <a:rPr dirty="0" sz="1100" spc="30">
                <a:latin typeface="Calibri"/>
                <a:cs typeface="Calibri"/>
              </a:rPr>
              <a:t>3C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 spc="65">
                <a:latin typeface="Calibri"/>
                <a:cs typeface="Calibri"/>
              </a:rPr>
              <a:t>26)</a:t>
            </a:r>
            <a:r>
              <a:rPr dirty="0" baseline="-10416" sz="1200" spc="97" i="1">
                <a:latin typeface="Calibri"/>
                <a:cs typeface="Calibri"/>
              </a:rPr>
              <a:t>Hex</a:t>
            </a:r>
            <a:r>
              <a:rPr dirty="0" baseline="-10416" sz="1200" spc="750" i="1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neka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prvi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kriptirani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blok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drugog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toka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 spc="110" i="1">
                <a:latin typeface="Calibri"/>
                <a:cs typeface="Calibri"/>
              </a:rPr>
              <a:t>C</a:t>
            </a:r>
            <a:r>
              <a:rPr dirty="0" baseline="-10416" sz="1200" spc="165">
                <a:latin typeface="Calibri"/>
                <a:cs typeface="Calibri"/>
              </a:rPr>
              <a:t>2</a:t>
            </a:r>
            <a:r>
              <a:rPr dirty="0" baseline="-10416" sz="1200" spc="345">
                <a:latin typeface="Calibri"/>
                <a:cs typeface="Calibri"/>
              </a:rPr>
              <a:t> </a:t>
            </a:r>
            <a:r>
              <a:rPr dirty="0" sz="1100" spc="295">
                <a:latin typeface="Calibri"/>
                <a:cs typeface="Calibri"/>
              </a:rPr>
              <a:t>=</a:t>
            </a:r>
            <a:r>
              <a:rPr dirty="0" sz="1100" spc="1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(19</a:t>
            </a:r>
            <a:r>
              <a:rPr dirty="0" sz="1100" spc="43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3C</a:t>
            </a:r>
            <a:r>
              <a:rPr dirty="0" sz="1100" spc="4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23</a:t>
            </a:r>
            <a:r>
              <a:rPr dirty="0" sz="1100" spc="43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</a:t>
            </a:r>
            <a:r>
              <a:rPr dirty="0" sz="1100" spc="430">
                <a:latin typeface="Calibri"/>
                <a:cs typeface="Calibri"/>
              </a:rPr>
              <a:t> </a:t>
            </a:r>
            <a:r>
              <a:rPr dirty="0" sz="1100" spc="75">
                <a:latin typeface="Calibri"/>
                <a:cs typeface="Calibri"/>
              </a:rPr>
              <a:t>26)</a:t>
            </a:r>
            <a:r>
              <a:rPr dirty="0" baseline="-10416" sz="1200" spc="112" i="1">
                <a:latin typeface="Calibri"/>
                <a:cs typeface="Calibri"/>
              </a:rPr>
              <a:t>Hex</a:t>
            </a:r>
            <a:r>
              <a:rPr dirty="0" sz="1100" spc="75">
                <a:latin typeface="Calibri"/>
                <a:cs typeface="Calibri"/>
              </a:rPr>
              <a:t>.</a:t>
            </a:r>
            <a:r>
              <a:rPr dirty="0" sz="1100" spc="295">
                <a:latin typeface="Calibri"/>
                <a:cs typeface="Calibri"/>
              </a:rPr>
              <a:t> </a:t>
            </a:r>
            <a:r>
              <a:rPr dirty="0" sz="1100" spc="60">
                <a:latin typeface="Calibri"/>
                <a:cs typeface="Calibri"/>
              </a:rPr>
              <a:t>Ako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 spc="-30">
                <a:latin typeface="Calibri"/>
                <a:cs typeface="Calibri"/>
              </a:rPr>
              <a:t>napadaˇc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zna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prvi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blok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jasnog </a:t>
            </a:r>
            <a:r>
              <a:rPr dirty="0" sz="1100">
                <a:latin typeface="Calibri"/>
                <a:cs typeface="Calibri"/>
              </a:rPr>
              <a:t>teksta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prvog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toka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jednak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 spc="65" i="1">
                <a:latin typeface="Calibri"/>
                <a:cs typeface="Calibri"/>
              </a:rPr>
              <a:t>M</a:t>
            </a:r>
            <a:r>
              <a:rPr dirty="0" baseline="-10416" sz="1200" spc="97">
                <a:latin typeface="Calibri"/>
                <a:cs typeface="Calibri"/>
              </a:rPr>
              <a:t>1</a:t>
            </a:r>
            <a:r>
              <a:rPr dirty="0" baseline="-10416" sz="1200" spc="307">
                <a:latin typeface="Calibri"/>
                <a:cs typeface="Calibri"/>
              </a:rPr>
              <a:t> </a:t>
            </a:r>
            <a:r>
              <a:rPr dirty="0" sz="1100" spc="295">
                <a:latin typeface="Calibri"/>
                <a:cs typeface="Calibri"/>
              </a:rPr>
              <a:t>=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(4C</a:t>
            </a:r>
            <a:r>
              <a:rPr dirty="0" sz="1100" spc="3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69</a:t>
            </a:r>
            <a:r>
              <a:rPr dirty="0" sz="1100" spc="3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76</a:t>
            </a:r>
            <a:r>
              <a:rPr dirty="0" sz="1100" spc="3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65</a:t>
            </a:r>
            <a:r>
              <a:rPr dirty="0" sz="1100" spc="390">
                <a:latin typeface="Calibri"/>
                <a:cs typeface="Calibri"/>
              </a:rPr>
              <a:t> </a:t>
            </a:r>
            <a:r>
              <a:rPr dirty="0" sz="1100" spc="75">
                <a:latin typeface="Calibri"/>
                <a:cs typeface="Calibri"/>
              </a:rPr>
              <a:t>73)</a:t>
            </a:r>
            <a:r>
              <a:rPr dirty="0" baseline="-10416" sz="1200" spc="112" i="1">
                <a:latin typeface="Calibri"/>
                <a:cs typeface="Calibri"/>
              </a:rPr>
              <a:t>Hex</a:t>
            </a:r>
            <a:r>
              <a:rPr dirty="0" baseline="-10416" sz="1200" spc="367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,</a:t>
            </a:r>
            <a:r>
              <a:rPr dirty="0" sz="1100" spc="65">
                <a:latin typeface="Calibri"/>
                <a:cs typeface="Calibri"/>
              </a:rPr>
              <a:t> </a:t>
            </a:r>
            <a:r>
              <a:rPr dirty="0" sz="1100" spc="-70">
                <a:latin typeface="Calibri"/>
                <a:cs typeface="Calibri"/>
              </a:rPr>
              <a:t>ˇsto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 spc="-85">
                <a:latin typeface="Calibri"/>
                <a:cs typeface="Calibri"/>
              </a:rPr>
              <a:t>moˇze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zakljuˇciti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prvom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bloku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jasnog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teksta </a:t>
            </a:r>
            <a:r>
              <a:rPr dirty="0" sz="1100">
                <a:latin typeface="Calibri"/>
                <a:cs typeface="Calibri"/>
              </a:rPr>
              <a:t>drugog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toka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 spc="60" i="1">
                <a:latin typeface="Calibri"/>
                <a:cs typeface="Calibri"/>
              </a:rPr>
              <a:t>M</a:t>
            </a:r>
            <a:r>
              <a:rPr dirty="0" baseline="-10416" sz="1200" spc="89">
                <a:latin typeface="Calibri"/>
                <a:cs typeface="Calibri"/>
              </a:rPr>
              <a:t>2</a:t>
            </a:r>
            <a:r>
              <a:rPr dirty="0" sz="1100" spc="60">
                <a:latin typeface="Calibri"/>
                <a:cs typeface="Calibri"/>
              </a:rPr>
              <a:t>?</a:t>
            </a:r>
            <a:r>
              <a:rPr dirty="0" sz="1100" spc="29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Napadaˇcu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raspolaganju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sljede´ca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tablica.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1212" rIns="0" bIns="0" rtlCol="0" vert="horz">
            <a:spAutoFit/>
          </a:bodyPr>
          <a:lstStyle/>
          <a:p>
            <a:pPr marL="38100">
              <a:lnSpc>
                <a:spcPts val="1140"/>
              </a:lnSpc>
            </a:pPr>
            <a:fld id="{81D60167-4931-47E6-BA6A-407CBD079E47}" type="slidenum">
              <a:rPr dirty="0" sz="1100" spc="-50">
                <a:latin typeface="Calibri"/>
                <a:cs typeface="Calibri"/>
              </a:rPr>
              <a:t>1</a:t>
            </a:fld>
            <a:endParaRPr sz="1100">
              <a:latin typeface="Calibri"/>
              <a:cs typeface="Calibri"/>
            </a:endParaRPr>
          </a:p>
        </p:txBody>
      </p:sp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2358821" y="274320"/>
          <a:ext cx="3782695" cy="1673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5975"/>
                <a:gridCol w="683260"/>
                <a:gridCol w="353695"/>
                <a:gridCol w="818515"/>
                <a:gridCol w="683260"/>
                <a:gridCol w="351154"/>
              </a:tblGrid>
              <a:tr h="154305"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dirty="0" sz="1000" spc="105">
                          <a:latin typeface="Calibri"/>
                          <a:cs typeface="Calibri"/>
                        </a:rPr>
                        <a:t>ASCII</a:t>
                      </a:r>
                      <a:r>
                        <a:rPr dirty="0" sz="1000" spc="3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Char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dirty="0" sz="1000" spc="80">
                          <a:latin typeface="Calibri"/>
                          <a:cs typeface="Calibri"/>
                        </a:rPr>
                        <a:t>Binary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Hex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35"/>
                        </a:lnSpc>
                      </a:pPr>
                      <a:r>
                        <a:rPr dirty="0" sz="1000" spc="105">
                          <a:latin typeface="Calibri"/>
                          <a:cs typeface="Calibri"/>
                        </a:rPr>
                        <a:t>ASCII</a:t>
                      </a:r>
                      <a:r>
                        <a:rPr dirty="0" sz="1000" spc="3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Char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dirty="0" sz="1000" spc="80">
                          <a:latin typeface="Calibri"/>
                          <a:cs typeface="Calibri"/>
                        </a:rPr>
                        <a:t>Binary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3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Hex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3035"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45">
                          <a:latin typeface="Calibri"/>
                          <a:cs typeface="Calibri"/>
                        </a:rPr>
                        <a:t>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01001100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4C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&lt;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00111100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3C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245">
                          <a:latin typeface="Calibri"/>
                          <a:cs typeface="Calibri"/>
                        </a:rPr>
                        <a:t>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01101100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6C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45"/>
                        </a:lnSpc>
                      </a:pPr>
                      <a:r>
                        <a:rPr dirty="0" sz="1000" spc="35">
                          <a:latin typeface="Calibri"/>
                          <a:cs typeface="Calibri"/>
                        </a:rPr>
                        <a:t>FF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00001100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0C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245">
                          <a:latin typeface="Calibri"/>
                          <a:cs typeface="Calibri"/>
                        </a:rPr>
                        <a:t>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01101001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45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00111001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20">
                          <a:latin typeface="Calibri"/>
                          <a:cs typeface="Calibri"/>
                        </a:rPr>
                        <a:t>v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01110110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DLE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00010000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01000101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45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NUL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00000000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01100101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65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DLE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00010000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80">
                          <a:latin typeface="Calibri"/>
                          <a:cs typeface="Calibri"/>
                        </a:rPr>
                        <a:t>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01110011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73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45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#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00100011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HT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00001001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45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&amp;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00100110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26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1765"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ENQ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00000101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EM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00011001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19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5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00110000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30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874687" y="1932443"/>
            <a:ext cx="6662420" cy="11963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50800" marR="30480">
              <a:lnSpc>
                <a:spcPct val="102600"/>
              </a:lnSpc>
              <a:spcBef>
                <a:spcPts val="55"/>
              </a:spcBef>
            </a:pPr>
            <a:r>
              <a:rPr dirty="0" sz="1100" i="1">
                <a:latin typeface="Calibri"/>
                <a:cs typeface="Calibri"/>
              </a:rPr>
              <a:t>Rjeˇsenje:</a:t>
            </a:r>
            <a:r>
              <a:rPr dirty="0" sz="1100" spc="465" i="1"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Neka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je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60">
                <a:solidFill>
                  <a:srgbClr val="0000FF"/>
                </a:solidFill>
                <a:latin typeface="Calibri"/>
                <a:cs typeface="Calibri"/>
              </a:rPr>
              <a:t>OFB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blok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toka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za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kriptiranje.</a:t>
            </a:r>
            <a:r>
              <a:rPr dirty="0" sz="1100" spc="3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obzirom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koristimo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isti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inicijalizacijski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vektor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IV,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vrijedi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je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60">
                <a:solidFill>
                  <a:srgbClr val="0000FF"/>
                </a:solidFill>
                <a:latin typeface="Calibri"/>
                <a:cs typeface="Calibri"/>
              </a:rPr>
              <a:t>OFB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jednak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za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prvi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drugi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tok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pa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imamo:</a:t>
            </a:r>
            <a:endParaRPr sz="1100">
              <a:latin typeface="Calibri"/>
              <a:cs typeface="Calibri"/>
            </a:endParaRPr>
          </a:p>
          <a:p>
            <a:pPr algn="ctr" marL="2818130" marR="2805430">
              <a:lnSpc>
                <a:spcPct val="125299"/>
              </a:lnSpc>
              <a:spcBef>
                <a:spcPts val="795"/>
              </a:spcBef>
            </a:pPr>
            <a:r>
              <a:rPr dirty="0" sz="1100" spc="11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0416" sz="1200" spc="165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dirty="0" baseline="-10416" sz="1200" spc="247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0416" sz="1200" spc="97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dirty="0" baseline="-10416" sz="1200" spc="157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1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204" i="1">
                <a:solidFill>
                  <a:srgbClr val="0000FF"/>
                </a:solidFill>
                <a:latin typeface="Calibri"/>
                <a:cs typeface="Calibri"/>
              </a:rPr>
              <a:t>OFB </a:t>
            </a:r>
            <a:r>
              <a:rPr dirty="0" sz="1100" spc="11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0416" sz="1200" spc="165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baseline="-10416" sz="1200" spc="247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0416" sz="1200" spc="97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baseline="-10416" sz="1200" spc="157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1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204" i="1">
                <a:solidFill>
                  <a:srgbClr val="0000FF"/>
                </a:solidFill>
                <a:latin typeface="Calibri"/>
                <a:cs typeface="Calibri"/>
              </a:rPr>
              <a:t>OFB</a:t>
            </a:r>
            <a:endParaRPr sz="11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1135"/>
              </a:spcBef>
            </a:pPr>
            <a:r>
              <a:rPr dirty="0" sz="1100" spc="80">
                <a:solidFill>
                  <a:srgbClr val="0000FF"/>
                </a:solidFill>
                <a:latin typeface="Calibri"/>
                <a:cs typeface="Calibri"/>
              </a:rPr>
              <a:t>Iz</a:t>
            </a:r>
            <a:r>
              <a:rPr dirty="0" sz="1100" spc="1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toga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vrijedi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1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je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1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0416" sz="1200" spc="165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dirty="0" baseline="-10416" sz="1200" spc="187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100" spc="-8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11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0416" sz="1200" spc="165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baseline="-10416" sz="1200" spc="28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0416" sz="1200" spc="97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dirty="0" baseline="-10416" sz="12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100" spc="-8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0416" sz="1200" spc="97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sz="1100" spc="65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stoga</a:t>
            </a:r>
            <a:r>
              <a:rPr dirty="0" sz="1100" spc="1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0416" sz="1200" spc="97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baseline="-10416" sz="1200" spc="292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1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0416" sz="1200" spc="165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dirty="0" baseline="-10416" sz="1200" spc="187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100" spc="-8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11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0416" sz="1200" spc="165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baseline="-10416" sz="12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100" spc="-9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4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0416" sz="1200" spc="6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159761" y="3295652"/>
          <a:ext cx="4184015" cy="2458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9375"/>
                <a:gridCol w="694689"/>
                <a:gridCol w="650239"/>
                <a:gridCol w="654050"/>
                <a:gridCol w="756920"/>
              </a:tblGrid>
              <a:tr h="180340">
                <a:tc>
                  <a:txBody>
                    <a:bodyPr/>
                    <a:lstStyle/>
                    <a:p>
                      <a:pPr algn="r">
                        <a:lnSpc>
                          <a:spcPts val="1040"/>
                        </a:lnSpc>
                      </a:pPr>
                      <a:r>
                        <a:rPr dirty="0" sz="1100" spc="110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dirty="0" baseline="-10416" sz="1200" spc="16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dirty="0" baseline="-10416" sz="1200" spc="277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29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100" spc="7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(10</a:t>
                      </a:r>
                      <a:r>
                        <a:rPr dirty="0" sz="1100" spc="36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39</a:t>
                      </a:r>
                      <a:r>
                        <a:rPr dirty="0" sz="1100" spc="36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65">
                        <a:lnSpc>
                          <a:spcPts val="1040"/>
                        </a:lnSpc>
                      </a:pP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3C</a:t>
                      </a:r>
                      <a:r>
                        <a:rPr dirty="0" sz="1100" spc="3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26)</a:t>
                      </a:r>
                      <a:r>
                        <a:rPr dirty="0" baseline="-13888" sz="1200" spc="-15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hex</a:t>
                      </a:r>
                      <a:endParaRPr baseline="-13888"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08915">
                <a:tc>
                  <a:txBody>
                    <a:bodyPr/>
                    <a:lstStyle/>
                    <a:p>
                      <a:pPr algn="r">
                        <a:lnSpc>
                          <a:spcPts val="1270"/>
                        </a:lnSpc>
                      </a:pPr>
                      <a:r>
                        <a:rPr dirty="0" sz="1100" spc="29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100" spc="5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(00010000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2384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00111001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00100011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00111100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00100110)</a:t>
                      </a:r>
                      <a:r>
                        <a:rPr dirty="0" baseline="-10416" sz="1200" spc="-1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baseline="-10416"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10820">
                <a:tc>
                  <a:txBody>
                    <a:bodyPr/>
                    <a:lstStyle/>
                    <a:p>
                      <a:pPr algn="r">
                        <a:lnSpc>
                          <a:spcPts val="1275"/>
                        </a:lnSpc>
                      </a:pPr>
                      <a:r>
                        <a:rPr dirty="0" sz="1100" spc="110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dirty="0" baseline="-10416" sz="1200" spc="16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dirty="0" baseline="-10416" sz="1200" spc="27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29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100" spc="7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(19</a:t>
                      </a:r>
                      <a:r>
                        <a:rPr dirty="0" sz="1100" spc="3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3C</a:t>
                      </a:r>
                      <a:r>
                        <a:rPr dirty="0" sz="1100" spc="35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65">
                        <a:lnSpc>
                          <a:spcPts val="1275"/>
                        </a:lnSpc>
                      </a:pP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30</a:t>
                      </a:r>
                      <a:r>
                        <a:rPr dirty="0" sz="1100" spc="33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26)</a:t>
                      </a:r>
                      <a:r>
                        <a:rPr dirty="0" baseline="-13888" sz="1200" spc="-15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hex</a:t>
                      </a:r>
                      <a:endParaRPr baseline="-13888"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06375">
                <a:tc>
                  <a:txBody>
                    <a:bodyPr/>
                    <a:lstStyle/>
                    <a:p>
                      <a:pPr algn="r">
                        <a:lnSpc>
                          <a:spcPts val="1270"/>
                        </a:lnSpc>
                      </a:pPr>
                      <a:r>
                        <a:rPr dirty="0" sz="1100" spc="29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100" spc="5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(00011001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2384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00111100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00100011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00110000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00100110)</a:t>
                      </a:r>
                      <a:r>
                        <a:rPr dirty="0" baseline="-10416" sz="1200" spc="-1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baseline="-10416"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13360">
                <a:tc>
                  <a:txBody>
                    <a:bodyPr/>
                    <a:lstStyle/>
                    <a:p>
                      <a:pPr algn="r">
                        <a:lnSpc>
                          <a:spcPts val="1295"/>
                        </a:lnSpc>
                      </a:pPr>
                      <a:r>
                        <a:rPr dirty="0" sz="1100" spc="110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dirty="0" baseline="-10416" sz="1200" spc="16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dirty="0" baseline="-10416" sz="1200" spc="172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35">
                          <a:solidFill>
                            <a:srgbClr val="0000FF"/>
                          </a:solidFill>
                          <a:latin typeface="Lucida Sans Unicode"/>
                          <a:cs typeface="Lucida Sans Unicode"/>
                        </a:rPr>
                        <a:t>⊕</a:t>
                      </a:r>
                      <a:r>
                        <a:rPr dirty="0" sz="1100" spc="-90">
                          <a:solidFill>
                            <a:srgbClr val="0000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110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dirty="0" baseline="-10416" sz="1200" spc="16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dirty="0" baseline="-10416" sz="1200" spc="27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29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100" spc="7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(09</a:t>
                      </a:r>
                      <a:r>
                        <a:rPr dirty="0" sz="1100" spc="3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05</a:t>
                      </a:r>
                      <a:r>
                        <a:rPr dirty="0" sz="1100" spc="35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65">
                        <a:lnSpc>
                          <a:spcPts val="1295"/>
                        </a:lnSpc>
                      </a:pP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0C</a:t>
                      </a:r>
                      <a:r>
                        <a:rPr dirty="0" sz="1100" spc="3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00)</a:t>
                      </a:r>
                      <a:r>
                        <a:rPr dirty="0" baseline="-13888" sz="1200" spc="-15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hex</a:t>
                      </a:r>
                      <a:endParaRPr baseline="-13888"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08915">
                <a:tc>
                  <a:txBody>
                    <a:bodyPr/>
                    <a:lstStyle/>
                    <a:p>
                      <a:pPr algn="r">
                        <a:lnSpc>
                          <a:spcPts val="1270"/>
                        </a:lnSpc>
                      </a:pPr>
                      <a:r>
                        <a:rPr dirty="0" sz="1100" spc="29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100" spc="5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(00001001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2384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00000101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00000000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00001100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00000000)</a:t>
                      </a:r>
                      <a:r>
                        <a:rPr dirty="0" baseline="-10416" sz="1200" spc="-1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baseline="-10416"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10820">
                <a:tc>
                  <a:txBody>
                    <a:bodyPr/>
                    <a:lstStyle/>
                    <a:p>
                      <a:pPr algn="r">
                        <a:lnSpc>
                          <a:spcPts val="1275"/>
                        </a:lnSpc>
                      </a:pPr>
                      <a:r>
                        <a:rPr dirty="0" sz="1100" spc="65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baseline="-10416" sz="1200" spc="97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dirty="0" baseline="-10416" sz="1200" spc="27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29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100" spc="7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(4C</a:t>
                      </a:r>
                      <a:r>
                        <a:rPr dirty="0" sz="1100" spc="35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69</a:t>
                      </a:r>
                      <a:r>
                        <a:rPr dirty="0" sz="1100" spc="3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76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765">
                        <a:lnSpc>
                          <a:spcPts val="1275"/>
                        </a:lnSpc>
                      </a:pP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65</a:t>
                      </a:r>
                      <a:r>
                        <a:rPr dirty="0" sz="1100" spc="33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73)</a:t>
                      </a:r>
                      <a:r>
                        <a:rPr dirty="0" baseline="-13888" sz="1200" spc="-15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hex</a:t>
                      </a:r>
                      <a:endParaRPr baseline="-13888"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08915">
                <a:tc>
                  <a:txBody>
                    <a:bodyPr/>
                    <a:lstStyle/>
                    <a:p>
                      <a:pPr algn="r">
                        <a:lnSpc>
                          <a:spcPts val="1270"/>
                        </a:lnSpc>
                      </a:pPr>
                      <a:r>
                        <a:rPr dirty="0" sz="1100" spc="29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100" spc="5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(01001100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2384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01101001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01110110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01100101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01110011)</a:t>
                      </a:r>
                      <a:r>
                        <a:rPr dirty="0" baseline="-10416" sz="1200" spc="-1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baseline="-10416"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79705">
                <a:tc>
                  <a:txBody>
                    <a:bodyPr/>
                    <a:lstStyle/>
                    <a:p>
                      <a:pPr marL="557530" marR="3175">
                        <a:lnSpc>
                          <a:spcPts val="1275"/>
                        </a:lnSpc>
                      </a:pPr>
                      <a:r>
                        <a:rPr dirty="0" sz="1100" spc="29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100" spc="5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9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(L</a:t>
                      </a:r>
                      <a:r>
                        <a:rPr dirty="0" sz="1100" spc="32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32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100" spc="32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7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v</a:t>
                      </a:r>
                      <a:r>
                        <a:rPr dirty="0" sz="1100" spc="33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114"/>
                        </a:spcBef>
                      </a:pPr>
                      <a:r>
                        <a:rPr dirty="0" baseline="7575" sz="1650" spc="104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s)</a:t>
                      </a:r>
                      <a:r>
                        <a:rPr dirty="0" sz="800" spc="70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ascii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0029">
                <a:tc gridSpan="2">
                  <a:txBody>
                    <a:bodyPr/>
                    <a:lstStyle/>
                    <a:p>
                      <a:pPr marL="32448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100" spc="65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baseline="-10416" sz="1200" spc="97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dirty="0" baseline="-10416" sz="1200" spc="247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29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100" spc="5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110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dirty="0" baseline="-10416" sz="1200" spc="16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dirty="0" baseline="-10416" sz="1200" spc="157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35">
                          <a:solidFill>
                            <a:srgbClr val="0000FF"/>
                          </a:solidFill>
                          <a:latin typeface="Lucida Sans Unicode"/>
                          <a:cs typeface="Lucida Sans Unicode"/>
                        </a:rPr>
                        <a:t>⊕</a:t>
                      </a:r>
                      <a:r>
                        <a:rPr dirty="0" sz="1100" spc="-105">
                          <a:solidFill>
                            <a:srgbClr val="0000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110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dirty="0" baseline="-10416" sz="1200" spc="16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dirty="0" baseline="-10416" sz="1200" spc="16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35">
                          <a:solidFill>
                            <a:srgbClr val="0000FF"/>
                          </a:solidFill>
                          <a:latin typeface="Lucida Sans Unicode"/>
                          <a:cs typeface="Lucida Sans Unicode"/>
                        </a:rPr>
                        <a:t>⊕</a:t>
                      </a:r>
                      <a:r>
                        <a:rPr dirty="0" sz="1100" spc="-105">
                          <a:solidFill>
                            <a:srgbClr val="0000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100" spc="40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baseline="-10416" sz="1200" spc="6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baseline="-10416" sz="1200">
                        <a:latin typeface="Calibri"/>
                        <a:cs typeface="Calibri"/>
                      </a:endParaRPr>
                    </a:p>
                  </a:txBody>
                  <a:tcPr marL="0" marR="0" marB="0" marT="2413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0820">
                <a:tc gridSpan="2">
                  <a:txBody>
                    <a:bodyPr/>
                    <a:lstStyle/>
                    <a:p>
                      <a:pPr marL="557530">
                        <a:lnSpc>
                          <a:spcPts val="1275"/>
                        </a:lnSpc>
                      </a:pPr>
                      <a:r>
                        <a:rPr dirty="0" sz="1100" spc="29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100" spc="6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(45</a:t>
                      </a:r>
                      <a:r>
                        <a:rPr dirty="0" sz="1100" spc="3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6C</a:t>
                      </a:r>
                      <a:r>
                        <a:rPr dirty="0" sz="1100" spc="3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76</a:t>
                      </a:r>
                      <a:r>
                        <a:rPr dirty="0" sz="1100" spc="34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69</a:t>
                      </a:r>
                      <a:r>
                        <a:rPr dirty="0" sz="1100" spc="3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73)</a:t>
                      </a:r>
                      <a:r>
                        <a:rPr dirty="0" baseline="-13888" sz="1200" spc="-15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hex</a:t>
                      </a:r>
                      <a:endParaRPr baseline="-13888"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9070">
                <a:tc gridSpan="2">
                  <a:txBody>
                    <a:bodyPr/>
                    <a:lstStyle/>
                    <a:p>
                      <a:pPr marL="557530">
                        <a:lnSpc>
                          <a:spcPts val="1270"/>
                        </a:lnSpc>
                      </a:pPr>
                      <a:r>
                        <a:rPr dirty="0" sz="1100" spc="29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100" spc="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(01000101</a:t>
                      </a:r>
                      <a:r>
                        <a:rPr dirty="0" sz="1100" spc="409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01101100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01110110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01101001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270"/>
                        </a:lnSpc>
                      </a:pPr>
                      <a:r>
                        <a:rPr dirty="0" sz="1100" spc="-1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01110011)</a:t>
                      </a:r>
                      <a:r>
                        <a:rPr dirty="0" baseline="-10416" sz="1200" spc="-1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baseline="-10416" sz="12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620687" y="5768707"/>
            <a:ext cx="6929120" cy="3502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96770">
              <a:lnSpc>
                <a:spcPct val="100000"/>
              </a:lnSpc>
              <a:spcBef>
                <a:spcPts val="90"/>
              </a:spcBef>
            </a:pP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55">
                <a:solidFill>
                  <a:srgbClr val="0000FF"/>
                </a:solidFill>
                <a:latin typeface="Calibri"/>
                <a:cs typeface="Calibri"/>
              </a:rPr>
              <a:t> (E</a:t>
            </a:r>
            <a:r>
              <a:rPr dirty="0" sz="1100" spc="3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320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r>
              <a:rPr dirty="0" sz="1100" spc="3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v</a:t>
            </a:r>
            <a:r>
              <a:rPr dirty="0" sz="1100" spc="3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32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3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s)</a:t>
            </a:r>
            <a:r>
              <a:rPr dirty="0" baseline="-10416" sz="1200" spc="104" i="1">
                <a:solidFill>
                  <a:srgbClr val="0000FF"/>
                </a:solidFill>
                <a:latin typeface="Calibri"/>
                <a:cs typeface="Calibri"/>
              </a:rPr>
              <a:t>ascii</a:t>
            </a:r>
            <a:endParaRPr baseline="-10416" sz="1200">
              <a:latin typeface="Calibri"/>
              <a:cs typeface="Calibri"/>
            </a:endParaRPr>
          </a:p>
          <a:p>
            <a:pPr marL="304800">
              <a:lnSpc>
                <a:spcPct val="100000"/>
              </a:lnSpc>
              <a:spcBef>
                <a:spcPts val="1130"/>
              </a:spcBef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Stoga,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0">
                <a:solidFill>
                  <a:srgbClr val="0000FF"/>
                </a:solidFill>
                <a:latin typeface="Calibri"/>
                <a:cs typeface="Calibri"/>
              </a:rPr>
              <a:t>napadaˇc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0000FF"/>
                </a:solidFill>
                <a:latin typeface="Calibri"/>
                <a:cs typeface="Calibri"/>
              </a:rPr>
              <a:t>moˇze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zakljuˇciti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je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prvi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blok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jasnog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teksta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drugog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toka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jednak</a:t>
            </a:r>
            <a:endParaRPr sz="1100">
              <a:latin typeface="Calibri"/>
              <a:cs typeface="Calibri"/>
            </a:endParaRPr>
          </a:p>
          <a:p>
            <a:pPr algn="ctr" marL="247015">
              <a:lnSpc>
                <a:spcPct val="100000"/>
              </a:lnSpc>
              <a:spcBef>
                <a:spcPts val="1130"/>
              </a:spcBef>
            </a:pP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0416" sz="1200" spc="97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baseline="-10416" sz="1200" spc="292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(01000101</a:t>
            </a:r>
            <a:r>
              <a:rPr dirty="0" sz="1100" spc="3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01101100</a:t>
            </a:r>
            <a:r>
              <a:rPr dirty="0" sz="1100" spc="3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01110110</a:t>
            </a:r>
            <a:r>
              <a:rPr dirty="0" sz="1100" spc="3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01101001</a:t>
            </a:r>
            <a:r>
              <a:rPr dirty="0" sz="1100" spc="3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01110011)</a:t>
            </a:r>
            <a:r>
              <a:rPr dirty="0" baseline="-10416" sz="1200" spc="-15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baseline="-10416" sz="1200">
              <a:latin typeface="Calibri"/>
              <a:cs typeface="Calibri"/>
            </a:endParaRPr>
          </a:p>
          <a:p>
            <a:pPr algn="ctr" marR="1884680">
              <a:lnSpc>
                <a:spcPct val="100000"/>
              </a:lnSpc>
              <a:spcBef>
                <a:spcPts val="335"/>
              </a:spcBef>
            </a:pP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55">
                <a:solidFill>
                  <a:srgbClr val="0000FF"/>
                </a:solidFill>
                <a:latin typeface="Calibri"/>
                <a:cs typeface="Calibri"/>
              </a:rPr>
              <a:t> (E</a:t>
            </a:r>
            <a:r>
              <a:rPr dirty="0" sz="1100" spc="3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320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r>
              <a:rPr dirty="0" sz="1100" spc="3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v</a:t>
            </a:r>
            <a:r>
              <a:rPr dirty="0" sz="1100" spc="3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32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3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s)</a:t>
            </a:r>
            <a:r>
              <a:rPr dirty="0" baseline="-10416" sz="1200" spc="104" i="1">
                <a:solidFill>
                  <a:srgbClr val="0000FF"/>
                </a:solidFill>
                <a:latin typeface="Calibri"/>
                <a:cs typeface="Calibri"/>
              </a:rPr>
              <a:t>ascii</a:t>
            </a:r>
            <a:endParaRPr baseline="-10416" sz="1200">
              <a:latin typeface="Calibri"/>
              <a:cs typeface="Calibri"/>
            </a:endParaRPr>
          </a:p>
          <a:p>
            <a:pPr algn="just" marL="304800" marR="43815">
              <a:lnSpc>
                <a:spcPct val="102600"/>
              </a:lnSpc>
              <a:spcBef>
                <a:spcPts val="1095"/>
              </a:spcBef>
            </a:pP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Primjetite</a:t>
            </a:r>
            <a:r>
              <a:rPr dirty="0" sz="1100" spc="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1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smo</a:t>
            </a:r>
            <a:r>
              <a:rPr dirty="0" sz="1100" spc="1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odmah,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bez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raˇcunanja,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mogli</a:t>
            </a:r>
            <a:r>
              <a:rPr dirty="0" sz="1100" spc="1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zakljuˇciti</a:t>
            </a:r>
            <a:r>
              <a:rPr dirty="0" sz="1100" spc="1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se</a:t>
            </a:r>
            <a:r>
              <a:rPr dirty="0" sz="1100" spc="1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slova</a:t>
            </a:r>
            <a:r>
              <a:rPr dirty="0" sz="1100" spc="1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75">
                <a:solidFill>
                  <a:srgbClr val="0000FF"/>
                </a:solidFill>
                <a:latin typeface="Calibri"/>
                <a:cs typeface="Calibri"/>
              </a:rPr>
              <a:t>“v”</a:t>
            </a:r>
            <a:r>
              <a:rPr dirty="0" sz="1100" spc="1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“s”</a:t>
            </a:r>
            <a:r>
              <a:rPr dirty="0" sz="1100" spc="1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nalaze</a:t>
            </a:r>
            <a:r>
              <a:rPr dirty="0" sz="1100" spc="1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u</a:t>
            </a:r>
            <a:r>
              <a:rPr dirty="0" sz="1100" spc="1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drugoj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poruci!</a:t>
            </a:r>
            <a:r>
              <a:rPr dirty="0" sz="1100" spc="2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8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1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Calibri"/>
                <a:cs typeface="Calibri"/>
              </a:rPr>
              <a:t>bi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zadatak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bio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priznat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dovoljno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je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na´ci</a:t>
            </a:r>
            <a:r>
              <a:rPr dirty="0" sz="1100" spc="2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neku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(ASCII,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binarnu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ili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heksadecimalnu)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reprezentaciju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od</a:t>
            </a:r>
            <a:r>
              <a:rPr dirty="0" sz="1100" spc="2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4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0416" sz="1200" spc="6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algn="just" marL="304800" marR="43180" indent="-254000">
              <a:lnSpc>
                <a:spcPct val="102600"/>
              </a:lnSpc>
              <a:spcBef>
                <a:spcPts val="400"/>
              </a:spcBef>
              <a:buAutoNum type="alphaLcParenBoth" startAt="2"/>
              <a:tabLst>
                <a:tab pos="304800" algn="l"/>
              </a:tabLst>
            </a:pPr>
            <a:r>
              <a:rPr dirty="0" sz="1100" spc="10">
                <a:latin typeface="Calibri"/>
                <a:cs typeface="Calibri"/>
              </a:rPr>
              <a:t>(2)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Razmatramo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svojsto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difuzije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u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 spc="100">
                <a:latin typeface="Calibri"/>
                <a:cs typeface="Calibri"/>
              </a:rPr>
              <a:t>AES-</a:t>
            </a:r>
            <a:r>
              <a:rPr dirty="0" sz="1100" spc="85">
                <a:latin typeface="Calibri"/>
                <a:cs typeface="Calibri"/>
              </a:rPr>
              <a:t>u.</a:t>
            </a:r>
            <a:r>
              <a:rPr dirty="0" sz="1100" spc="37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Pretpostavimo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da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u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matrici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 spc="10" i="1">
                <a:latin typeface="Calibri"/>
                <a:cs typeface="Calibri"/>
              </a:rPr>
              <a:t>M</a:t>
            </a:r>
            <a:r>
              <a:rPr dirty="0" baseline="-10416" sz="1200" spc="15">
                <a:latin typeface="Calibri"/>
                <a:cs typeface="Calibri"/>
              </a:rPr>
              <a:t>4</a:t>
            </a:r>
            <a:r>
              <a:rPr dirty="0" baseline="-10416" sz="1200" spc="15" i="1">
                <a:latin typeface="Verdana"/>
                <a:cs typeface="Verdana"/>
              </a:rPr>
              <a:t>×</a:t>
            </a:r>
            <a:r>
              <a:rPr dirty="0" baseline="-10416" sz="1200" spc="15">
                <a:latin typeface="Calibri"/>
                <a:cs typeface="Calibri"/>
              </a:rPr>
              <a:t>4</a:t>
            </a:r>
            <a:r>
              <a:rPr dirty="0" baseline="-10416" sz="1200" spc="472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jasnog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teksta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promijenimo</a:t>
            </a:r>
            <a:r>
              <a:rPr dirty="0" sz="1100" spc="210">
                <a:latin typeface="Calibri"/>
                <a:cs typeface="Calibri"/>
              </a:rPr>
              <a:t> </a:t>
            </a:r>
            <a:r>
              <a:rPr dirty="0" sz="1100" spc="-20" i="1">
                <a:latin typeface="Calibri"/>
                <a:cs typeface="Calibri"/>
              </a:rPr>
              <a:t>prvi </a:t>
            </a:r>
            <a:r>
              <a:rPr dirty="0" sz="1100" spc="55">
                <a:latin typeface="Calibri"/>
                <a:cs typeface="Calibri"/>
              </a:rPr>
              <a:t>bajt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45" i="1">
                <a:latin typeface="Calibri"/>
                <a:cs typeface="Calibri"/>
              </a:rPr>
              <a:t>M</a:t>
            </a:r>
            <a:r>
              <a:rPr dirty="0" sz="1100" spc="-65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(0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35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0).</a:t>
            </a:r>
            <a:r>
              <a:rPr dirty="0" sz="1100" spc="459">
                <a:latin typeface="Calibri"/>
                <a:cs typeface="Calibri"/>
              </a:rPr>
              <a:t> </a:t>
            </a:r>
            <a:r>
              <a:rPr dirty="0" sz="1100" spc="100">
                <a:latin typeface="Calibri"/>
                <a:cs typeface="Calibri"/>
              </a:rPr>
              <a:t>Koji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stupci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matrice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bloka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 spc="-65">
                <a:latin typeface="Calibri"/>
                <a:cs typeface="Calibri"/>
              </a:rPr>
              <a:t>´ce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promijeniti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nakon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prve</a:t>
            </a:r>
            <a:r>
              <a:rPr dirty="0" sz="1100" spc="254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runde</a:t>
            </a:r>
            <a:r>
              <a:rPr dirty="0" sz="1100" spc="330" i="1">
                <a:latin typeface="Calibri"/>
                <a:cs typeface="Calibri"/>
              </a:rPr>
              <a:t> </a:t>
            </a:r>
            <a:r>
              <a:rPr dirty="0" sz="1100" spc="105">
                <a:latin typeface="Calibri"/>
                <a:cs typeface="Calibri"/>
              </a:rPr>
              <a:t>AES-</a:t>
            </a:r>
            <a:r>
              <a:rPr dirty="0" sz="1100" spc="110">
                <a:latin typeface="Calibri"/>
                <a:cs typeface="Calibri"/>
              </a:rPr>
              <a:t>a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kao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posljedica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promjene </a:t>
            </a:r>
            <a:r>
              <a:rPr dirty="0" sz="1100" spc="110" i="1">
                <a:latin typeface="Calibri"/>
                <a:cs typeface="Calibri"/>
              </a:rPr>
              <a:t>M</a:t>
            </a:r>
            <a:r>
              <a:rPr dirty="0" sz="1100" spc="-11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(0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3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0)?</a:t>
            </a:r>
            <a:r>
              <a:rPr dirty="0" sz="1100" spc="3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Obrazloˇzite.</a:t>
            </a:r>
            <a:endParaRPr sz="1100">
              <a:latin typeface="Calibri"/>
              <a:cs typeface="Calibri"/>
            </a:endParaRPr>
          </a:p>
          <a:p>
            <a:pPr algn="just" marL="304800" marR="43180">
              <a:lnSpc>
                <a:spcPct val="102600"/>
              </a:lnSpc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Navedena</a:t>
            </a:r>
            <a:r>
              <a:rPr dirty="0" sz="1100" spc="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promjena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prvog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bajta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4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100" spc="-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(0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100" spc="-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0)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uzrokovat</a:t>
            </a:r>
            <a:r>
              <a:rPr dirty="0" sz="1100" spc="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35">
                <a:solidFill>
                  <a:srgbClr val="0000FF"/>
                </a:solidFill>
                <a:latin typeface="Calibri"/>
                <a:cs typeface="Calibri"/>
              </a:rPr>
              <a:t>´ce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promjenu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samo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u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prvom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stupcu.</a:t>
            </a:r>
            <a:r>
              <a:rPr dirty="0" sz="1100" spc="3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Operacije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unutar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AES-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dirty="0" sz="1100" spc="2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koje</a:t>
            </a:r>
            <a:r>
              <a:rPr dirty="0" sz="1100" spc="2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osiguravaju</a:t>
            </a:r>
            <a:r>
              <a:rPr dirty="0" sz="1100" spc="2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difuziju</a:t>
            </a:r>
            <a:r>
              <a:rPr dirty="0" sz="1100" spc="2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su</a:t>
            </a:r>
            <a:r>
              <a:rPr dirty="0" sz="1100" spc="2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shiftRows</a:t>
            </a:r>
            <a:r>
              <a:rPr dirty="0" sz="1100" spc="40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2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mixColumns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Operacija</a:t>
            </a:r>
            <a:r>
              <a:rPr dirty="0" sz="1100" spc="2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shiftRows</a:t>
            </a:r>
            <a:r>
              <a:rPr dirty="0" sz="1100" spc="39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prvi</a:t>
            </a:r>
            <a:r>
              <a:rPr dirty="0" sz="1100" spc="2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redak</a:t>
            </a:r>
            <a:r>
              <a:rPr dirty="0" sz="1100" spc="2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rotira</a:t>
            </a:r>
            <a:r>
              <a:rPr dirty="0" sz="1100" spc="2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za</a:t>
            </a:r>
            <a:r>
              <a:rPr dirty="0" sz="1100" spc="2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0,</a:t>
            </a:r>
            <a:r>
              <a:rPr dirty="0" sz="1100" spc="2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stoga</a:t>
            </a:r>
            <a:r>
              <a:rPr dirty="0" sz="1100" spc="2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0">
                <a:solidFill>
                  <a:srgbClr val="0000FF"/>
                </a:solidFill>
                <a:latin typeface="Calibri"/>
                <a:cs typeface="Calibri"/>
              </a:rPr>
              <a:t>´ce </a:t>
            </a:r>
            <a:r>
              <a:rPr dirty="0" sz="1100" spc="4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100" spc="-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(0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100" spc="-3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0)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ostati</a:t>
            </a:r>
            <a:r>
              <a:rPr dirty="0" sz="1100" spc="1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na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svom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mjestu.</a:t>
            </a:r>
            <a:r>
              <a:rPr dirty="0" sz="1100" spc="3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druge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strane,</a:t>
            </a:r>
            <a:r>
              <a:rPr dirty="0" sz="1100" spc="1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operacija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mixColumns</a:t>
            </a:r>
            <a:r>
              <a:rPr dirty="0" sz="1100" spc="2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55">
                <a:solidFill>
                  <a:srgbClr val="0000FF"/>
                </a:solidFill>
                <a:latin typeface="Calibri"/>
                <a:cs typeface="Calibri"/>
              </a:rPr>
              <a:t>mnoˇzi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polinom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svakog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stupca</a:t>
            </a:r>
            <a:r>
              <a:rPr dirty="0" sz="1100" spc="1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fiksnom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matricom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koja</a:t>
            </a:r>
            <a:r>
              <a:rPr dirty="0" sz="1100" spc="2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uzrokuje</a:t>
            </a:r>
            <a:r>
              <a:rPr dirty="0" sz="1100" spc="2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promjenu</a:t>
            </a:r>
            <a:r>
              <a:rPr dirty="0" sz="1100" spc="2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u</a:t>
            </a:r>
            <a:r>
              <a:rPr dirty="0" sz="1100" spc="2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tom</a:t>
            </a:r>
            <a:r>
              <a:rPr dirty="0" sz="1100" spc="2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stupcu.</a:t>
            </a:r>
            <a:r>
              <a:rPr dirty="0" sz="1100" spc="150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Prema</a:t>
            </a:r>
            <a:r>
              <a:rPr dirty="0" sz="1100" spc="2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tome,</a:t>
            </a:r>
            <a:r>
              <a:rPr dirty="0" sz="1100" spc="2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promjena</a:t>
            </a:r>
            <a:r>
              <a:rPr dirty="0" sz="1100" spc="2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4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100" spc="-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(0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100" spc="-3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0)</a:t>
            </a:r>
            <a:r>
              <a:rPr dirty="0" sz="1100" spc="2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55">
                <a:solidFill>
                  <a:srgbClr val="0000FF"/>
                </a:solidFill>
                <a:latin typeface="Calibri"/>
                <a:cs typeface="Calibri"/>
              </a:rPr>
              <a:t>´ce</a:t>
            </a:r>
            <a:r>
              <a:rPr dirty="0" sz="1100" spc="2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se</a:t>
            </a:r>
            <a:r>
              <a:rPr dirty="0" sz="1100" spc="2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nakon</a:t>
            </a:r>
            <a:r>
              <a:rPr dirty="0" sz="1100" spc="25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Calibri"/>
                <a:cs typeface="Calibri"/>
              </a:rPr>
              <a:t>mixColumns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proˇsiriti</a:t>
            </a:r>
            <a:r>
              <a:rPr dirty="0" sz="1100" spc="1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samo</a:t>
            </a:r>
            <a:r>
              <a:rPr dirty="0" sz="1100" spc="1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na</a:t>
            </a:r>
            <a:r>
              <a:rPr dirty="0" sz="1100" spc="1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prvi</a:t>
            </a:r>
            <a:r>
              <a:rPr dirty="0" sz="1100" spc="1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stupac.</a:t>
            </a:r>
            <a:endParaRPr sz="1100">
              <a:latin typeface="Calibri"/>
              <a:cs typeface="Calibri"/>
            </a:endParaRPr>
          </a:p>
          <a:p>
            <a:pPr algn="just" marL="304165" indent="-238125">
              <a:lnSpc>
                <a:spcPct val="100000"/>
              </a:lnSpc>
              <a:spcBef>
                <a:spcPts val="434"/>
              </a:spcBef>
              <a:buAutoNum type="alphaLcParenBoth" startAt="3"/>
              <a:tabLst>
                <a:tab pos="304165" algn="l"/>
              </a:tabLst>
            </a:pPr>
            <a:r>
              <a:rPr dirty="0" sz="1100">
                <a:latin typeface="Calibri"/>
                <a:cs typeface="Calibri"/>
              </a:rPr>
              <a:t>(2)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Skicirajte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matematiˇcki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 spc="-35">
                <a:latin typeface="Calibri"/>
                <a:cs typeface="Calibri"/>
              </a:rPr>
              <a:t>opiˇsite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jednu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iteraciju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Feistelove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mreˇze.</a:t>
            </a:r>
            <a:endParaRPr sz="1100">
              <a:latin typeface="Calibri"/>
              <a:cs typeface="Calibri"/>
            </a:endParaRPr>
          </a:p>
          <a:p>
            <a:pPr marL="304800">
              <a:lnSpc>
                <a:spcPct val="100000"/>
              </a:lnSpc>
              <a:spcBef>
                <a:spcPts val="35"/>
              </a:spcBef>
            </a:pPr>
            <a:r>
              <a:rPr dirty="0" sz="1100" spc="-10" i="1">
                <a:latin typeface="Calibri"/>
                <a:cs typeface="Calibri"/>
              </a:rPr>
              <a:t>Rjeˇsenje:</a:t>
            </a:r>
            <a:endParaRPr sz="1100">
              <a:latin typeface="Calibri"/>
              <a:cs typeface="Calibri"/>
            </a:endParaRPr>
          </a:p>
          <a:p>
            <a:pPr marL="3048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Pogledati</a:t>
            </a:r>
            <a:r>
              <a:rPr dirty="0" sz="1100" spc="3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sliku</a:t>
            </a:r>
            <a:r>
              <a:rPr dirty="0" sz="1100" spc="3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1.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0386" y="316174"/>
            <a:ext cx="4294863" cy="330599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633387" y="3794657"/>
            <a:ext cx="6236970" cy="25374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267335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Calibri"/>
                <a:cs typeface="Calibri"/>
              </a:rPr>
              <a:t>Slika</a:t>
            </a:r>
            <a:r>
              <a:rPr dirty="0" sz="1100" spc="2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1:</a:t>
            </a:r>
            <a:r>
              <a:rPr dirty="0" sz="1100" spc="40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Jedna</a:t>
            </a:r>
            <a:r>
              <a:rPr dirty="0" sz="1100" spc="2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iteracija</a:t>
            </a:r>
            <a:r>
              <a:rPr dirty="0" sz="1100" spc="2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Feistelove</a:t>
            </a:r>
            <a:r>
              <a:rPr dirty="0" sz="1100" spc="2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mreˇze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100">
              <a:latin typeface="Calibri"/>
              <a:cs typeface="Calibri"/>
            </a:endParaRPr>
          </a:p>
          <a:p>
            <a:pPr marL="2977515">
              <a:lnSpc>
                <a:spcPct val="100000"/>
              </a:lnSpc>
            </a:pPr>
            <a:r>
              <a:rPr dirty="0" sz="1100" spc="145" i="1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r>
              <a:rPr dirty="0" baseline="-10416" sz="1200" spc="217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r>
              <a:rPr dirty="0" baseline="-10416" sz="1200" spc="2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10" i="1">
                <a:solidFill>
                  <a:srgbClr val="0000FF"/>
                </a:solidFill>
                <a:latin typeface="Calibri"/>
                <a:cs typeface="Calibri"/>
              </a:rPr>
              <a:t>IP</a:t>
            </a:r>
            <a:r>
              <a:rPr dirty="0" sz="1100" spc="-10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[1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32]</a:t>
            </a:r>
            <a:endParaRPr sz="1100">
              <a:latin typeface="Calibri"/>
              <a:cs typeface="Calibri"/>
            </a:endParaRPr>
          </a:p>
          <a:p>
            <a:pPr marL="2966720">
              <a:lnSpc>
                <a:spcPct val="100000"/>
              </a:lnSpc>
              <a:spcBef>
                <a:spcPts val="335"/>
              </a:spcBef>
            </a:pPr>
            <a:r>
              <a:rPr dirty="0" sz="1100" spc="120" i="1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dirty="0" baseline="-10416" sz="1200" spc="179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r>
              <a:rPr dirty="0" baseline="-10416" sz="1200" spc="209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10" i="1">
                <a:solidFill>
                  <a:srgbClr val="0000FF"/>
                </a:solidFill>
                <a:latin typeface="Calibri"/>
                <a:cs typeface="Calibri"/>
              </a:rPr>
              <a:t>IP</a:t>
            </a:r>
            <a:r>
              <a:rPr dirty="0" sz="1100" spc="-10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[33</a:t>
            </a:r>
            <a:r>
              <a:rPr dirty="0" sz="1100" spc="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: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64]</a:t>
            </a:r>
            <a:endParaRPr sz="1100">
              <a:latin typeface="Calibri"/>
              <a:cs typeface="Calibri"/>
            </a:endParaRPr>
          </a:p>
          <a:p>
            <a:pPr marL="2977515">
              <a:lnSpc>
                <a:spcPct val="100000"/>
              </a:lnSpc>
              <a:spcBef>
                <a:spcPts val="335"/>
              </a:spcBef>
            </a:pPr>
            <a:r>
              <a:rPr dirty="0" sz="1100" spc="145" i="1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r>
              <a:rPr dirty="0" baseline="-10416" sz="1200" spc="217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dirty="0" baseline="-10416" sz="1200" spc="25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95" i="1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dirty="0" baseline="-10416" sz="1200" spc="142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endParaRPr baseline="-10416" sz="1200">
              <a:latin typeface="Calibri"/>
              <a:cs typeface="Calibri"/>
            </a:endParaRPr>
          </a:p>
          <a:p>
            <a:pPr marL="2966720">
              <a:lnSpc>
                <a:spcPct val="100000"/>
              </a:lnSpc>
              <a:spcBef>
                <a:spcPts val="334"/>
              </a:spcBef>
            </a:pPr>
            <a:r>
              <a:rPr dirty="0" sz="1100" spc="120" i="1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dirty="0" baseline="-10416" sz="1200" spc="179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dirty="0" baseline="-10416" sz="1200" spc="25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45" i="1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r>
              <a:rPr dirty="0" baseline="-10416" sz="1200" spc="217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r>
              <a:rPr dirty="0" baseline="-10416" sz="1200" spc="1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1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195" i="1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dirty="0" sz="1100" spc="-13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100" i="1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dirty="0" baseline="-10416" sz="1200" spc="150">
                <a:solidFill>
                  <a:srgbClr val="0000FF"/>
                </a:solidFill>
                <a:latin typeface="Calibri"/>
                <a:cs typeface="Calibri"/>
              </a:rPr>
              <a:t>0</a:t>
            </a:r>
            <a:r>
              <a:rPr dirty="0" sz="1100" spc="1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100" spc="-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4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baseline="-10416" sz="1200" spc="67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1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dirty="0" sz="1100" spc="65">
                <a:latin typeface="Calibri"/>
                <a:cs typeface="Calibri"/>
              </a:rPr>
              <a:t>(d)</a:t>
            </a:r>
            <a:r>
              <a:rPr dirty="0" sz="1100" spc="4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(1)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Objasnite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kako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dekriptira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poruka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kod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simetriˇcne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enkripcije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zasnovane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Feistelovoj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mreˇzi.</a:t>
            </a:r>
            <a:endParaRPr sz="1100">
              <a:latin typeface="Calibri"/>
              <a:cs typeface="Calibri"/>
            </a:endParaRPr>
          </a:p>
          <a:p>
            <a:pPr marL="292100">
              <a:lnSpc>
                <a:spcPct val="100000"/>
              </a:lnSpc>
              <a:spcBef>
                <a:spcPts val="35"/>
              </a:spcBef>
            </a:pPr>
            <a:r>
              <a:rPr dirty="0" sz="1100" spc="-10" i="1">
                <a:latin typeface="Calibri"/>
                <a:cs typeface="Calibri"/>
              </a:rPr>
              <a:t>Rjeˇsenje: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100">
              <a:latin typeface="Calibri"/>
              <a:cs typeface="Calibri"/>
            </a:endParaRPr>
          </a:p>
          <a:p>
            <a:pPr marL="2863215">
              <a:lnSpc>
                <a:spcPct val="100000"/>
              </a:lnSpc>
              <a:spcBef>
                <a:spcPts val="5"/>
              </a:spcBef>
            </a:pPr>
            <a:r>
              <a:rPr dirty="0" baseline="7575" sz="1650" spc="240" i="1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dirty="0" sz="800" spc="160" i="1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800" spc="1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baseline="7575" sz="1650" spc="442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baseline="7575" sz="1650" spc="89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baseline="7575" sz="1650" spc="209" i="1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r>
              <a:rPr dirty="0" sz="800" spc="140" i="1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800" spc="140">
                <a:solidFill>
                  <a:srgbClr val="0000FF"/>
                </a:solidFill>
                <a:latin typeface="Calibri"/>
                <a:cs typeface="Calibri"/>
              </a:rPr>
              <a:t>+1</a:t>
            </a:r>
            <a:endParaRPr sz="800">
              <a:latin typeface="Calibri"/>
              <a:cs typeface="Calibri"/>
            </a:endParaRPr>
          </a:p>
          <a:p>
            <a:pPr marL="2874010">
              <a:lnSpc>
                <a:spcPct val="100000"/>
              </a:lnSpc>
              <a:spcBef>
                <a:spcPts val="170"/>
              </a:spcBef>
            </a:pPr>
            <a:r>
              <a:rPr dirty="0" sz="1100" spc="185" i="1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r>
              <a:rPr dirty="0" baseline="-10416" sz="1200" spc="277" i="1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baseline="-10416" sz="1200" spc="254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50" i="1">
                <a:solidFill>
                  <a:srgbClr val="0000FF"/>
                </a:solidFill>
                <a:latin typeface="Calibri"/>
                <a:cs typeface="Calibri"/>
              </a:rPr>
              <a:t>R</a:t>
            </a:r>
            <a:r>
              <a:rPr dirty="0" baseline="-10416" sz="1200" spc="225" i="1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baseline="-10416" sz="1200" spc="225">
                <a:solidFill>
                  <a:srgbClr val="0000FF"/>
                </a:solidFill>
                <a:latin typeface="Calibri"/>
                <a:cs typeface="Calibri"/>
              </a:rPr>
              <a:t>+1</a:t>
            </a:r>
            <a:r>
              <a:rPr dirty="0" baseline="-10416" sz="1200" spc="157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1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195" i="1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dirty="0" sz="1100" spc="-13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135" i="1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r>
              <a:rPr dirty="0" baseline="-10416" sz="1200" spc="202" i="1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baseline="-10416" sz="1200" spc="202">
                <a:solidFill>
                  <a:srgbClr val="0000FF"/>
                </a:solidFill>
                <a:latin typeface="Calibri"/>
                <a:cs typeface="Calibri"/>
              </a:rPr>
              <a:t>+1</a:t>
            </a:r>
            <a:r>
              <a:rPr dirty="0" sz="1100" spc="135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100" spc="-7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7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baseline="-10416" sz="1200" spc="104" i="1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078852" y="8497569"/>
            <a:ext cx="41910" cy="0"/>
          </a:xfrm>
          <a:custGeom>
            <a:avLst/>
            <a:gdLst/>
            <a:ahLst/>
            <a:cxnLst/>
            <a:rect l="l" t="t" r="r" b="b"/>
            <a:pathLst>
              <a:path w="41909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96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05561" y="6901318"/>
            <a:ext cx="7156450" cy="25006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214629" indent="-176530">
              <a:lnSpc>
                <a:spcPct val="100000"/>
              </a:lnSpc>
              <a:spcBef>
                <a:spcPts val="90"/>
              </a:spcBef>
              <a:buAutoNum type="arabicPeriod" startAt="4"/>
              <a:tabLst>
                <a:tab pos="214629" algn="l"/>
              </a:tabLst>
            </a:pPr>
            <a:r>
              <a:rPr dirty="0" sz="1100" spc="10">
                <a:latin typeface="Calibri"/>
                <a:cs typeface="Calibri"/>
              </a:rPr>
              <a:t>(3)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Hash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26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Autentifikacijsko</a:t>
            </a:r>
            <a:r>
              <a:rPr dirty="0" sz="1100" spc="254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kriptiranje</a:t>
            </a:r>
            <a:endParaRPr sz="1100">
              <a:latin typeface="Calibri"/>
              <a:cs typeface="Calibri"/>
            </a:endParaRPr>
          </a:p>
          <a:p>
            <a:pPr lvl="1" marL="518795" indent="-245745">
              <a:lnSpc>
                <a:spcPct val="100000"/>
              </a:lnSpc>
              <a:spcBef>
                <a:spcPts val="840"/>
              </a:spcBef>
              <a:buAutoNum type="alphaLcParenBoth"/>
              <a:tabLst>
                <a:tab pos="518795" algn="l"/>
              </a:tabLst>
            </a:pPr>
            <a:r>
              <a:rPr dirty="0" sz="1100" spc="10">
                <a:latin typeface="Calibri"/>
                <a:cs typeface="Calibri"/>
              </a:rPr>
              <a:t>(2)</a:t>
            </a:r>
            <a:r>
              <a:rPr dirty="0" sz="1100" spc="250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Skicirati</a:t>
            </a:r>
            <a:r>
              <a:rPr dirty="0" sz="1100" spc="254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algoritam</a:t>
            </a:r>
            <a:r>
              <a:rPr dirty="0" sz="1100" spc="254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kriptiranja</a:t>
            </a:r>
            <a:r>
              <a:rPr dirty="0" sz="1100" spc="250">
                <a:latin typeface="Calibri"/>
                <a:cs typeface="Calibri"/>
              </a:rPr>
              <a:t> </a:t>
            </a:r>
            <a:r>
              <a:rPr dirty="0" sz="1100" spc="75">
                <a:latin typeface="Calibri"/>
                <a:cs typeface="Calibri"/>
              </a:rPr>
              <a:t>MAC-</a:t>
            </a:r>
            <a:r>
              <a:rPr dirty="0" sz="1100" spc="50">
                <a:latin typeface="Calibri"/>
                <a:cs typeface="Calibri"/>
              </a:rPr>
              <a:t>then-Encrypt</a:t>
            </a:r>
            <a:r>
              <a:rPr dirty="0" sz="1100" spc="254">
                <a:latin typeface="Calibri"/>
                <a:cs typeface="Calibri"/>
              </a:rPr>
              <a:t> </a:t>
            </a:r>
            <a:r>
              <a:rPr dirty="0" sz="1100" spc="70">
                <a:latin typeface="Calibri"/>
                <a:cs typeface="Calibri"/>
              </a:rPr>
              <a:t>(MtE).</a:t>
            </a:r>
            <a:endParaRPr sz="1100"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5"/>
              </a:spcBef>
            </a:pPr>
            <a:r>
              <a:rPr dirty="0" sz="1100" spc="-10" i="1">
                <a:latin typeface="Calibri"/>
                <a:cs typeface="Calibri"/>
              </a:rPr>
              <a:t>Rjeˇsenje:</a:t>
            </a:r>
            <a:endParaRPr sz="1100">
              <a:latin typeface="Calibri"/>
              <a:cs typeface="Calibri"/>
            </a:endParaRPr>
          </a:p>
          <a:p>
            <a:pPr marL="51943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Pogledati</a:t>
            </a:r>
            <a:r>
              <a:rPr dirty="0" sz="1100" spc="3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sliku</a:t>
            </a:r>
            <a:r>
              <a:rPr dirty="0" sz="1100" spc="3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2.</a:t>
            </a:r>
            <a:endParaRPr sz="1100">
              <a:latin typeface="Calibri"/>
              <a:cs typeface="Calibri"/>
            </a:endParaRPr>
          </a:p>
          <a:p>
            <a:pPr algn="just" lvl="1" marL="519430" marR="55880" indent="-254000">
              <a:lnSpc>
                <a:spcPct val="102600"/>
              </a:lnSpc>
              <a:spcBef>
                <a:spcPts val="310"/>
              </a:spcBef>
              <a:buAutoNum type="alphaLcParenBoth" startAt="2"/>
              <a:tabLst>
                <a:tab pos="519430" algn="l"/>
              </a:tabLst>
            </a:pPr>
            <a:r>
              <a:rPr dirty="0" sz="1100">
                <a:latin typeface="Calibri"/>
                <a:cs typeface="Calibri"/>
              </a:rPr>
              <a:t>(1)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Pretpostavimo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-30">
                <a:latin typeface="Calibri"/>
                <a:cs typeface="Calibri"/>
              </a:rPr>
              <a:t>ˇzelimo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na´ci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koliziju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funkciji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 spc="-35">
                <a:latin typeface="Calibri"/>
                <a:cs typeface="Calibri"/>
              </a:rPr>
              <a:t>saˇzetka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128-bitnim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izlazom.</a:t>
            </a:r>
            <a:r>
              <a:rPr dirty="0" sz="1100" spc="355">
                <a:latin typeface="Calibri"/>
                <a:cs typeface="Calibri"/>
              </a:rPr>
              <a:t> </a:t>
            </a:r>
            <a:r>
              <a:rPr dirty="0" sz="1100" spc="75">
                <a:latin typeface="Calibri"/>
                <a:cs typeface="Calibri"/>
              </a:rPr>
              <a:t>Koliki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ugrubo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oˇcekivani </a:t>
            </a:r>
            <a:r>
              <a:rPr dirty="0" sz="1100">
                <a:latin typeface="Calibri"/>
                <a:cs typeface="Calibri"/>
              </a:rPr>
              <a:t>broj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saˇzetaka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koje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trebamo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napraviti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bismo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vjerojatnoˇs´cu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od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50%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naˇsli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koliziju?</a:t>
            </a:r>
            <a:r>
              <a:rPr dirty="0" sz="1100" spc="495">
                <a:latin typeface="Calibri"/>
                <a:cs typeface="Calibri"/>
              </a:rPr>
              <a:t> </a:t>
            </a:r>
            <a:r>
              <a:rPr dirty="0" sz="1100" spc="75">
                <a:latin typeface="Calibri"/>
                <a:cs typeface="Calibri"/>
              </a:rPr>
              <a:t>Kako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nazivamo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ovaj </a:t>
            </a:r>
            <a:r>
              <a:rPr dirty="0" sz="1100" spc="-10">
                <a:latin typeface="Calibri"/>
                <a:cs typeface="Calibri"/>
              </a:rPr>
              <a:t>napad?</a:t>
            </a:r>
            <a:endParaRPr sz="1100">
              <a:latin typeface="Calibri"/>
              <a:cs typeface="Calibri"/>
            </a:endParaRPr>
          </a:p>
          <a:p>
            <a:pPr algn="just" marL="519430" marR="56515">
              <a:lnSpc>
                <a:spcPct val="102600"/>
              </a:lnSpc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Trebamo</a:t>
            </a:r>
            <a:r>
              <a:rPr dirty="0" sz="1100" spc="2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ugrubo</a:t>
            </a:r>
            <a:r>
              <a:rPr dirty="0" sz="1100" spc="2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napraviti</a:t>
            </a:r>
            <a:r>
              <a:rPr dirty="0" sz="1100" spc="229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baseline="27777" sz="1200">
                <a:solidFill>
                  <a:srgbClr val="0000FF"/>
                </a:solidFill>
                <a:latin typeface="Calibri"/>
                <a:cs typeface="Calibri"/>
              </a:rPr>
              <a:t>128</a:t>
            </a:r>
            <a:r>
              <a:rPr dirty="0" baseline="27777" sz="1200" i="1">
                <a:solidFill>
                  <a:srgbClr val="0000FF"/>
                </a:solidFill>
                <a:latin typeface="Calibri"/>
                <a:cs typeface="Calibri"/>
              </a:rPr>
              <a:t>/</a:t>
            </a:r>
            <a:r>
              <a:rPr dirty="0" baseline="27777" sz="120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baseline="27777" sz="1200" spc="487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baseline="27777" sz="1200">
                <a:solidFill>
                  <a:srgbClr val="0000FF"/>
                </a:solidFill>
                <a:latin typeface="Calibri"/>
                <a:cs typeface="Calibri"/>
              </a:rPr>
              <a:t>64</a:t>
            </a:r>
            <a:r>
              <a:rPr dirty="0" baseline="27777" sz="1200" spc="49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saˇzetka</a:t>
            </a:r>
            <a:r>
              <a:rPr dirty="0" sz="1100" spc="2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229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bismo</a:t>
            </a:r>
            <a:r>
              <a:rPr dirty="0" sz="1100" spc="2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dirty="0" sz="1100" spc="229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vjerojatnoˇs´cu</a:t>
            </a:r>
            <a:r>
              <a:rPr dirty="0" sz="1100" spc="229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od</a:t>
            </a:r>
            <a:r>
              <a:rPr dirty="0" sz="1100" spc="229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50%</a:t>
            </a:r>
            <a:r>
              <a:rPr dirty="0" sz="1100" spc="2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naˇsli</a:t>
            </a:r>
            <a:r>
              <a:rPr dirty="0" sz="1100" spc="229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koliziju.</a:t>
            </a:r>
            <a:r>
              <a:rPr dirty="0" sz="1100" spc="140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Rijeˇc</a:t>
            </a:r>
            <a:r>
              <a:rPr dirty="0" sz="1100" spc="229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je</a:t>
            </a:r>
            <a:r>
              <a:rPr dirty="0" sz="1100" spc="2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 rodendanskom</a:t>
            </a:r>
            <a:r>
              <a:rPr dirty="0" sz="1100" spc="2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napadu.</a:t>
            </a:r>
            <a:endParaRPr sz="1100">
              <a:latin typeface="Calibri"/>
              <a:cs typeface="Calibri"/>
            </a:endParaRPr>
          </a:p>
          <a:p>
            <a:pPr algn="just" marL="214629" indent="-176530">
              <a:lnSpc>
                <a:spcPct val="100000"/>
              </a:lnSpc>
              <a:spcBef>
                <a:spcPts val="840"/>
              </a:spcBef>
              <a:buAutoNum type="arabicPeriod" startAt="5"/>
              <a:tabLst>
                <a:tab pos="214629" algn="l"/>
              </a:tabLst>
            </a:pPr>
            <a:r>
              <a:rPr dirty="0" sz="1100">
                <a:latin typeface="Calibri"/>
                <a:cs typeface="Calibri"/>
              </a:rPr>
              <a:t>(4)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Kriptiranje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toka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podataka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generatori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sluˇcajnih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brojeva.</a:t>
            </a:r>
            <a:endParaRPr sz="1100">
              <a:latin typeface="Calibri"/>
              <a:cs typeface="Calibri"/>
            </a:endParaRPr>
          </a:p>
          <a:p>
            <a:pPr algn="just" marL="214629" marR="55880">
              <a:lnSpc>
                <a:spcPct val="102600"/>
              </a:lnSpc>
            </a:pPr>
            <a:r>
              <a:rPr dirty="0" sz="1100">
                <a:latin typeface="Calibri"/>
                <a:cs typeface="Calibri"/>
              </a:rPr>
              <a:t>Generator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pseudosluˇcajnih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brojeva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 spc="150" i="1">
                <a:latin typeface="Calibri"/>
                <a:cs typeface="Calibri"/>
              </a:rPr>
              <a:t>G</a:t>
            </a:r>
            <a:r>
              <a:rPr dirty="0" sz="1100" spc="235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radi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tako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poˇcetku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postavi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stanje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zadano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sjeme,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raˇcuna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novo </a:t>
            </a:r>
            <a:r>
              <a:rPr dirty="0" sz="1100">
                <a:latin typeface="Calibri"/>
                <a:cs typeface="Calibri"/>
              </a:rPr>
              <a:t>stanje</a:t>
            </a:r>
            <a:r>
              <a:rPr dirty="0" sz="1100" spc="3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tako</a:t>
            </a:r>
            <a:r>
              <a:rPr dirty="0" sz="1100" spc="3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3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primjenjuje</a:t>
            </a:r>
            <a:r>
              <a:rPr dirty="0" sz="1100" spc="3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kriptografsku</a:t>
            </a:r>
            <a:r>
              <a:rPr dirty="0" sz="1100" spc="3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hash</a:t>
            </a:r>
            <a:r>
              <a:rPr dirty="0" sz="1100" spc="3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funkciju</a:t>
            </a:r>
            <a:r>
              <a:rPr dirty="0" sz="1100" spc="3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SHA256,</a:t>
            </a:r>
            <a:r>
              <a:rPr dirty="0" sz="1100" spc="3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ali</a:t>
            </a:r>
            <a:r>
              <a:rPr dirty="0" sz="1100" spc="3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samo</a:t>
            </a:r>
            <a:r>
              <a:rPr dirty="0" sz="1100" spc="3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</a:t>
            </a:r>
            <a:r>
              <a:rPr dirty="0" sz="1100" spc="31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zadnja</a:t>
            </a:r>
            <a:r>
              <a:rPr dirty="0" sz="1100" spc="335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dva</a:t>
            </a:r>
            <a:r>
              <a:rPr dirty="0" sz="1100" spc="330" i="1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bajta</a:t>
            </a:r>
            <a:r>
              <a:rPr dirty="0" sz="1100" spc="42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trenutnog</a:t>
            </a:r>
            <a:r>
              <a:rPr dirty="0" sz="1100" spc="31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stanja. Toˇcnije,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pseudokod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generatora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 spc="150" i="1">
                <a:latin typeface="Calibri"/>
                <a:cs typeface="Calibri"/>
              </a:rPr>
              <a:t>G</a:t>
            </a:r>
            <a:r>
              <a:rPr dirty="0" sz="1100" spc="12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</a:t>
            </a:r>
            <a:r>
              <a:rPr dirty="0" sz="1100" spc="114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sljede´ci.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1212" rIns="0" bIns="0" rtlCol="0" vert="horz">
            <a:spAutoFit/>
          </a:bodyPr>
          <a:lstStyle/>
          <a:p>
            <a:pPr marL="38100">
              <a:lnSpc>
                <a:spcPts val="1140"/>
              </a:lnSpc>
            </a:pPr>
            <a:fld id="{81D60167-4931-47E6-BA6A-407CBD079E47}" type="slidenum">
              <a:rPr dirty="0" sz="1100" spc="-50">
                <a:latin typeface="Calibri"/>
                <a:cs typeface="Calibri"/>
              </a:rPr>
              <a:t>1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74652" y="285563"/>
            <a:ext cx="1423027" cy="2482548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2797555" y="9116199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96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95287" y="2929558"/>
            <a:ext cx="6953884" cy="64725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36322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Calibri"/>
                <a:cs typeface="Calibri"/>
              </a:rPr>
              <a:t>Slika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2:</a:t>
            </a:r>
            <a:r>
              <a:rPr dirty="0" sz="1100" spc="365">
                <a:latin typeface="Calibri"/>
                <a:cs typeface="Calibri"/>
              </a:rPr>
              <a:t> </a:t>
            </a:r>
            <a:r>
              <a:rPr dirty="0" sz="1100" spc="75">
                <a:latin typeface="Calibri"/>
                <a:cs typeface="Calibri"/>
              </a:rPr>
              <a:t>MAC-</a:t>
            </a:r>
            <a:r>
              <a:rPr dirty="0" sz="1100" spc="50">
                <a:latin typeface="Calibri"/>
                <a:cs typeface="Calibri"/>
              </a:rPr>
              <a:t>the-</a:t>
            </a:r>
            <a:r>
              <a:rPr dirty="0" sz="1100" spc="45">
                <a:latin typeface="Calibri"/>
                <a:cs typeface="Calibri"/>
              </a:rPr>
              <a:t>Encrypt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1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S</a:t>
            </a:r>
            <a:r>
              <a:rPr dirty="0" sz="1100" spc="3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=</a:t>
            </a:r>
            <a:r>
              <a:rPr dirty="0" sz="1100" spc="31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seed</a:t>
            </a:r>
            <a:endParaRPr sz="1100">
              <a:latin typeface="Cambria"/>
              <a:cs typeface="Cambria"/>
            </a:endParaRPr>
          </a:p>
          <a:p>
            <a:pPr marL="25400">
              <a:lnSpc>
                <a:spcPct val="100000"/>
              </a:lnSpc>
              <a:spcBef>
                <a:spcPts val="35"/>
              </a:spcBef>
            </a:pPr>
            <a:r>
              <a:rPr dirty="0" sz="1100" spc="55" b="1">
                <a:latin typeface="Palatino Linotype"/>
                <a:cs typeface="Palatino Linotype"/>
              </a:rPr>
              <a:t>ponavljaj</a:t>
            </a:r>
            <a:r>
              <a:rPr dirty="0" sz="1100" spc="55">
                <a:latin typeface="Cambria"/>
                <a:cs typeface="Cambria"/>
              </a:rPr>
              <a:t>:</a:t>
            </a:r>
            <a:endParaRPr sz="1100">
              <a:latin typeface="Cambria"/>
              <a:cs typeface="Cambria"/>
            </a:endParaRPr>
          </a:p>
          <a:p>
            <a:pPr marL="156210" marR="4389120">
              <a:lnSpc>
                <a:spcPct val="102600"/>
              </a:lnSpc>
              <a:spcBef>
                <a:spcPts val="5"/>
              </a:spcBef>
            </a:pPr>
            <a:r>
              <a:rPr dirty="0" sz="1100">
                <a:latin typeface="Cambria"/>
                <a:cs typeface="Cambria"/>
              </a:rPr>
              <a:t>S</a:t>
            </a:r>
            <a:r>
              <a:rPr dirty="0" sz="1100" spc="3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=</a:t>
            </a:r>
            <a:r>
              <a:rPr dirty="0" sz="1100" spc="3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SHA256(zadnja_dva_bajta_od_S)</a:t>
            </a:r>
            <a:r>
              <a:rPr dirty="0" sz="1100" spc="500">
                <a:latin typeface="Cambria"/>
                <a:cs typeface="Cambria"/>
              </a:rPr>
              <a:t>  </a:t>
            </a:r>
            <a:r>
              <a:rPr dirty="0" sz="1100" spc="100">
                <a:latin typeface="Cambria"/>
                <a:cs typeface="Cambria"/>
              </a:rPr>
              <a:t>ispisi(prvi_bajt_od_S)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Cambria"/>
              <a:cs typeface="Cambria"/>
            </a:endParaRPr>
          </a:p>
          <a:p>
            <a:pPr marL="330200" marR="43180" indent="-246379">
              <a:lnSpc>
                <a:spcPct val="102600"/>
              </a:lnSpc>
              <a:spcBef>
                <a:spcPts val="5"/>
              </a:spcBef>
              <a:buAutoNum type="alphaLcParenBoth"/>
              <a:tabLst>
                <a:tab pos="330200" algn="l"/>
              </a:tabLst>
            </a:pPr>
            <a:r>
              <a:rPr dirty="0" sz="1100">
                <a:latin typeface="Calibri"/>
                <a:cs typeface="Calibri"/>
              </a:rPr>
              <a:t>(2)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 spc="70">
                <a:latin typeface="Calibri"/>
                <a:cs typeface="Calibri"/>
              </a:rPr>
              <a:t>Je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li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 spc="150" i="1">
                <a:latin typeface="Calibri"/>
                <a:cs typeface="Calibri"/>
              </a:rPr>
              <a:t>G</a:t>
            </a:r>
            <a:r>
              <a:rPr dirty="0" sz="1100" spc="18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siguran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generator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pseudosluˇcajnih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brojeva?</a:t>
            </a:r>
            <a:r>
              <a:rPr dirty="0" sz="1100" spc="395">
                <a:latin typeface="Calibri"/>
                <a:cs typeface="Calibri"/>
              </a:rPr>
              <a:t> </a:t>
            </a:r>
            <a:r>
              <a:rPr dirty="0" sz="1100" spc="60">
                <a:latin typeface="Calibri"/>
                <a:cs typeface="Calibri"/>
              </a:rPr>
              <a:t>Ako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je,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obrazloˇzite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zaˇsto.</a:t>
            </a:r>
            <a:r>
              <a:rPr dirty="0" sz="1100" spc="400">
                <a:latin typeface="Calibri"/>
                <a:cs typeface="Calibri"/>
              </a:rPr>
              <a:t> </a:t>
            </a:r>
            <a:r>
              <a:rPr dirty="0" sz="1100" spc="60">
                <a:latin typeface="Calibri"/>
                <a:cs typeface="Calibri"/>
              </a:rPr>
              <a:t>Ako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nije,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detaljno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opiˇsite </a:t>
            </a:r>
            <a:r>
              <a:rPr dirty="0" sz="1100">
                <a:latin typeface="Calibri"/>
                <a:cs typeface="Calibri"/>
              </a:rPr>
              <a:t>napad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koji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pokazuje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150" i="1">
                <a:latin typeface="Calibri"/>
                <a:cs typeface="Calibri"/>
              </a:rPr>
              <a:t>G</a:t>
            </a:r>
            <a:r>
              <a:rPr dirty="0" sz="1100" spc="19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nije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siguran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generator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pseudosluˇcajnih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brojeva.</a:t>
            </a:r>
            <a:endParaRPr sz="1100">
              <a:latin typeface="Calibri"/>
              <a:cs typeface="Calibri"/>
            </a:endParaRPr>
          </a:p>
          <a:p>
            <a:pPr marL="329565">
              <a:lnSpc>
                <a:spcPct val="100000"/>
              </a:lnSpc>
              <a:spcBef>
                <a:spcPts val="35"/>
              </a:spcBef>
            </a:pPr>
            <a:r>
              <a:rPr dirty="0" sz="1100" spc="-10" i="1">
                <a:latin typeface="Calibri"/>
                <a:cs typeface="Calibri"/>
              </a:rPr>
              <a:t>Rjeˇsenje: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Calibri"/>
              <a:cs typeface="Calibri"/>
            </a:endParaRPr>
          </a:p>
          <a:p>
            <a:pPr algn="just" lvl="1" marL="588010" indent="-145415">
              <a:lnSpc>
                <a:spcPct val="100000"/>
              </a:lnSpc>
              <a:buAutoNum type="romanLcPeriod"/>
              <a:tabLst>
                <a:tab pos="588010" algn="l"/>
              </a:tabLst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Napad</a:t>
            </a:r>
            <a:r>
              <a:rPr dirty="0" sz="1100" spc="3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  <a:p>
            <a:pPr algn="just" marL="588645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Generator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pseudosluˇcajnih</a:t>
            </a:r>
            <a:r>
              <a:rPr dirty="0" sz="1100" spc="2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brojava</a:t>
            </a:r>
            <a:r>
              <a:rPr dirty="0" sz="1100" spc="2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50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100" spc="204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nije</a:t>
            </a:r>
            <a:r>
              <a:rPr dirty="0" sz="1100" spc="2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siguran,</a:t>
            </a:r>
            <a:r>
              <a:rPr dirty="0" sz="1100" spc="2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sljede´ci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niz</a:t>
            </a:r>
            <a:r>
              <a:rPr dirty="0" sz="1100" spc="2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koraka</a:t>
            </a:r>
            <a:r>
              <a:rPr dirty="0" sz="1100" spc="2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predstavlja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napad.</a:t>
            </a:r>
            <a:endParaRPr sz="1100">
              <a:latin typeface="Calibri"/>
              <a:cs typeface="Calibri"/>
            </a:endParaRPr>
          </a:p>
          <a:p>
            <a:pPr algn="just" lvl="2" marL="824230" marR="43180" indent="-212090">
              <a:lnSpc>
                <a:spcPct val="102600"/>
              </a:lnSpc>
              <a:spcBef>
                <a:spcPts val="180"/>
              </a:spcBef>
              <a:buAutoNum type="alphaUcPeriod"/>
              <a:tabLst>
                <a:tab pos="824230" algn="l"/>
              </a:tabLst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Uzmemo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neki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prefiks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ispisanog</a:t>
            </a:r>
            <a:r>
              <a:rPr dirty="0" sz="1100" spc="2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niza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od</a:t>
            </a:r>
            <a:r>
              <a:rPr dirty="0" sz="1100" spc="2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5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10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r>
              <a:rPr dirty="0" sz="1100" spc="2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koji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koristi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nama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nepoznato</a:t>
            </a:r>
            <a:r>
              <a:rPr dirty="0" sz="1100" spc="2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0">
                <a:solidFill>
                  <a:srgbClr val="0000FF"/>
                </a:solidFill>
                <a:latin typeface="Calibri"/>
                <a:cs typeface="Calibri"/>
              </a:rPr>
              <a:t>poˇcetno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stanje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(sjeme)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3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30">
                <a:solidFill>
                  <a:srgbClr val="0000FF"/>
                </a:solidFill>
                <a:latin typeface="Calibri"/>
                <a:cs typeface="Calibri"/>
              </a:rPr>
              <a:t>,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npr</a:t>
            </a:r>
            <a:r>
              <a:rPr dirty="0" sz="1100" spc="2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prvih</a:t>
            </a:r>
            <a:r>
              <a:rPr dirty="0" sz="1100" spc="2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100</a:t>
            </a:r>
            <a:r>
              <a:rPr dirty="0" sz="1100" spc="2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bajtova</a:t>
            </a:r>
            <a:r>
              <a:rPr dirty="0" sz="1100" spc="2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od</a:t>
            </a:r>
            <a:r>
              <a:rPr dirty="0" sz="1100" spc="2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85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100" spc="8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8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85">
                <a:solidFill>
                  <a:srgbClr val="0000FF"/>
                </a:solidFill>
                <a:latin typeface="Calibri"/>
                <a:cs typeface="Calibri"/>
              </a:rPr>
              <a:t>).</a:t>
            </a:r>
            <a:r>
              <a:rPr dirty="0" sz="1100" spc="200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dirty="0" sz="1100" spc="60">
                <a:solidFill>
                  <a:srgbClr val="0000FF"/>
                </a:solidFill>
                <a:latin typeface="Calibri"/>
                <a:cs typeface="Calibri"/>
              </a:rPr>
              <a:t>Na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temelju</a:t>
            </a:r>
            <a:r>
              <a:rPr dirty="0" sz="1100" spc="2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ovog</a:t>
            </a:r>
            <a:r>
              <a:rPr dirty="0" sz="1100" spc="2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prefiksa</a:t>
            </a:r>
            <a:r>
              <a:rPr dirty="0" sz="1100" spc="2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nastojimo</a:t>
            </a:r>
            <a:r>
              <a:rPr dirty="0" sz="1100" spc="2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predvidjeti</a:t>
            </a:r>
            <a:r>
              <a:rPr dirty="0" sz="1100" spc="2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sljede´ce</a:t>
            </a:r>
            <a:r>
              <a:rPr dirty="0" sz="1100" spc="2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izlaze</a:t>
            </a:r>
            <a:r>
              <a:rPr dirty="0" sz="1100" spc="2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od 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100" spc="6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65">
                <a:solidFill>
                  <a:srgbClr val="0000FF"/>
                </a:solidFill>
                <a:latin typeface="Calibri"/>
                <a:cs typeface="Calibri"/>
              </a:rPr>
              <a:t>).</a:t>
            </a:r>
            <a:endParaRPr sz="1100">
              <a:latin typeface="Calibri"/>
              <a:cs typeface="Calibri"/>
            </a:endParaRPr>
          </a:p>
          <a:p>
            <a:pPr algn="just" lvl="2" marL="822960" marR="43180" indent="-205104">
              <a:lnSpc>
                <a:spcPct val="102600"/>
              </a:lnSpc>
              <a:spcBef>
                <a:spcPts val="185"/>
              </a:spcBef>
              <a:buAutoNum type="alphaUcPeriod"/>
              <a:tabLst>
                <a:tab pos="824230" algn="l"/>
              </a:tabLst>
            </a:pPr>
            <a:r>
              <a:rPr dirty="0" sz="1100" spc="80">
                <a:solidFill>
                  <a:srgbClr val="0000FF"/>
                </a:solidFill>
                <a:latin typeface="Calibri"/>
                <a:cs typeface="Calibri"/>
              </a:rPr>
              <a:t>Za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">
                <a:solidFill>
                  <a:srgbClr val="0000FF"/>
                </a:solidFill>
                <a:latin typeface="Calibri"/>
                <a:cs typeface="Calibri"/>
              </a:rPr>
              <a:t>svako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55">
                <a:solidFill>
                  <a:srgbClr val="0000FF"/>
                </a:solidFill>
                <a:latin typeface="Calibri"/>
                <a:cs typeface="Calibri"/>
              </a:rPr>
              <a:t>poˇcetno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0000FF"/>
                </a:solidFill>
                <a:latin typeface="Calibri"/>
                <a:cs typeface="Calibri"/>
              </a:rPr>
              <a:t>stanje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0000FF"/>
                </a:solidFill>
                <a:latin typeface="Calibri"/>
                <a:cs typeface="Calibri"/>
              </a:rPr>
              <a:t>(sjeme)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25" i="1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5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50">
                <a:solidFill>
                  <a:srgbClr val="0000FF"/>
                </a:solidFill>
                <a:latin typeface="Lucida Sans Unicode"/>
                <a:cs typeface="Lucida Sans Unicode"/>
              </a:rPr>
              <a:t>∈</a:t>
            </a:r>
            <a:r>
              <a:rPr dirty="0" sz="1100" spc="-4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5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baseline="27777" sz="1200" spc="7">
                <a:solidFill>
                  <a:srgbClr val="0000FF"/>
                </a:solidFill>
                <a:latin typeface="Calibri"/>
                <a:cs typeface="Calibri"/>
              </a:rPr>
              <a:t>16</a:t>
            </a:r>
            <a:r>
              <a:rPr dirty="0" baseline="27777" sz="1200" spc="307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">
                <a:solidFill>
                  <a:srgbClr val="0000FF"/>
                </a:solidFill>
                <a:latin typeface="Calibri"/>
                <a:cs typeface="Calibri"/>
              </a:rPr>
              <a:t>generatora</a:t>
            </a:r>
            <a:r>
              <a:rPr dirty="0" sz="1100" spc="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50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100" spc="9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45">
                <a:solidFill>
                  <a:srgbClr val="0000FF"/>
                </a:solidFill>
                <a:latin typeface="Calibri"/>
                <a:cs typeface="Calibri"/>
              </a:rPr>
              <a:t>ispiˇsemo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prvih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100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5">
                <a:solidFill>
                  <a:srgbClr val="0000FF"/>
                </a:solidFill>
                <a:latin typeface="Calibri"/>
                <a:cs typeface="Calibri"/>
              </a:rPr>
              <a:t>bajtova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0000FF"/>
                </a:solidFill>
                <a:latin typeface="Calibri"/>
                <a:cs typeface="Calibri"/>
              </a:rPr>
              <a:t>od</a:t>
            </a:r>
            <a:r>
              <a:rPr dirty="0" sz="1100" spc="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90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90" i="1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).</a:t>
            </a:r>
            <a:r>
              <a:rPr dirty="0" sz="1100" spc="229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0000FF"/>
                </a:solidFill>
                <a:latin typeface="Calibri"/>
                <a:cs typeface="Calibri"/>
              </a:rPr>
              <a:t>obzirom</a:t>
            </a:r>
            <a:r>
              <a:rPr dirty="0" sz="1100" spc="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100" spc="2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SHA256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0000FF"/>
                </a:solidFill>
                <a:latin typeface="Calibri"/>
                <a:cs typeface="Calibri"/>
              </a:rPr>
              <a:t>izgleda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sluˇcajno,</a:t>
            </a:r>
            <a:r>
              <a:rPr dirty="0" sz="1100" spc="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0000FF"/>
                </a:solidFill>
                <a:latin typeface="Calibri"/>
                <a:cs typeface="Calibri"/>
              </a:rPr>
              <a:t>astronomski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je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5">
                <a:solidFill>
                  <a:srgbClr val="0000FF"/>
                </a:solidFill>
                <a:latin typeface="Calibri"/>
                <a:cs typeface="Calibri"/>
              </a:rPr>
              <a:t>mala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5">
                <a:solidFill>
                  <a:srgbClr val="0000FF"/>
                </a:solidFill>
                <a:latin typeface="Calibri"/>
                <a:cs typeface="Calibri"/>
              </a:rPr>
              <a:t>vjerojatnost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70">
                <a:solidFill>
                  <a:srgbClr val="0000FF"/>
                </a:solidFill>
                <a:latin typeface="Calibri"/>
                <a:cs typeface="Calibri"/>
              </a:rPr>
              <a:t>´cemo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5">
                <a:solidFill>
                  <a:srgbClr val="0000FF"/>
                </a:solidFill>
                <a:latin typeface="Calibri"/>
                <a:cs typeface="Calibri"/>
              </a:rPr>
              <a:t>za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0000FF"/>
                </a:solidFill>
                <a:latin typeface="Calibri"/>
                <a:cs typeface="Calibri"/>
              </a:rPr>
              <a:t>dva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razliˇcita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sjemena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30">
                <a:solidFill>
                  <a:srgbClr val="0000FF"/>
                </a:solidFill>
                <a:latin typeface="Calibri"/>
                <a:cs typeface="Calibri"/>
              </a:rPr>
              <a:t>dobiti</a:t>
            </a:r>
            <a:r>
              <a:rPr dirty="0" sz="1100" spc="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5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isti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niz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">
                <a:solidFill>
                  <a:srgbClr val="0000FF"/>
                </a:solidFill>
                <a:latin typeface="Calibri"/>
                <a:cs typeface="Calibri"/>
              </a:rPr>
              <a:t>od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100</a:t>
            </a:r>
            <a:r>
              <a:rPr dirty="0" sz="1100" spc="1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5">
                <a:solidFill>
                  <a:srgbClr val="0000FF"/>
                </a:solidFill>
                <a:latin typeface="Calibri"/>
                <a:cs typeface="Calibri"/>
              </a:rPr>
              <a:t>bajtova.</a:t>
            </a:r>
            <a:endParaRPr sz="1100">
              <a:latin typeface="Calibri"/>
              <a:cs typeface="Calibri"/>
            </a:endParaRPr>
          </a:p>
          <a:p>
            <a:pPr algn="just" lvl="2" marL="822960" marR="43180" indent="-207010">
              <a:lnSpc>
                <a:spcPct val="102600"/>
              </a:lnSpc>
              <a:spcBef>
                <a:spcPts val="180"/>
              </a:spcBef>
              <a:buAutoNum type="alphaUcPeriod"/>
              <a:tabLst>
                <a:tab pos="824230" algn="l"/>
              </a:tabLst>
            </a:pPr>
            <a:r>
              <a:rPr dirty="0" sz="1100" spc="60">
                <a:solidFill>
                  <a:srgbClr val="0000FF"/>
                </a:solidFill>
                <a:latin typeface="Calibri"/>
                <a:cs typeface="Calibri"/>
              </a:rPr>
              <a:t>Ako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imamo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podudaranje,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onda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znamo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je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1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1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70" i="1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tj.</a:t>
            </a:r>
            <a:r>
              <a:rPr dirty="0" sz="1100" spc="3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znamo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sjeme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21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45">
                <a:solidFill>
                  <a:srgbClr val="0000FF"/>
                </a:solidFill>
                <a:latin typeface="Calibri"/>
                <a:cs typeface="Calibri"/>
              </a:rPr>
              <a:t>moˇzemo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predvidjeti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sljede´ce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bajtove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od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100" spc="6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65">
                <a:solidFill>
                  <a:srgbClr val="0000FF"/>
                </a:solidFill>
                <a:latin typeface="Calibri"/>
                <a:cs typeface="Calibri"/>
              </a:rPr>
              <a:t>).</a:t>
            </a:r>
            <a:endParaRPr sz="1100">
              <a:latin typeface="Calibri"/>
              <a:cs typeface="Calibri"/>
            </a:endParaRPr>
          </a:p>
          <a:p>
            <a:pPr algn="just" lvl="1" marL="588645" indent="-184150">
              <a:lnSpc>
                <a:spcPct val="100000"/>
              </a:lnSpc>
              <a:spcBef>
                <a:spcPts val="215"/>
              </a:spcBef>
              <a:buAutoNum type="romanLcPeriod" startAt="2"/>
              <a:tabLst>
                <a:tab pos="588645" algn="l"/>
              </a:tabLst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Napad</a:t>
            </a:r>
            <a:r>
              <a:rPr dirty="0" sz="1100" spc="3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  <a:p>
            <a:pPr lvl="2" marL="824230" marR="43180" indent="-212090">
              <a:lnSpc>
                <a:spcPct val="102699"/>
              </a:lnSpc>
              <a:spcBef>
                <a:spcPts val="180"/>
              </a:spcBef>
              <a:buAutoNum type="alphaUcPeriod"/>
              <a:tabLst>
                <a:tab pos="824230" algn="l"/>
              </a:tabLst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Uzmemo</a:t>
            </a:r>
            <a:r>
              <a:rPr dirty="0" sz="1100" spc="1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neki</a:t>
            </a:r>
            <a:r>
              <a:rPr dirty="0" sz="1100" spc="1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prefiks</a:t>
            </a:r>
            <a:r>
              <a:rPr dirty="0" sz="1100" spc="1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45">
                <a:solidFill>
                  <a:srgbClr val="0000FF"/>
                </a:solidFill>
                <a:latin typeface="Calibri"/>
                <a:cs typeface="Calibri"/>
              </a:rPr>
              <a:t>duˇzi</a:t>
            </a:r>
            <a:r>
              <a:rPr dirty="0" sz="1100" spc="1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od</a:t>
            </a:r>
            <a:r>
              <a:rPr dirty="0" sz="1100" spc="1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baseline="27777" sz="1200">
                <a:solidFill>
                  <a:srgbClr val="0000FF"/>
                </a:solidFill>
                <a:latin typeface="Calibri"/>
                <a:cs typeface="Calibri"/>
              </a:rPr>
              <a:t>16</a:t>
            </a:r>
            <a:r>
              <a:rPr dirty="0" baseline="27777" sz="1200" spc="412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bajtova</a:t>
            </a:r>
            <a:r>
              <a:rPr dirty="0" sz="1100" spc="1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ispisanog</a:t>
            </a:r>
            <a:r>
              <a:rPr dirty="0" sz="1100" spc="1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niza</a:t>
            </a:r>
            <a:r>
              <a:rPr dirty="0" sz="1100" spc="1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od</a:t>
            </a:r>
            <a:r>
              <a:rPr dirty="0" sz="1100" spc="1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0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100" spc="10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10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10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r>
              <a:rPr dirty="0" sz="1100" spc="1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koji</a:t>
            </a:r>
            <a:r>
              <a:rPr dirty="0" sz="1100" spc="1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koristi</a:t>
            </a:r>
            <a:r>
              <a:rPr dirty="0" sz="1100" spc="1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nama</a:t>
            </a:r>
            <a:r>
              <a:rPr dirty="0" sz="1100" spc="1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nepoznato</a:t>
            </a:r>
            <a:r>
              <a:rPr dirty="0" sz="1100" spc="1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poˇcetno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stanje</a:t>
            </a:r>
            <a:r>
              <a:rPr dirty="0" sz="1100" spc="2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(sjeme)</a:t>
            </a:r>
            <a:r>
              <a:rPr dirty="0" sz="1100" spc="229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3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30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lvl="2" marL="822960" marR="43815" indent="-205104">
              <a:lnSpc>
                <a:spcPct val="102600"/>
              </a:lnSpc>
              <a:spcBef>
                <a:spcPts val="180"/>
              </a:spcBef>
              <a:buAutoNum type="alphaUcPeriod"/>
              <a:tabLst>
                <a:tab pos="824230" algn="l"/>
              </a:tabLst>
            </a:pP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obzirom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postoji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samo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baseline="27777" sz="1200">
                <a:solidFill>
                  <a:srgbClr val="0000FF"/>
                </a:solidFill>
                <a:latin typeface="Calibri"/>
                <a:cs typeface="Calibri"/>
              </a:rPr>
              <a:t>16</a:t>
            </a:r>
            <a:r>
              <a:rPr dirty="0" baseline="27777" sz="1200" spc="43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razliˇcitih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stanja,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ovo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0">
                <a:solidFill>
                  <a:srgbClr val="0000FF"/>
                </a:solidFill>
                <a:latin typeface="Calibri"/>
                <a:cs typeface="Calibri"/>
              </a:rPr>
              <a:t>znaˇci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postoji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jedno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stanje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koje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0000FF"/>
                </a:solidFill>
                <a:latin typeface="Calibri"/>
                <a:cs typeface="Calibri"/>
              </a:rPr>
              <a:t>´ce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se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sigurno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ponoviti</a:t>
            </a:r>
            <a:r>
              <a:rPr dirty="0" sz="1100" spc="2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(pigeonhole</a:t>
            </a:r>
            <a:r>
              <a:rPr dirty="0" sz="1100" spc="2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principle).</a:t>
            </a:r>
            <a:endParaRPr sz="1100">
              <a:latin typeface="Calibri"/>
              <a:cs typeface="Calibri"/>
            </a:endParaRPr>
          </a:p>
          <a:p>
            <a:pPr lvl="2" marL="822960" marR="43180" indent="-207010">
              <a:lnSpc>
                <a:spcPct val="102600"/>
              </a:lnSpc>
              <a:spcBef>
                <a:spcPts val="180"/>
              </a:spcBef>
              <a:buAutoNum type="alphaUcPeriod"/>
              <a:tabLst>
                <a:tab pos="824230" algn="l"/>
              </a:tabLst>
            </a:pP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Kad</a:t>
            </a:r>
            <a:r>
              <a:rPr dirty="0" sz="1100" spc="2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se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to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stanje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ponovi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onda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ce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se</a:t>
            </a:r>
            <a:r>
              <a:rPr dirty="0" sz="1100" spc="2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ispis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ponoviti.</a:t>
            </a:r>
            <a:r>
              <a:rPr dirty="0" sz="1100" spc="235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Napadac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tada</a:t>
            </a:r>
            <a:r>
              <a:rPr dirty="0" sz="1100" spc="2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moze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uoˇciti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uzorak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(ciklus)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 	predvidjeti</a:t>
            </a:r>
            <a:r>
              <a:rPr dirty="0" sz="1100" spc="2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ispis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bez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znanja</a:t>
            </a:r>
            <a:r>
              <a:rPr dirty="0" sz="1100" spc="2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Calibri"/>
                <a:cs typeface="Calibri"/>
              </a:rPr>
              <a:t>poˇcetnog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sjemena</a:t>
            </a:r>
            <a:r>
              <a:rPr dirty="0" sz="1100" spc="2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3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35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329565" indent="-253365">
              <a:lnSpc>
                <a:spcPct val="100000"/>
              </a:lnSpc>
              <a:spcBef>
                <a:spcPts val="575"/>
              </a:spcBef>
              <a:buAutoNum type="alphaLcParenBoth" startAt="2"/>
              <a:tabLst>
                <a:tab pos="329565" algn="l"/>
              </a:tabLst>
            </a:pPr>
            <a:r>
              <a:rPr dirty="0" sz="1100">
                <a:latin typeface="Calibri"/>
                <a:cs typeface="Calibri"/>
              </a:rPr>
              <a:t>(2)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Pretpostavimo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koristimo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spc="150" i="1">
                <a:latin typeface="Calibri"/>
                <a:cs typeface="Calibri"/>
              </a:rPr>
              <a:t>G</a:t>
            </a:r>
            <a:r>
              <a:rPr dirty="0" sz="1100" spc="22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protoˇcnoj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enkripciji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 spc="170" i="1">
                <a:latin typeface="Calibri"/>
                <a:cs typeface="Calibri"/>
              </a:rPr>
              <a:t>E</a:t>
            </a:r>
            <a:r>
              <a:rPr dirty="0" sz="1100" spc="170">
                <a:latin typeface="Calibri"/>
                <a:cs typeface="Calibri"/>
              </a:rPr>
              <a:t>,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detaljno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 spc="-35">
                <a:latin typeface="Calibri"/>
                <a:cs typeface="Calibri"/>
              </a:rPr>
              <a:t>opiˇsite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jedan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napad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koji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pokazuje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 spc="210" i="1">
                <a:latin typeface="Calibri"/>
                <a:cs typeface="Calibri"/>
              </a:rPr>
              <a:t>E</a:t>
            </a:r>
            <a:endParaRPr sz="1100">
              <a:latin typeface="Calibri"/>
              <a:cs typeface="Calibri"/>
            </a:endParaRPr>
          </a:p>
          <a:p>
            <a:pPr marL="3302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Calibri"/>
                <a:cs typeface="Calibri"/>
              </a:rPr>
              <a:t>nije</a:t>
            </a:r>
            <a:r>
              <a:rPr dirty="0" sz="1100" spc="2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sigurna</a:t>
            </a:r>
            <a:r>
              <a:rPr dirty="0" sz="1100" spc="254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enkripcija.</a:t>
            </a:r>
            <a:endParaRPr sz="1100">
              <a:latin typeface="Calibri"/>
              <a:cs typeface="Calibri"/>
            </a:endParaRPr>
          </a:p>
          <a:p>
            <a:pPr marL="330200">
              <a:lnSpc>
                <a:spcPct val="100000"/>
              </a:lnSpc>
              <a:spcBef>
                <a:spcPts val="35"/>
              </a:spcBef>
            </a:pPr>
            <a:r>
              <a:rPr dirty="0" sz="1100" spc="-10" i="1">
                <a:latin typeface="Calibri"/>
                <a:cs typeface="Calibri"/>
              </a:rPr>
              <a:t>Rjeˇsenje:</a:t>
            </a:r>
            <a:endParaRPr sz="1100">
              <a:latin typeface="Calibri"/>
              <a:cs typeface="Calibri"/>
            </a:endParaRPr>
          </a:p>
          <a:p>
            <a:pPr marL="330200">
              <a:lnSpc>
                <a:spcPct val="100000"/>
              </a:lnSpc>
              <a:spcBef>
                <a:spcPts val="35"/>
              </a:spcBef>
            </a:pPr>
            <a:r>
              <a:rPr dirty="0" sz="1100" spc="260" i="1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dirty="0" sz="1100" spc="29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nije</a:t>
            </a:r>
            <a:r>
              <a:rPr dirty="0" sz="1100" spc="2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sigurna</a:t>
            </a:r>
            <a:r>
              <a:rPr dirty="0" sz="1100" spc="2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enkripcija.</a:t>
            </a:r>
            <a:r>
              <a:rPr dirty="0" sz="1100" spc="3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Napadaˇc</a:t>
            </a:r>
            <a:r>
              <a:rPr dirty="0" sz="1100" spc="2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0000FF"/>
                </a:solidFill>
                <a:latin typeface="Calibri"/>
                <a:cs typeface="Calibri"/>
              </a:rPr>
              <a:t>moˇze</a:t>
            </a:r>
            <a:r>
              <a:rPr dirty="0" sz="1100" spc="2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napraviti</a:t>
            </a:r>
            <a:r>
              <a:rPr dirty="0" sz="1100" spc="2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sljede´ce.</a:t>
            </a:r>
            <a:endParaRPr sz="1100">
              <a:latin typeface="Calibri"/>
              <a:cs typeface="Calibri"/>
            </a:endParaRPr>
          </a:p>
          <a:p>
            <a:pPr algn="just" lvl="1" marL="587375" marR="43180" indent="-145415">
              <a:lnSpc>
                <a:spcPct val="102600"/>
              </a:lnSpc>
              <a:spcBef>
                <a:spcPts val="365"/>
              </a:spcBef>
              <a:buAutoNum type="romanLcPeriod"/>
              <a:tabLst>
                <a:tab pos="588645" algn="l"/>
              </a:tabLst>
            </a:pPr>
            <a:r>
              <a:rPr dirty="0" sz="1100" spc="60">
                <a:solidFill>
                  <a:srgbClr val="0000FF"/>
                </a:solidFill>
                <a:latin typeface="Calibri"/>
                <a:cs typeface="Calibri"/>
              </a:rPr>
              <a:t>Ako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napadaˇc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sazna</a:t>
            </a:r>
            <a:r>
              <a:rPr dirty="0" sz="1100" spc="2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prefiks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poruke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7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100" spc="20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is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skriveni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tekst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70" i="1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dirty="0" sz="1100" spc="170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napadaˇc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65">
                <a:solidFill>
                  <a:srgbClr val="0000FF"/>
                </a:solidFill>
                <a:latin typeface="Calibri"/>
                <a:cs typeface="Calibri"/>
              </a:rPr>
              <a:t>moˇze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dobiti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45">
                <a:solidFill>
                  <a:srgbClr val="0000FF"/>
                </a:solidFill>
                <a:latin typeface="Arial MT"/>
                <a:cs typeface="Arial MT"/>
              </a:rPr>
              <a:t>pref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45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4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))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Arial MT"/>
                <a:cs typeface="Arial MT"/>
              </a:rPr>
              <a:t>pref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0000FF"/>
                </a:solidFill>
                <a:latin typeface="Lucida Sans Unicode"/>
                <a:cs typeface="Lucida Sans Unicode"/>
              </a:rPr>
              <a:t>⊕ </a:t>
            </a:r>
            <a:r>
              <a:rPr dirty="0" sz="1100" spc="-50">
                <a:solidFill>
                  <a:srgbClr val="0000FF"/>
                </a:solidFill>
                <a:latin typeface="Lucida Sans Unicode"/>
                <a:cs typeface="Lucida Sans Unicode"/>
              </a:rPr>
              <a:t>	</a:t>
            </a:r>
            <a:r>
              <a:rPr dirty="0" sz="1100" spc="45">
                <a:solidFill>
                  <a:srgbClr val="0000FF"/>
                </a:solidFill>
                <a:latin typeface="Arial MT"/>
                <a:cs typeface="Arial MT"/>
              </a:rPr>
              <a:t>pref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45" i="1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45" i="1">
                <a:solidFill>
                  <a:srgbClr val="0000FF"/>
                </a:solidFill>
                <a:latin typeface="Calibri"/>
                <a:cs typeface="Calibri"/>
              </a:rPr>
              <a:t>m,</a:t>
            </a:r>
            <a:r>
              <a:rPr dirty="0" sz="1100" spc="-2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7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70">
                <a:solidFill>
                  <a:srgbClr val="0000FF"/>
                </a:solidFill>
                <a:latin typeface="Calibri"/>
                <a:cs typeface="Calibri"/>
              </a:rPr>
              <a:t>)).</a:t>
            </a:r>
            <a:r>
              <a:rPr dirty="0" sz="1100" spc="3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Ovdje</a:t>
            </a:r>
            <a:r>
              <a:rPr dirty="0" sz="1100" spc="2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takoder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0000FF"/>
                </a:solidFill>
                <a:latin typeface="Calibri"/>
                <a:cs typeface="Calibri"/>
              </a:rPr>
              <a:t>moˇzemo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pretpostaviti</a:t>
            </a:r>
            <a:r>
              <a:rPr dirty="0" sz="1100" spc="2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napadaˇc</a:t>
            </a:r>
            <a:r>
              <a:rPr dirty="0" sz="1100" spc="2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iskoristi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chosen-plaintext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model</a:t>
            </a:r>
            <a:r>
              <a:rPr dirty="0" sz="1100" spc="2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napada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sazna</a:t>
            </a:r>
            <a:r>
              <a:rPr dirty="0" sz="1100" spc="2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do</a:t>
            </a:r>
            <a:r>
              <a:rPr dirty="0" sz="1100" spc="2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sada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ispisani</a:t>
            </a:r>
            <a:r>
              <a:rPr dirty="0" sz="1100" spc="2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100" spc="6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65">
                <a:solidFill>
                  <a:srgbClr val="0000FF"/>
                </a:solidFill>
                <a:latin typeface="Calibri"/>
                <a:cs typeface="Calibri"/>
              </a:rPr>
              <a:t>).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1212" rIns="0" bIns="0" rtlCol="0" vert="horz">
            <a:spAutoFit/>
          </a:bodyPr>
          <a:lstStyle/>
          <a:p>
            <a:pPr marL="38100">
              <a:lnSpc>
                <a:spcPts val="1140"/>
              </a:lnSpc>
            </a:pPr>
            <a:fld id="{81D60167-4931-47E6-BA6A-407CBD079E47}" type="slidenum">
              <a:rPr dirty="0" sz="1100" spc="-50">
                <a:latin typeface="Calibri"/>
                <a:cs typeface="Calibri"/>
              </a:rPr>
              <a:t>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13090" y="709841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96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18261" y="262254"/>
            <a:ext cx="7131050" cy="270002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765810" marR="43180" indent="-184785">
              <a:lnSpc>
                <a:spcPct val="102600"/>
              </a:lnSpc>
              <a:spcBef>
                <a:spcPts val="55"/>
              </a:spcBef>
              <a:buAutoNum type="romanLcPeriod" startAt="2"/>
              <a:tabLst>
                <a:tab pos="765810" algn="l"/>
              </a:tabLst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Sada</a:t>
            </a:r>
            <a:r>
              <a:rPr dirty="0" sz="1100" spc="2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kada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napadaˇc</a:t>
            </a:r>
            <a:r>
              <a:rPr dirty="0" sz="1100" spc="2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zna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(prefiks</a:t>
            </a:r>
            <a:r>
              <a:rPr dirty="0" sz="1100" spc="2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od)</a:t>
            </a:r>
            <a:r>
              <a:rPr dirty="0" sz="1100" spc="2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85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100" spc="8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8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85">
                <a:solidFill>
                  <a:srgbClr val="0000FF"/>
                </a:solidFill>
                <a:latin typeface="Calibri"/>
                <a:cs typeface="Calibri"/>
              </a:rPr>
              <a:t>),</a:t>
            </a:r>
            <a:r>
              <a:rPr dirty="0" sz="1100" spc="2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gornjim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postupkom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70">
                <a:solidFill>
                  <a:srgbClr val="0000FF"/>
                </a:solidFill>
                <a:latin typeface="Calibri"/>
                <a:cs typeface="Calibri"/>
              </a:rPr>
              <a:t>moˇze</a:t>
            </a:r>
            <a:r>
              <a:rPr dirty="0" sz="1100" spc="2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saznati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40">
                <a:solidFill>
                  <a:srgbClr val="0000FF"/>
                </a:solidFill>
                <a:latin typeface="Calibri"/>
                <a:cs typeface="Calibri"/>
              </a:rPr>
              <a:t>poˇcetno</a:t>
            </a:r>
            <a:r>
              <a:rPr dirty="0" sz="1100" spc="2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stanje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(sjeme)</a:t>
            </a:r>
            <a:r>
              <a:rPr dirty="0" sz="1100" spc="2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28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i predvidjeti</a:t>
            </a:r>
            <a:r>
              <a:rPr dirty="0" sz="1100" spc="4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75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100" spc="7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7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75">
                <a:solidFill>
                  <a:srgbClr val="0000FF"/>
                </a:solidFill>
                <a:latin typeface="Calibri"/>
                <a:cs typeface="Calibri"/>
              </a:rPr>
              <a:t>).</a:t>
            </a:r>
            <a:endParaRPr sz="1100">
              <a:latin typeface="Calibri"/>
              <a:cs typeface="Calibri"/>
            </a:endParaRPr>
          </a:p>
          <a:p>
            <a:pPr marL="765175" indent="-222250">
              <a:lnSpc>
                <a:spcPct val="100000"/>
              </a:lnSpc>
              <a:spcBef>
                <a:spcPts val="235"/>
              </a:spcBef>
              <a:buAutoNum type="romanLcPeriod" startAt="2"/>
              <a:tabLst>
                <a:tab pos="765175" algn="l"/>
              </a:tabLst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Predvidanjem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00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100" spc="10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10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100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0">
                <a:solidFill>
                  <a:srgbClr val="0000FF"/>
                </a:solidFill>
                <a:latin typeface="Calibri"/>
                <a:cs typeface="Calibri"/>
              </a:rPr>
              <a:t>napadaˇc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75">
                <a:solidFill>
                  <a:srgbClr val="0000FF"/>
                </a:solidFill>
                <a:latin typeface="Calibri"/>
                <a:cs typeface="Calibri"/>
              </a:rPr>
              <a:t>moˇze</a:t>
            </a:r>
            <a:r>
              <a:rPr dirty="0" sz="1100" spc="2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dekriptirati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Calibri"/>
                <a:cs typeface="Calibri"/>
              </a:rPr>
              <a:t>sljede´ce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bajtove</a:t>
            </a:r>
            <a:r>
              <a:rPr dirty="0" sz="1100" spc="2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poruke</a:t>
            </a:r>
            <a:r>
              <a:rPr dirty="0" sz="1100" spc="2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100" spc="25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Calibri"/>
              <a:cs typeface="Calibri"/>
            </a:endParaRPr>
          </a:p>
          <a:p>
            <a:pPr marL="201930" indent="-176530">
              <a:lnSpc>
                <a:spcPct val="100000"/>
              </a:lnSpc>
              <a:buAutoNum type="arabicPeriod" startAt="6"/>
              <a:tabLst>
                <a:tab pos="201930" algn="l"/>
              </a:tabLst>
            </a:pPr>
            <a:r>
              <a:rPr dirty="0" sz="1100">
                <a:latin typeface="Calibri"/>
                <a:cs typeface="Calibri"/>
              </a:rPr>
              <a:t>(8)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Asimetriˇcni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kriptosustavi.</a:t>
            </a:r>
            <a:endParaRPr sz="1100">
              <a:latin typeface="Calibri"/>
              <a:cs typeface="Calibri"/>
            </a:endParaRPr>
          </a:p>
          <a:p>
            <a:pPr lvl="1" marL="506730" marR="43180" indent="-246379">
              <a:lnSpc>
                <a:spcPct val="102600"/>
              </a:lnSpc>
              <a:spcBef>
                <a:spcPts val="900"/>
              </a:spcBef>
              <a:buAutoNum type="alphaLcParenBoth"/>
              <a:tabLst>
                <a:tab pos="506730" algn="l"/>
              </a:tabLst>
            </a:pPr>
            <a:r>
              <a:rPr dirty="0" sz="1100">
                <a:latin typeface="Calibri"/>
                <a:cs typeface="Calibri"/>
              </a:rPr>
              <a:t>Pretpostavimo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 spc="-45">
                <a:latin typeface="Calibri"/>
                <a:cs typeface="Calibri"/>
              </a:rPr>
              <a:t>rijeˇc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kriptosustavu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 spc="160">
                <a:latin typeface="Calibri"/>
                <a:cs typeface="Calibri"/>
              </a:rPr>
              <a:t>RSA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(bez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nadopunjavanja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saˇzetka)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javnim</a:t>
            </a:r>
            <a:r>
              <a:rPr dirty="0" sz="1100" spc="18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kljuˇcem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pk</a:t>
            </a:r>
            <a:r>
              <a:rPr dirty="0" sz="1100" spc="165" i="1">
                <a:latin typeface="Calibri"/>
                <a:cs typeface="Calibri"/>
              </a:rPr>
              <a:t> </a:t>
            </a:r>
            <a:r>
              <a:rPr dirty="0" sz="1100" spc="295">
                <a:latin typeface="Calibri"/>
                <a:cs typeface="Calibri"/>
              </a:rPr>
              <a:t>=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(3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30" i="1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55)</a:t>
            </a:r>
            <a:r>
              <a:rPr dirty="0" sz="1100" spc="500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privatnim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kljuˇcem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 spc="70" i="1">
                <a:latin typeface="Calibri"/>
                <a:cs typeface="Calibri"/>
              </a:rPr>
              <a:t>sk</a:t>
            </a:r>
            <a:r>
              <a:rPr dirty="0" sz="1100" spc="140" i="1">
                <a:latin typeface="Calibri"/>
                <a:cs typeface="Calibri"/>
              </a:rPr>
              <a:t> </a:t>
            </a:r>
            <a:r>
              <a:rPr dirty="0" sz="1100" spc="295">
                <a:latin typeface="Calibri"/>
                <a:cs typeface="Calibri"/>
              </a:rPr>
              <a:t>=</a:t>
            </a:r>
            <a:r>
              <a:rPr dirty="0" sz="1100" spc="1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(27</a:t>
            </a:r>
            <a:r>
              <a:rPr dirty="0" sz="1100" i="1">
                <a:latin typeface="Calibri"/>
                <a:cs typeface="Calibri"/>
              </a:rPr>
              <a:t>,</a:t>
            </a:r>
            <a:r>
              <a:rPr dirty="0" sz="1100" spc="-45" i="1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55).</a:t>
            </a:r>
            <a:endParaRPr sz="1100">
              <a:latin typeface="Calibri"/>
              <a:cs typeface="Calibri"/>
            </a:endParaRPr>
          </a:p>
          <a:p>
            <a:pPr lvl="2" marL="765175" indent="-145415">
              <a:lnSpc>
                <a:spcPct val="100000"/>
              </a:lnSpc>
              <a:spcBef>
                <a:spcPts val="430"/>
              </a:spcBef>
              <a:buAutoNum type="romanLcPeriod"/>
              <a:tabLst>
                <a:tab pos="765175" algn="l"/>
              </a:tabLst>
            </a:pPr>
            <a:r>
              <a:rPr dirty="0" sz="1100">
                <a:latin typeface="Calibri"/>
                <a:cs typeface="Calibri"/>
              </a:rPr>
              <a:t>(1)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80" i="1">
                <a:latin typeface="Calibri"/>
                <a:cs typeface="Calibri"/>
              </a:rPr>
              <a:t>ϕ</a:t>
            </a:r>
            <a:r>
              <a:rPr dirty="0" sz="1100" spc="80">
                <a:latin typeface="Calibri"/>
                <a:cs typeface="Calibri"/>
              </a:rPr>
              <a:t>(</a:t>
            </a:r>
            <a:r>
              <a:rPr dirty="0" sz="1100" spc="80" i="1">
                <a:latin typeface="Calibri"/>
                <a:cs typeface="Calibri"/>
              </a:rPr>
              <a:t>N</a:t>
            </a:r>
            <a:r>
              <a:rPr dirty="0" sz="1100" spc="-114" i="1">
                <a:latin typeface="Calibri"/>
                <a:cs typeface="Calibri"/>
              </a:rPr>
              <a:t> </a:t>
            </a:r>
            <a:r>
              <a:rPr dirty="0" sz="1100" spc="80">
                <a:latin typeface="Calibri"/>
                <a:cs typeface="Calibri"/>
              </a:rPr>
              <a:t>)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 spc="295">
                <a:latin typeface="Calibri"/>
                <a:cs typeface="Calibri"/>
              </a:rPr>
              <a:t>=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ϕ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(55)</a:t>
            </a:r>
            <a:r>
              <a:rPr dirty="0" sz="1100" spc="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ϕ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(5</a:t>
            </a:r>
            <a:r>
              <a:rPr dirty="0" sz="1100" spc="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35">
                <a:solidFill>
                  <a:srgbClr val="0000FF"/>
                </a:solidFill>
                <a:latin typeface="Lucida Sans Unicode"/>
                <a:cs typeface="Lucida Sans Unicode"/>
              </a:rPr>
              <a:t>∗</a:t>
            </a:r>
            <a:r>
              <a:rPr dirty="0" sz="1100" spc="-8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11)</a:t>
            </a:r>
            <a:r>
              <a:rPr dirty="0" sz="1100" spc="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(5</a:t>
            </a:r>
            <a:r>
              <a:rPr dirty="0" sz="1100" spc="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dirty="0" sz="1100" spc="-7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1)</a:t>
            </a:r>
            <a:r>
              <a:rPr dirty="0" sz="1100" spc="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35">
                <a:solidFill>
                  <a:srgbClr val="0000FF"/>
                </a:solidFill>
                <a:latin typeface="Lucida Sans Unicode"/>
                <a:cs typeface="Lucida Sans Unicode"/>
              </a:rPr>
              <a:t>∗</a:t>
            </a:r>
            <a:r>
              <a:rPr dirty="0" sz="1100" spc="-8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(11</a:t>
            </a:r>
            <a:r>
              <a:rPr dirty="0" sz="1100" spc="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dirty="0" sz="1100" spc="-7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1)</a:t>
            </a:r>
            <a:r>
              <a:rPr dirty="0" sz="1100" spc="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40.</a:t>
            </a:r>
            <a:endParaRPr sz="1100">
              <a:latin typeface="Calibri"/>
              <a:cs typeface="Calibri"/>
            </a:endParaRPr>
          </a:p>
          <a:p>
            <a:pPr lvl="2" marL="765810" marR="2363470" indent="-184785">
              <a:lnSpc>
                <a:spcPct val="102600"/>
              </a:lnSpc>
              <a:spcBef>
                <a:spcPts val="200"/>
              </a:spcBef>
              <a:buAutoNum type="romanLcPeriod"/>
              <a:tabLst>
                <a:tab pos="765810" algn="l"/>
              </a:tabLst>
            </a:pPr>
            <a:r>
              <a:rPr dirty="0" sz="1100">
                <a:latin typeface="Calibri"/>
                <a:cs typeface="Calibri"/>
              </a:rPr>
              <a:t>(1)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Pokaˇzite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par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70">
                <a:latin typeface="Calibri"/>
                <a:cs typeface="Calibri"/>
              </a:rPr>
              <a:t>(</a:t>
            </a:r>
            <a:r>
              <a:rPr dirty="0" sz="1100" spc="70" i="1">
                <a:latin typeface="Calibri"/>
                <a:cs typeface="Calibri"/>
              </a:rPr>
              <a:t>sk,</a:t>
            </a:r>
            <a:r>
              <a:rPr dirty="0" sz="1100" spc="-45" i="1">
                <a:latin typeface="Calibri"/>
                <a:cs typeface="Calibri"/>
              </a:rPr>
              <a:t> </a:t>
            </a:r>
            <a:r>
              <a:rPr dirty="0" sz="1100" spc="55" i="1">
                <a:latin typeface="Calibri"/>
                <a:cs typeface="Calibri"/>
              </a:rPr>
              <a:t>pk</a:t>
            </a:r>
            <a:r>
              <a:rPr dirty="0" sz="1100" spc="55">
                <a:latin typeface="Calibri"/>
                <a:cs typeface="Calibri"/>
              </a:rPr>
              <a:t>)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javnog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privatnog</a:t>
            </a:r>
            <a:r>
              <a:rPr dirty="0" sz="1100" spc="15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kljuˇca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korektan.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r>
              <a:rPr dirty="0" sz="1100" spc="-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35">
                <a:solidFill>
                  <a:srgbClr val="0000FF"/>
                </a:solidFill>
                <a:latin typeface="Lucida Sans Unicode"/>
                <a:cs typeface="Lucida Sans Unicode"/>
              </a:rPr>
              <a:t>∗</a:t>
            </a:r>
            <a:r>
              <a:rPr dirty="0" sz="1100" spc="-11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27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81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dirty="0" sz="1100" spc="-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sz="1100" spc="-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35">
                <a:solidFill>
                  <a:srgbClr val="0000FF"/>
                </a:solidFill>
                <a:latin typeface="Lucida Sans Unicode"/>
                <a:cs typeface="Lucida Sans Unicode"/>
              </a:rPr>
              <a:t>∗</a:t>
            </a:r>
            <a:r>
              <a:rPr dirty="0" sz="1100" spc="-11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40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dirty="0" sz="1100" spc="4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mod</a:t>
            </a:r>
            <a:r>
              <a:rPr dirty="0" sz="1100" spc="1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80" i="1">
                <a:solidFill>
                  <a:srgbClr val="0000FF"/>
                </a:solidFill>
                <a:latin typeface="Calibri"/>
                <a:cs typeface="Calibri"/>
              </a:rPr>
              <a:t>ϕ</a:t>
            </a:r>
            <a:r>
              <a:rPr dirty="0" sz="1100" spc="8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8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1100" spc="-13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30">
                <a:solidFill>
                  <a:srgbClr val="0000FF"/>
                </a:solidFill>
                <a:latin typeface="Calibri"/>
                <a:cs typeface="Calibri"/>
              </a:rPr>
              <a:t>).</a:t>
            </a:r>
            <a:endParaRPr sz="1100">
              <a:latin typeface="Calibri"/>
              <a:cs typeface="Calibri"/>
            </a:endParaRPr>
          </a:p>
          <a:p>
            <a:pPr lvl="2" marL="765175" indent="-222250">
              <a:lnSpc>
                <a:spcPct val="100000"/>
              </a:lnSpc>
              <a:spcBef>
                <a:spcPts val="235"/>
              </a:spcBef>
              <a:buAutoNum type="romanLcPeriod"/>
              <a:tabLst>
                <a:tab pos="765175" algn="l"/>
              </a:tabLst>
            </a:pPr>
            <a:r>
              <a:rPr dirty="0" sz="1100">
                <a:latin typeface="Calibri"/>
                <a:cs typeface="Calibri"/>
              </a:rPr>
              <a:t>(1)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Odredite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enkripciju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poruke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 spc="45">
                <a:latin typeface="Calibri"/>
                <a:cs typeface="Calibri"/>
              </a:rPr>
              <a:t>(broja)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2.</a:t>
            </a:r>
            <a:r>
              <a:rPr dirty="0" sz="1100" spc="315"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baseline="27777" sz="1200">
                <a:solidFill>
                  <a:srgbClr val="0000FF"/>
                </a:solidFill>
                <a:latin typeface="Calibri"/>
                <a:cs typeface="Calibri"/>
              </a:rPr>
              <a:t>3</a:t>
            </a:r>
            <a:r>
              <a:rPr dirty="0" baseline="27777" sz="1200" spc="337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8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mod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55</a:t>
            </a:r>
            <a:r>
              <a:rPr dirty="0" sz="1100" spc="1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10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8.</a:t>
            </a:r>
            <a:endParaRPr sz="1100">
              <a:latin typeface="Calibri"/>
              <a:cs typeface="Calibri"/>
            </a:endParaRPr>
          </a:p>
          <a:p>
            <a:pPr lvl="2" marL="764540" marR="43815" indent="-218440">
              <a:lnSpc>
                <a:spcPct val="102699"/>
              </a:lnSpc>
              <a:spcBef>
                <a:spcPts val="200"/>
              </a:spcBef>
              <a:buAutoNum type="romanLcPeriod"/>
              <a:tabLst>
                <a:tab pos="765810" algn="l"/>
              </a:tabLst>
            </a:pPr>
            <a:r>
              <a:rPr dirty="0" sz="1100">
                <a:latin typeface="Calibri"/>
                <a:cs typeface="Calibri"/>
              </a:rPr>
              <a:t>(2)</a:t>
            </a:r>
            <a:r>
              <a:rPr dirty="0" sz="1100" spc="3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Odredite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dekripciju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poruke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 spc="45">
                <a:latin typeface="Calibri"/>
                <a:cs typeface="Calibri"/>
              </a:rPr>
              <a:t>(broja)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5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koriste´ci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algoritam</a:t>
            </a:r>
            <a:r>
              <a:rPr dirty="0" sz="1100" spc="3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uzastopnog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kvadriranja.</a:t>
            </a:r>
            <a:r>
              <a:rPr dirty="0" sz="1100" spc="170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Obavezno</a:t>
            </a:r>
            <a:r>
              <a:rPr dirty="0" sz="1100" spc="30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navesti 	postupak.</a:t>
            </a:r>
            <a:endParaRPr sz="1100">
              <a:latin typeface="Calibri"/>
              <a:cs typeface="Calibri"/>
            </a:endParaRPr>
          </a:p>
          <a:p>
            <a:pPr marL="765810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Calibri"/>
                <a:cs typeface="Calibri"/>
              </a:rPr>
              <a:t>Rjeˇsenje:</a:t>
            </a:r>
            <a:r>
              <a:rPr dirty="0" sz="1100" spc="254" i="1"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27</a:t>
            </a:r>
            <a:r>
              <a:rPr dirty="0" sz="1100" spc="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16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dirty="0" sz="1100" spc="-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8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dirty="0" sz="1100" spc="-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+</a:t>
            </a:r>
            <a:r>
              <a:rPr dirty="0" sz="1100" spc="-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1</a:t>
            </a:r>
            <a:r>
              <a:rPr dirty="0" sz="1100" spc="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95">
                <a:solidFill>
                  <a:srgbClr val="0000FF"/>
                </a:solidFill>
                <a:latin typeface="Calibri"/>
                <a:cs typeface="Calibri"/>
              </a:rPr>
              <a:t>=</a:t>
            </a:r>
            <a:r>
              <a:rPr dirty="0" sz="1100" spc="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(11011)</a:t>
            </a:r>
            <a:r>
              <a:rPr dirty="0" baseline="-10416" sz="1200" spc="-15">
                <a:solidFill>
                  <a:srgbClr val="0000FF"/>
                </a:solidFill>
                <a:latin typeface="Calibri"/>
                <a:cs typeface="Calibri"/>
              </a:rPr>
              <a:t>2</a:t>
            </a:r>
            <a:endParaRPr baseline="-10416" sz="12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606812" y="3124253"/>
          <a:ext cx="1545590" cy="481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735"/>
                <a:gridCol w="195580"/>
                <a:gridCol w="264795"/>
                <a:gridCol w="195579"/>
                <a:gridCol w="264795"/>
                <a:gridCol w="254000"/>
              </a:tblGrid>
              <a:tr h="154940">
                <a:tc>
                  <a:txBody>
                    <a:bodyPr/>
                    <a:lstStyle/>
                    <a:p>
                      <a:pPr marL="31750">
                        <a:lnSpc>
                          <a:spcPts val="1040"/>
                        </a:lnSpc>
                      </a:pPr>
                      <a:r>
                        <a:rPr dirty="0" sz="1100" spc="75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0"/>
                        </a:lnSpc>
                      </a:pPr>
                      <a:r>
                        <a:rPr dirty="0" sz="1100" spc="-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0"/>
                        </a:lnSpc>
                      </a:pPr>
                      <a:r>
                        <a:rPr dirty="0" sz="1100" spc="-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0"/>
                        </a:lnSpc>
                      </a:pPr>
                      <a:r>
                        <a:rPr dirty="0" sz="1100" spc="-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0"/>
                        </a:lnSpc>
                      </a:pPr>
                      <a:r>
                        <a:rPr dirty="0" sz="1100" spc="-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040"/>
                        </a:lnSpc>
                      </a:pPr>
                      <a:r>
                        <a:rPr dirty="0" sz="1100" spc="-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ts val="1170"/>
                        </a:lnSpc>
                      </a:pPr>
                      <a:r>
                        <a:rPr dirty="0" sz="1100" spc="-20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-2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[</a:t>
                      </a:r>
                      <a:r>
                        <a:rPr dirty="0" sz="1100" spc="-20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100" spc="-2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]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dirty="0" sz="1100" spc="-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dirty="0" sz="1100" spc="-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dirty="0" sz="1100" spc="-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dirty="0" sz="1100" spc="-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170"/>
                        </a:lnSpc>
                      </a:pPr>
                      <a:r>
                        <a:rPr dirty="0" sz="1100" spc="-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154940">
                <a:tc>
                  <a:txBody>
                    <a:bodyPr/>
                    <a:lstStyle/>
                    <a:p>
                      <a:pPr marL="31750">
                        <a:lnSpc>
                          <a:spcPts val="1125"/>
                        </a:lnSpc>
                      </a:pPr>
                      <a:r>
                        <a:rPr dirty="0" sz="1100" spc="-50" i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5"/>
                        </a:lnSpc>
                      </a:pPr>
                      <a:r>
                        <a:rPr dirty="0" sz="1100" spc="-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5"/>
                        </a:lnSpc>
                      </a:pPr>
                      <a:r>
                        <a:rPr dirty="0" sz="1100" spc="-2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5"/>
                        </a:lnSpc>
                      </a:pPr>
                      <a:r>
                        <a:rPr dirty="0" sz="1100" spc="-50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5"/>
                        </a:lnSpc>
                      </a:pPr>
                      <a:r>
                        <a:rPr dirty="0" sz="1100" spc="-25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125"/>
                        </a:lnSpc>
                      </a:pPr>
                      <a:r>
                        <a:rPr dirty="0" sz="1100" spc="35" b="1">
                          <a:solidFill>
                            <a:srgbClr val="0000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2160193" y="6784543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55532" y="6784543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244465" y="6784543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439816" y="6784543"/>
            <a:ext cx="41910" cy="0"/>
          </a:xfrm>
          <a:custGeom>
            <a:avLst/>
            <a:gdLst/>
            <a:ahLst/>
            <a:cxnLst/>
            <a:rect l="l" t="t" r="r" b="b"/>
            <a:pathLst>
              <a:path w="41910" h="0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33387" y="3847197"/>
            <a:ext cx="6903084" cy="490347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292100" marR="30480" indent="-254000">
              <a:lnSpc>
                <a:spcPct val="102600"/>
              </a:lnSpc>
              <a:spcBef>
                <a:spcPts val="55"/>
              </a:spcBef>
              <a:buAutoNum type="alphaLcParenBoth" startAt="2"/>
              <a:tabLst>
                <a:tab pos="292100" algn="l"/>
              </a:tabLst>
            </a:pPr>
            <a:r>
              <a:rPr dirty="0" sz="1100">
                <a:latin typeface="Calibri"/>
                <a:cs typeface="Calibri"/>
              </a:rPr>
              <a:t>(1)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spc="50" b="1">
                <a:latin typeface="Calibri"/>
                <a:cs typeface="Calibri"/>
              </a:rPr>
              <a:t>Zaokruˇzite</a:t>
            </a:r>
            <a:r>
              <a:rPr dirty="0" sz="1100" spc="229" b="1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sljede´ce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probleme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za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koje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smatramo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ih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nije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mogu´ce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rijeˇsiti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</a:t>
            </a:r>
            <a:r>
              <a:rPr dirty="0" sz="1100" spc="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razumnom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vremenu,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spc="-40">
                <a:latin typeface="Calibri"/>
                <a:cs typeface="Calibri"/>
              </a:rPr>
              <a:t>ˇcak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ako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raspolaganju</a:t>
            </a:r>
            <a:r>
              <a:rPr dirty="0" sz="1100" spc="2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imamo</a:t>
            </a:r>
            <a:r>
              <a:rPr dirty="0" sz="1100" spc="2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jako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velike</a:t>
            </a:r>
            <a:r>
              <a:rPr dirty="0" sz="1100" spc="2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raˇcunalne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resurse.</a:t>
            </a:r>
            <a:r>
              <a:rPr dirty="0" sz="1100" spc="145">
                <a:latin typeface="Calibri"/>
                <a:cs typeface="Calibri"/>
              </a:rPr>
              <a:t>  </a:t>
            </a:r>
            <a:r>
              <a:rPr dirty="0" sz="1100" spc="110">
                <a:latin typeface="Calibri"/>
                <a:cs typeface="Calibri"/>
              </a:rPr>
              <a:t>U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svakom</a:t>
            </a:r>
            <a:r>
              <a:rPr dirty="0" sz="1100" spc="2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od</a:t>
            </a:r>
            <a:r>
              <a:rPr dirty="0" sz="1100" spc="2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problema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pretpostavljamo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240">
                <a:latin typeface="Calibri"/>
                <a:cs typeface="Calibri"/>
              </a:rPr>
              <a:t> </a:t>
            </a:r>
            <a:r>
              <a:rPr dirty="0" sz="1100" spc="-35">
                <a:latin typeface="Calibri"/>
                <a:cs typeface="Calibri"/>
              </a:rPr>
              <a:t>su </a:t>
            </a:r>
            <a:r>
              <a:rPr dirty="0" sz="1100">
                <a:latin typeface="Calibri"/>
                <a:cs typeface="Calibri"/>
              </a:rPr>
              <a:t>zadani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brojevi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proizvoljni,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 spc="-30">
                <a:latin typeface="Calibri"/>
                <a:cs typeface="Calibri"/>
              </a:rPr>
              <a:t>veliˇcine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2048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bitova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nisu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poznate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nikakve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druge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informacije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</a:t>
            </a:r>
            <a:r>
              <a:rPr dirty="0" sz="1100" spc="204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njima.</a:t>
            </a:r>
            <a:endParaRPr sz="1100">
              <a:latin typeface="Calibri"/>
              <a:cs typeface="Calibri"/>
            </a:endParaRPr>
          </a:p>
          <a:p>
            <a:pPr lvl="1" marL="549910" indent="-191770">
              <a:lnSpc>
                <a:spcPct val="100000"/>
              </a:lnSpc>
              <a:spcBef>
                <a:spcPts val="434"/>
              </a:spcBef>
              <a:buAutoNum type="alphaLcParenR"/>
              <a:tabLst>
                <a:tab pos="549910" algn="l"/>
              </a:tabLst>
            </a:pPr>
            <a:r>
              <a:rPr dirty="0" sz="1100" spc="50">
                <a:latin typeface="Calibri"/>
                <a:cs typeface="Calibri"/>
              </a:rPr>
              <a:t>Rastaviti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broj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a</a:t>
            </a:r>
            <a:r>
              <a:rPr dirty="0" sz="1100" spc="17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na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proste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faktore.</a:t>
            </a:r>
            <a:endParaRPr sz="1100">
              <a:latin typeface="Calibri"/>
              <a:cs typeface="Calibri"/>
            </a:endParaRPr>
          </a:p>
          <a:p>
            <a:pPr lvl="1" marL="549910" indent="-199390">
              <a:lnSpc>
                <a:spcPct val="100000"/>
              </a:lnSpc>
              <a:spcBef>
                <a:spcPts val="234"/>
              </a:spcBef>
              <a:buAutoNum type="alphaLcParenR"/>
              <a:tabLst>
                <a:tab pos="549910" algn="l"/>
              </a:tabLst>
            </a:pPr>
            <a:r>
              <a:rPr dirty="0" sz="1100">
                <a:latin typeface="Calibri"/>
                <a:cs typeface="Calibri"/>
              </a:rPr>
              <a:t>Odrediti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</a:t>
            </a:r>
            <a:r>
              <a:rPr dirty="0" sz="1100" spc="229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broj</a:t>
            </a:r>
            <a:r>
              <a:rPr dirty="0" sz="1100" spc="225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a</a:t>
            </a:r>
            <a:r>
              <a:rPr dirty="0" sz="1100" spc="225" i="1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sloˇzen.</a:t>
            </a:r>
            <a:endParaRPr sz="1100">
              <a:latin typeface="Calibri"/>
              <a:cs typeface="Calibri"/>
            </a:endParaRPr>
          </a:p>
          <a:p>
            <a:pPr lvl="1" marL="550545" indent="-184150">
              <a:lnSpc>
                <a:spcPct val="100000"/>
              </a:lnSpc>
              <a:spcBef>
                <a:spcPts val="229"/>
              </a:spcBef>
              <a:buAutoNum type="alphaLcParenR"/>
              <a:tabLst>
                <a:tab pos="550545" algn="l"/>
              </a:tabLst>
            </a:pPr>
            <a:r>
              <a:rPr dirty="0" sz="1100">
                <a:latin typeface="Calibri"/>
                <a:cs typeface="Calibri"/>
              </a:rPr>
              <a:t>Prona´ci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sve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faktore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prostog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broja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 spc="-25" i="1">
                <a:latin typeface="Calibri"/>
                <a:cs typeface="Calibri"/>
              </a:rPr>
              <a:t>p</a:t>
            </a:r>
            <a:r>
              <a:rPr dirty="0" sz="1100" spc="-25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lvl="1" marL="549910" indent="-199390">
              <a:lnSpc>
                <a:spcPct val="100000"/>
              </a:lnSpc>
              <a:spcBef>
                <a:spcPts val="235"/>
              </a:spcBef>
              <a:buAutoNum type="alphaLcParenR"/>
              <a:tabLst>
                <a:tab pos="549910" algn="l"/>
              </a:tabLst>
            </a:pPr>
            <a:r>
              <a:rPr dirty="0" sz="1100">
                <a:latin typeface="Calibri"/>
                <a:cs typeface="Calibri"/>
              </a:rPr>
              <a:t>Izraˇcunati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Eulerovu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funkciju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ϕ</a:t>
            </a:r>
            <a:r>
              <a:rPr dirty="0" sz="1100">
                <a:latin typeface="Calibri"/>
                <a:cs typeface="Calibri"/>
              </a:rPr>
              <a:t>(</a:t>
            </a:r>
            <a:r>
              <a:rPr dirty="0" sz="1100" i="1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)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za</a:t>
            </a:r>
            <a:r>
              <a:rPr dirty="0" sz="1100" spc="2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broj</a:t>
            </a:r>
            <a:r>
              <a:rPr dirty="0" sz="1100" spc="270">
                <a:latin typeface="Calibri"/>
                <a:cs typeface="Calibri"/>
              </a:rPr>
              <a:t> </a:t>
            </a:r>
            <a:r>
              <a:rPr dirty="0" sz="1100" spc="-25" i="1">
                <a:latin typeface="Calibri"/>
                <a:cs typeface="Calibri"/>
              </a:rPr>
              <a:t>a</a:t>
            </a:r>
            <a:r>
              <a:rPr dirty="0" sz="1100" spc="-25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lvl="1" marL="550545" indent="-184150">
              <a:lnSpc>
                <a:spcPct val="100000"/>
              </a:lnSpc>
              <a:spcBef>
                <a:spcPts val="235"/>
              </a:spcBef>
              <a:buAutoNum type="alphaLcParenR"/>
              <a:tabLst>
                <a:tab pos="550545" algn="l"/>
              </a:tabLst>
            </a:pPr>
            <a:r>
              <a:rPr dirty="0" sz="1100">
                <a:latin typeface="Calibri"/>
                <a:cs typeface="Calibri"/>
              </a:rPr>
              <a:t>Izraˇcunati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modularni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inverz</a:t>
            </a:r>
            <a:r>
              <a:rPr dirty="0" sz="1100" spc="175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a</a:t>
            </a:r>
            <a:r>
              <a:rPr dirty="0" baseline="27777" sz="1200" i="1">
                <a:latin typeface="Verdana"/>
                <a:cs typeface="Verdana"/>
              </a:rPr>
              <a:t>−</a:t>
            </a:r>
            <a:r>
              <a:rPr dirty="0" baseline="27777" sz="1200">
                <a:latin typeface="Calibri"/>
                <a:cs typeface="Calibri"/>
              </a:rPr>
              <a:t>1</a:t>
            </a:r>
            <a:r>
              <a:rPr dirty="0" baseline="27777" sz="1200" spc="644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(mod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b</a:t>
            </a:r>
            <a:r>
              <a:rPr dirty="0" sz="1100">
                <a:latin typeface="Calibri"/>
                <a:cs typeface="Calibri"/>
              </a:rPr>
              <a:t>)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za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brojeve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a</a:t>
            </a:r>
            <a:r>
              <a:rPr dirty="0" sz="1100" spc="180" i="1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180">
                <a:latin typeface="Calibri"/>
                <a:cs typeface="Calibri"/>
              </a:rPr>
              <a:t> </a:t>
            </a:r>
            <a:r>
              <a:rPr dirty="0" sz="1100" spc="-25" i="1">
                <a:latin typeface="Calibri"/>
                <a:cs typeface="Calibri"/>
              </a:rPr>
              <a:t>b</a:t>
            </a:r>
            <a:r>
              <a:rPr dirty="0" sz="1100" spc="-25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lvl="1" marL="550545" indent="-175895">
              <a:lnSpc>
                <a:spcPct val="100000"/>
              </a:lnSpc>
              <a:spcBef>
                <a:spcPts val="235"/>
              </a:spcBef>
              <a:buAutoNum type="alphaLcParenR"/>
              <a:tabLst>
                <a:tab pos="550545" algn="l"/>
              </a:tabLst>
            </a:pPr>
            <a:r>
              <a:rPr dirty="0" sz="1100">
                <a:latin typeface="Calibri"/>
                <a:cs typeface="Calibri"/>
              </a:rPr>
              <a:t>Izraˇcunati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modularno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potenciranje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b</a:t>
            </a:r>
            <a:r>
              <a:rPr dirty="0" baseline="27777" sz="1200" i="1">
                <a:latin typeface="Calibri"/>
                <a:cs typeface="Calibri"/>
              </a:rPr>
              <a:t>a</a:t>
            </a:r>
            <a:r>
              <a:rPr dirty="0" baseline="27777" sz="1200" spc="630" i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(mod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c</a:t>
            </a:r>
            <a:r>
              <a:rPr dirty="0" sz="1100">
                <a:latin typeface="Calibri"/>
                <a:cs typeface="Calibri"/>
              </a:rPr>
              <a:t>)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za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brojeve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,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 i="1">
                <a:latin typeface="Calibri"/>
                <a:cs typeface="Calibri"/>
              </a:rPr>
              <a:t>b</a:t>
            </a:r>
            <a:r>
              <a:rPr dirty="0" sz="1100" spc="170" i="1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 spc="-25" i="1">
                <a:latin typeface="Calibri"/>
                <a:cs typeface="Calibri"/>
              </a:rPr>
              <a:t>c</a:t>
            </a:r>
            <a:r>
              <a:rPr dirty="0" sz="1100" spc="-25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291465">
              <a:lnSpc>
                <a:spcPct val="100000"/>
              </a:lnSpc>
              <a:spcBef>
                <a:spcPts val="434"/>
              </a:spcBef>
            </a:pPr>
            <a:r>
              <a:rPr dirty="0" sz="1100" spc="60">
                <a:solidFill>
                  <a:srgbClr val="0000FF"/>
                </a:solidFill>
                <a:latin typeface="Calibri"/>
                <a:cs typeface="Calibri"/>
              </a:rPr>
              <a:t>(a)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40">
                <a:solidFill>
                  <a:srgbClr val="0000FF"/>
                </a:solidFill>
                <a:latin typeface="Calibri"/>
                <a:cs typeface="Calibri"/>
              </a:rPr>
              <a:t>(d)</a:t>
            </a:r>
            <a:endParaRPr sz="1100">
              <a:latin typeface="Calibri"/>
              <a:cs typeface="Calibri"/>
            </a:endParaRPr>
          </a:p>
          <a:p>
            <a:pPr marL="291465" marR="32384" indent="-238760">
              <a:lnSpc>
                <a:spcPct val="102600"/>
              </a:lnSpc>
              <a:spcBef>
                <a:spcPts val="395"/>
              </a:spcBef>
              <a:buAutoNum type="alphaLcParenBoth" startAt="3"/>
              <a:tabLst>
                <a:tab pos="291465" algn="l"/>
              </a:tabLst>
            </a:pPr>
            <a:r>
              <a:rPr dirty="0" sz="1100">
                <a:latin typeface="Calibri"/>
                <a:cs typeface="Calibri"/>
              </a:rPr>
              <a:t>(1)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Precizno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definirajte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jedan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siguran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 spc="-40">
                <a:latin typeface="Calibri"/>
                <a:cs typeface="Calibri"/>
              </a:rPr>
              <a:t>naˇcin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kombiniranja</a:t>
            </a:r>
            <a:r>
              <a:rPr dirty="0" sz="1100" spc="1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sustava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enkripcije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javnim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kljuˇcem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 spc="160">
                <a:latin typeface="Calibri"/>
                <a:cs typeface="Calibri"/>
              </a:rPr>
              <a:t>RSA</a:t>
            </a:r>
            <a:r>
              <a:rPr dirty="0" sz="1100" spc="195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20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simetriˇcne </a:t>
            </a:r>
            <a:r>
              <a:rPr dirty="0" sz="1100">
                <a:latin typeface="Calibri"/>
                <a:cs typeface="Calibri"/>
              </a:rPr>
              <a:t>enkripcije</a:t>
            </a:r>
            <a:r>
              <a:rPr dirty="0" sz="1100" spc="120">
                <a:latin typeface="Calibri"/>
                <a:cs typeface="Calibri"/>
              </a:rPr>
              <a:t> </a:t>
            </a:r>
            <a:r>
              <a:rPr dirty="0" sz="1100" spc="100">
                <a:latin typeface="Calibri"/>
                <a:cs typeface="Calibri"/>
              </a:rPr>
              <a:t>AES128CBC.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Traˇzi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se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65">
                <a:solidFill>
                  <a:srgbClr val="0000FF"/>
                </a:solidFill>
                <a:latin typeface="Calibri"/>
                <a:cs typeface="Calibri"/>
              </a:rPr>
              <a:t>neˇsto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od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sljede´ca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tri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odnosno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65">
                <a:solidFill>
                  <a:srgbClr val="0000FF"/>
                </a:solidFill>
                <a:latin typeface="Calibri"/>
                <a:cs typeface="Calibri"/>
              </a:rPr>
              <a:t>neˇsto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vrlo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sliˇcno:</a:t>
            </a:r>
            <a:endParaRPr sz="1100">
              <a:latin typeface="Calibri"/>
              <a:cs typeface="Calibri"/>
            </a:endParaRPr>
          </a:p>
          <a:p>
            <a:pPr lvl="1" marL="548640" indent="-135890">
              <a:lnSpc>
                <a:spcPct val="100000"/>
              </a:lnSpc>
              <a:spcBef>
                <a:spcPts val="434"/>
              </a:spcBef>
              <a:buChar char="•"/>
              <a:tabLst>
                <a:tab pos="548640" algn="l"/>
              </a:tabLst>
            </a:pPr>
            <a:r>
              <a:rPr dirty="0" sz="1100">
                <a:solidFill>
                  <a:srgbClr val="0000FF"/>
                </a:solidFill>
                <a:latin typeface="Arial MT"/>
                <a:cs typeface="Arial MT"/>
              </a:rPr>
              <a:t>RSA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K, </a:t>
            </a:r>
            <a:r>
              <a:rPr dirty="0" sz="1100" spc="204" i="1">
                <a:solidFill>
                  <a:srgbClr val="0000FF"/>
                </a:solidFill>
                <a:latin typeface="Calibri"/>
                <a:cs typeface="Calibri"/>
              </a:rPr>
              <a:t>PK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),</a:t>
            </a:r>
            <a:r>
              <a:rPr dirty="0" sz="1100" spc="2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45">
                <a:solidFill>
                  <a:srgbClr val="0000FF"/>
                </a:solidFill>
                <a:latin typeface="Arial MT"/>
                <a:cs typeface="Arial MT"/>
              </a:rPr>
              <a:t>AES128CBC</a:t>
            </a:r>
            <a:r>
              <a:rPr dirty="0" sz="1100" spc="-4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-45" i="1">
                <a:solidFill>
                  <a:srgbClr val="0000FF"/>
                </a:solidFill>
                <a:latin typeface="Calibri"/>
                <a:cs typeface="Calibri"/>
              </a:rPr>
              <a:t>M,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29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229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lvl="1" marL="548640" indent="-135890">
              <a:lnSpc>
                <a:spcPct val="100000"/>
              </a:lnSpc>
              <a:spcBef>
                <a:spcPts val="235"/>
              </a:spcBef>
              <a:buChar char="•"/>
              <a:tabLst>
                <a:tab pos="548640" algn="l"/>
              </a:tabLst>
            </a:pPr>
            <a:r>
              <a:rPr dirty="0" sz="1100" spc="65">
                <a:solidFill>
                  <a:srgbClr val="0000FF"/>
                </a:solidFill>
                <a:latin typeface="Arial MT"/>
                <a:cs typeface="Arial MT"/>
              </a:rPr>
              <a:t>RSA</a:t>
            </a:r>
            <a:r>
              <a:rPr dirty="0" sz="1100" spc="6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Pad</a:t>
            </a:r>
            <a:r>
              <a:rPr dirty="0" sz="1100" spc="6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65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r>
              <a:rPr dirty="0" sz="1100" spc="65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100" spc="-4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04" i="1">
                <a:solidFill>
                  <a:srgbClr val="0000FF"/>
                </a:solidFill>
                <a:latin typeface="Calibri"/>
                <a:cs typeface="Calibri"/>
              </a:rPr>
              <a:t>PK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),</a:t>
            </a:r>
            <a:r>
              <a:rPr dirty="0" sz="1100" spc="1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45">
                <a:solidFill>
                  <a:srgbClr val="0000FF"/>
                </a:solidFill>
                <a:latin typeface="Arial MT"/>
                <a:cs typeface="Arial MT"/>
              </a:rPr>
              <a:t>AES128CBC</a:t>
            </a:r>
            <a:r>
              <a:rPr dirty="0" sz="1100" spc="-4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-45" i="1">
                <a:solidFill>
                  <a:srgbClr val="0000FF"/>
                </a:solidFill>
                <a:latin typeface="Calibri"/>
                <a:cs typeface="Calibri"/>
              </a:rPr>
              <a:t>M, </a:t>
            </a:r>
            <a:r>
              <a:rPr dirty="0" sz="1100" spc="229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100" spc="229">
                <a:solidFill>
                  <a:srgbClr val="0000FF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 lvl="1" marL="548640" indent="-135890">
              <a:lnSpc>
                <a:spcPct val="100000"/>
              </a:lnSpc>
              <a:spcBef>
                <a:spcPts val="235"/>
              </a:spcBef>
              <a:buChar char="•"/>
              <a:tabLst>
                <a:tab pos="548640" algn="l"/>
              </a:tabLst>
            </a:pPr>
            <a:r>
              <a:rPr dirty="0" sz="1100" spc="75">
                <a:solidFill>
                  <a:srgbClr val="0000FF"/>
                </a:solidFill>
                <a:latin typeface="Arial MT"/>
                <a:cs typeface="Arial MT"/>
              </a:rPr>
              <a:t>RSA</a:t>
            </a:r>
            <a:r>
              <a:rPr dirty="0" sz="1100" spc="75">
                <a:solidFill>
                  <a:srgbClr val="0000FF"/>
                </a:solidFill>
                <a:latin typeface="Calibri"/>
                <a:cs typeface="Calibri"/>
              </a:rPr>
              <a:t>(materijal</a:t>
            </a:r>
            <a:r>
              <a:rPr dirty="0" sz="1100" spc="1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za</a:t>
            </a:r>
            <a:r>
              <a:rPr dirty="0" sz="1100" spc="1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35">
                <a:solidFill>
                  <a:srgbClr val="0000FF"/>
                </a:solidFill>
                <a:latin typeface="Calibri"/>
                <a:cs typeface="Calibri"/>
              </a:rPr>
              <a:t>kljuc</a:t>
            </a:r>
            <a:r>
              <a:rPr dirty="0" sz="1100" spc="135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100" spc="-6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04" i="1">
                <a:solidFill>
                  <a:srgbClr val="0000FF"/>
                </a:solidFill>
                <a:latin typeface="Calibri"/>
                <a:cs typeface="Calibri"/>
              </a:rPr>
              <a:t>PK</a:t>
            </a:r>
            <a:r>
              <a:rPr dirty="0" sz="1100" spc="204">
                <a:solidFill>
                  <a:srgbClr val="0000FF"/>
                </a:solidFill>
                <a:latin typeface="Calibri"/>
                <a:cs typeface="Calibri"/>
              </a:rPr>
              <a:t>),</a:t>
            </a:r>
            <a:r>
              <a:rPr dirty="0" sz="1100" spc="13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45">
                <a:solidFill>
                  <a:srgbClr val="0000FF"/>
                </a:solidFill>
                <a:latin typeface="Arial MT"/>
                <a:cs typeface="Arial MT"/>
              </a:rPr>
              <a:t>AES128CBC</a:t>
            </a:r>
            <a:r>
              <a:rPr dirty="0" sz="1100" spc="-45">
                <a:solidFill>
                  <a:srgbClr val="0000FF"/>
                </a:solidFill>
                <a:latin typeface="Calibri"/>
                <a:cs typeface="Calibri"/>
              </a:rPr>
              <a:t>(</a:t>
            </a:r>
            <a:r>
              <a:rPr dirty="0" sz="1100" spc="-45" i="1">
                <a:solidFill>
                  <a:srgbClr val="0000FF"/>
                </a:solidFill>
                <a:latin typeface="Calibri"/>
                <a:cs typeface="Calibri"/>
              </a:rPr>
              <a:t>M,</a:t>
            </a:r>
            <a:r>
              <a:rPr dirty="0" sz="1100" spc="-6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20" i="1">
                <a:solidFill>
                  <a:srgbClr val="0000FF"/>
                </a:solidFill>
                <a:latin typeface="Calibri"/>
                <a:cs typeface="Calibri"/>
              </a:rPr>
              <a:t>Hash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(materijal</a:t>
            </a:r>
            <a:r>
              <a:rPr dirty="0" sz="1100" spc="1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90">
                <a:solidFill>
                  <a:srgbClr val="0000FF"/>
                </a:solidFill>
                <a:latin typeface="Calibri"/>
                <a:cs typeface="Calibri"/>
              </a:rPr>
              <a:t>za</a:t>
            </a:r>
            <a:r>
              <a:rPr dirty="0" sz="1100" spc="1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125">
                <a:solidFill>
                  <a:srgbClr val="0000FF"/>
                </a:solidFill>
                <a:latin typeface="Calibri"/>
                <a:cs typeface="Calibri"/>
              </a:rPr>
              <a:t>kljuc))</a:t>
            </a:r>
            <a:endParaRPr sz="1100">
              <a:latin typeface="Calibri"/>
              <a:cs typeface="Calibri"/>
            </a:endParaRPr>
          </a:p>
          <a:p>
            <a:pPr marL="292100" marR="30480">
              <a:lnSpc>
                <a:spcPct val="102600"/>
              </a:lnSpc>
              <a:spcBef>
                <a:spcPts val="400"/>
              </a:spcBef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Prihvatljivo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je</a:t>
            </a:r>
            <a:r>
              <a:rPr dirty="0" sz="1100" spc="2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student</a:t>
            </a:r>
            <a:r>
              <a:rPr dirty="0" sz="1100" spc="2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ne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40">
                <a:solidFill>
                  <a:srgbClr val="0000FF"/>
                </a:solidFill>
                <a:latin typeface="Calibri"/>
                <a:cs typeface="Calibri"/>
              </a:rPr>
              <a:t>napiˇse</a:t>
            </a:r>
            <a:r>
              <a:rPr dirty="0" sz="1100" spc="2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kompaktno</a:t>
            </a:r>
            <a:r>
              <a:rPr dirty="0" sz="1100" spc="2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40">
                <a:solidFill>
                  <a:srgbClr val="0000FF"/>
                </a:solidFill>
                <a:latin typeface="Calibri"/>
                <a:cs typeface="Calibri"/>
              </a:rPr>
              <a:t>rjeˇsenje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nego</a:t>
            </a:r>
            <a:r>
              <a:rPr dirty="0" sz="1100" spc="2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objasni</a:t>
            </a:r>
            <a:r>
              <a:rPr dirty="0" sz="1100" spc="2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korake.</a:t>
            </a:r>
            <a:r>
              <a:rPr dirty="0" sz="1100" spc="140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Potrebno</a:t>
            </a:r>
            <a:r>
              <a:rPr dirty="0" sz="1100" spc="28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je</a:t>
            </a:r>
            <a:r>
              <a:rPr dirty="0" sz="1100" spc="27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napisati</a:t>
            </a:r>
            <a:r>
              <a:rPr dirty="0" sz="1100" spc="27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da</a:t>
            </a:r>
            <a:r>
              <a:rPr dirty="0" sz="1100" spc="28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je</a:t>
            </a:r>
            <a:r>
              <a:rPr dirty="0" sz="1100" spc="27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204" i="1">
                <a:solidFill>
                  <a:srgbClr val="0000FF"/>
                </a:solidFill>
                <a:latin typeface="Calibri"/>
                <a:cs typeface="Calibri"/>
              </a:rPr>
              <a:t>K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odnosno</a:t>
            </a:r>
            <a:r>
              <a:rPr dirty="0" sz="1100" spc="1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materijal</a:t>
            </a:r>
            <a:r>
              <a:rPr dirty="0" sz="1100" spc="1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0000FF"/>
                </a:solidFill>
                <a:latin typeface="Calibri"/>
                <a:cs typeface="Calibri"/>
              </a:rPr>
              <a:t>za</a:t>
            </a:r>
            <a:r>
              <a:rPr dirty="0" sz="1100" spc="1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 i="1">
                <a:solidFill>
                  <a:srgbClr val="0000FF"/>
                </a:solidFill>
                <a:latin typeface="Calibri"/>
                <a:cs typeface="Calibri"/>
              </a:rPr>
              <a:t>kljuˇc</a:t>
            </a:r>
            <a:r>
              <a:rPr dirty="0" sz="1100" spc="1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 i="1">
                <a:solidFill>
                  <a:srgbClr val="0000FF"/>
                </a:solidFill>
                <a:latin typeface="Calibri"/>
                <a:cs typeface="Calibri"/>
              </a:rPr>
              <a:t>sluˇcajno</a:t>
            </a:r>
            <a:r>
              <a:rPr dirty="0" sz="1100" spc="1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0000FF"/>
                </a:solidFill>
                <a:latin typeface="Calibri"/>
                <a:cs typeface="Calibri"/>
              </a:rPr>
              <a:t>generiran.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292100" marR="31750" indent="-254000">
              <a:lnSpc>
                <a:spcPct val="102699"/>
              </a:lnSpc>
              <a:spcBef>
                <a:spcPts val="395"/>
              </a:spcBef>
              <a:buAutoNum type="alphaLcParenBoth" startAt="4"/>
              <a:tabLst>
                <a:tab pos="292100" algn="l"/>
              </a:tabLst>
            </a:pPr>
            <a:r>
              <a:rPr dirty="0" sz="1100">
                <a:latin typeface="Calibri"/>
                <a:cs typeface="Calibri"/>
              </a:rPr>
              <a:t>(1)</a:t>
            </a:r>
            <a:r>
              <a:rPr dirty="0" sz="1100" spc="3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Objasnite</a:t>
            </a:r>
            <a:r>
              <a:rPr dirty="0" sz="1100" spc="3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barem</a:t>
            </a:r>
            <a:r>
              <a:rPr dirty="0" sz="1100" spc="3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dva</a:t>
            </a:r>
            <a:r>
              <a:rPr dirty="0" sz="1100" spc="3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razloga</a:t>
            </a:r>
            <a:r>
              <a:rPr dirty="0" sz="1100" spc="3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zbog</a:t>
            </a:r>
            <a:r>
              <a:rPr dirty="0" sz="1100" spc="3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kojih</a:t>
            </a:r>
            <a:r>
              <a:rPr dirty="0" sz="1100" spc="3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kombiniramo</a:t>
            </a:r>
            <a:r>
              <a:rPr dirty="0" sz="1100" spc="3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sustave</a:t>
            </a:r>
            <a:r>
              <a:rPr dirty="0" sz="1100" spc="38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enkripcije</a:t>
            </a:r>
            <a:r>
              <a:rPr dirty="0" sz="1100" spc="38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javnim</a:t>
            </a:r>
            <a:r>
              <a:rPr dirty="0" sz="1100" spc="39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kljuˇcem</a:t>
            </a:r>
            <a:r>
              <a:rPr dirty="0" sz="1100" spc="385">
                <a:latin typeface="Calibri"/>
                <a:cs typeface="Calibri"/>
              </a:rPr>
              <a:t> </a:t>
            </a:r>
            <a:r>
              <a:rPr dirty="0" sz="1100" spc="50">
                <a:latin typeface="Calibri"/>
                <a:cs typeface="Calibri"/>
              </a:rPr>
              <a:t>i</a:t>
            </a:r>
            <a:r>
              <a:rPr dirty="0" sz="1100" spc="38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simetriˇcnu enkripciju.</a:t>
            </a:r>
            <a:endParaRPr sz="1100">
              <a:latin typeface="Calibri"/>
              <a:cs typeface="Calibri"/>
            </a:endParaRPr>
          </a:p>
          <a:p>
            <a:pPr marL="292100">
              <a:lnSpc>
                <a:spcPct val="100000"/>
              </a:lnSpc>
              <a:spcBef>
                <a:spcPts val="35"/>
              </a:spcBef>
            </a:pPr>
            <a:r>
              <a:rPr dirty="0" sz="1100" spc="-30">
                <a:solidFill>
                  <a:srgbClr val="0000FF"/>
                </a:solidFill>
                <a:latin typeface="Calibri"/>
                <a:cs typeface="Calibri"/>
              </a:rPr>
              <a:t>Traˇze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se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neka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dva</a:t>
            </a:r>
            <a:r>
              <a:rPr dirty="0" sz="1100" spc="1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od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sljede´ca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tri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odnosno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65">
                <a:solidFill>
                  <a:srgbClr val="0000FF"/>
                </a:solidFill>
                <a:latin typeface="Calibri"/>
                <a:cs typeface="Calibri"/>
              </a:rPr>
              <a:t>neˇsto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ekvivalentno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ili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vrlo</a:t>
            </a:r>
            <a:r>
              <a:rPr dirty="0" sz="1100" spc="12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Calibri"/>
                <a:cs typeface="Calibri"/>
              </a:rPr>
              <a:t>sliˇcno</a:t>
            </a:r>
            <a:r>
              <a:rPr dirty="0" sz="1100" spc="114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njima:</a:t>
            </a:r>
            <a:endParaRPr sz="1100">
              <a:latin typeface="Calibri"/>
              <a:cs typeface="Calibri"/>
            </a:endParaRPr>
          </a:p>
          <a:p>
            <a:pPr lvl="1" marL="548640" indent="-135890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548640" algn="l"/>
              </a:tabLst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Sustav</a:t>
            </a:r>
            <a:r>
              <a:rPr dirty="0" sz="1100" spc="2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enkripcije</a:t>
            </a:r>
            <a:r>
              <a:rPr dirty="0" sz="1100" spc="2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javnim</a:t>
            </a:r>
            <a:r>
              <a:rPr dirty="0" sz="1100" spc="2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kljuˇcem</a:t>
            </a:r>
            <a:r>
              <a:rPr dirty="0" sz="1100" spc="2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zna</a:t>
            </a:r>
            <a:r>
              <a:rPr dirty="0" sz="1100" spc="2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kriptirati</a:t>
            </a:r>
            <a:r>
              <a:rPr dirty="0" sz="1100" spc="2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samo</a:t>
            </a:r>
            <a:r>
              <a:rPr dirty="0" sz="1100" spc="26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brojeve,</a:t>
            </a:r>
            <a:r>
              <a:rPr dirty="0" sz="1100" spc="2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dirty="0" sz="1100" spc="2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mi</a:t>
            </a:r>
            <a:r>
              <a:rPr dirty="0" sz="1100" spc="2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Calibri"/>
                <a:cs typeface="Calibri"/>
              </a:rPr>
              <a:t>ˇzelimo</a:t>
            </a:r>
            <a:r>
              <a:rPr dirty="0" sz="1100" spc="26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kriptirati</a:t>
            </a:r>
            <a:r>
              <a:rPr dirty="0" sz="1100" spc="27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proizvoljne</a:t>
            </a:r>
            <a:r>
              <a:rPr dirty="0" sz="1100" spc="2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poruke.</a:t>
            </a:r>
            <a:endParaRPr sz="1100">
              <a:latin typeface="Calibri"/>
              <a:cs typeface="Calibri"/>
            </a:endParaRPr>
          </a:p>
          <a:p>
            <a:pPr lvl="1" marL="548640" marR="31750" indent="-135890">
              <a:lnSpc>
                <a:spcPct val="102600"/>
              </a:lnSpc>
              <a:spcBef>
                <a:spcPts val="200"/>
              </a:spcBef>
              <a:buFont typeface="Arial MT"/>
              <a:buChar char="•"/>
              <a:tabLst>
                <a:tab pos="551180" algn="l"/>
              </a:tabLst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Sustav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enkripcije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javnim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kljuˇcem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je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nekoliko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redova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5">
                <a:solidFill>
                  <a:srgbClr val="0000FF"/>
                </a:solidFill>
                <a:latin typeface="Calibri"/>
                <a:cs typeface="Calibri"/>
              </a:rPr>
              <a:t>veliˇcine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sporiji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pa</a:t>
            </a:r>
            <a:r>
              <a:rPr dirty="0" sz="1100" spc="1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40">
                <a:solidFill>
                  <a:srgbClr val="0000FF"/>
                </a:solidFill>
                <a:latin typeface="Calibri"/>
                <a:cs typeface="Calibri"/>
              </a:rPr>
              <a:t>ˇzelimo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njime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kriptirati</a:t>
            </a:r>
            <a:r>
              <a:rPr dirty="0" sz="1100" spc="18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samo</a:t>
            </a:r>
            <a:r>
              <a:rPr dirty="0" sz="1100" spc="17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kljuˇc,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dugaˇcku</a:t>
            </a:r>
            <a:r>
              <a:rPr dirty="0" sz="1100" spc="2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poruku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kriptirati</a:t>
            </a:r>
            <a:r>
              <a:rPr dirty="0" sz="1100" spc="2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30">
                <a:solidFill>
                  <a:srgbClr val="0000FF"/>
                </a:solidFill>
                <a:latin typeface="Calibri"/>
                <a:cs typeface="Calibri"/>
              </a:rPr>
              <a:t>brˇzim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simetriˇcnim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sustavom.</a:t>
            </a:r>
            <a:endParaRPr sz="1100">
              <a:latin typeface="Calibri"/>
              <a:cs typeface="Calibri"/>
            </a:endParaRPr>
          </a:p>
          <a:p>
            <a:pPr lvl="1" marL="548640" marR="31750" indent="-135890">
              <a:lnSpc>
                <a:spcPct val="102600"/>
              </a:lnSpc>
              <a:spcBef>
                <a:spcPts val="200"/>
              </a:spcBef>
              <a:buFont typeface="Arial MT"/>
              <a:buChar char="•"/>
              <a:tabLst>
                <a:tab pos="551180" algn="l"/>
              </a:tabLst>
            </a:pP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Sustav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enkricije</a:t>
            </a:r>
            <a:r>
              <a:rPr dirty="0" sz="1100" spc="2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javnim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kljuˇcem</a:t>
            </a:r>
            <a:r>
              <a:rPr dirty="0" sz="1100" spc="18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nije</a:t>
            </a:r>
            <a:r>
              <a:rPr dirty="0" sz="1100" spc="20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siguran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ako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kriptiramo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proizvoljne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poruke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pa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40">
                <a:solidFill>
                  <a:srgbClr val="0000FF"/>
                </a:solidFill>
                <a:latin typeface="Calibri"/>
                <a:cs typeface="Calibri"/>
              </a:rPr>
              <a:t>ˇzelimo</a:t>
            </a:r>
            <a:r>
              <a:rPr dirty="0" sz="1100" spc="19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njime</a:t>
            </a:r>
            <a:r>
              <a:rPr dirty="0" sz="1100" spc="19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kriptirati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samo</a:t>
            </a:r>
            <a:r>
              <a:rPr dirty="0" sz="1100" spc="14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0000FF"/>
                </a:solidFill>
                <a:latin typeface="Calibri"/>
                <a:cs typeface="Calibri"/>
              </a:rPr>
              <a:t>sluˇcajne</a:t>
            </a:r>
            <a:r>
              <a:rPr dirty="0" sz="1100" spc="1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0000FF"/>
                </a:solidFill>
                <a:latin typeface="Calibri"/>
                <a:cs typeface="Calibri"/>
              </a:rPr>
              <a:t>kljuˇceve</a:t>
            </a:r>
            <a:r>
              <a:rPr dirty="0" sz="1100" spc="1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50">
                <a:solidFill>
                  <a:srgbClr val="0000FF"/>
                </a:solidFill>
                <a:latin typeface="Calibri"/>
                <a:cs typeface="Calibri"/>
              </a:rPr>
              <a:t>ili</a:t>
            </a:r>
            <a:r>
              <a:rPr dirty="0" sz="1100" spc="1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materijal</a:t>
            </a:r>
            <a:r>
              <a:rPr dirty="0" sz="1100" spc="15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0000FF"/>
                </a:solidFill>
                <a:latin typeface="Calibri"/>
                <a:cs typeface="Calibri"/>
              </a:rPr>
              <a:t>za</a:t>
            </a:r>
            <a:r>
              <a:rPr dirty="0" sz="1100" spc="15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0000FF"/>
                </a:solidFill>
                <a:latin typeface="Calibri"/>
                <a:cs typeface="Calibri"/>
              </a:rPr>
              <a:t>kljuˇc.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1212" rIns="0" bIns="0" rtlCol="0" vert="horz">
            <a:spAutoFit/>
          </a:bodyPr>
          <a:lstStyle/>
          <a:p>
            <a:pPr marL="38100">
              <a:lnSpc>
                <a:spcPts val="1140"/>
              </a:lnSpc>
            </a:pPr>
            <a:fld id="{81D60167-4931-47E6-BA6A-407CBD079E47}" type="slidenum">
              <a:rPr dirty="0" sz="1100" spc="-50">
                <a:latin typeface="Calibri"/>
                <a:cs typeface="Calibri"/>
              </a:rPr>
              <a:t>4</a:t>
            </a:fld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92972" y="163626"/>
            <a:ext cx="3786504" cy="457834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400" spc="-25" b="1">
                <a:latin typeface="Georgia"/>
                <a:cs typeface="Georgia"/>
              </a:rPr>
              <a:t>Kriptografija</a:t>
            </a:r>
            <a:r>
              <a:rPr dirty="0" sz="1400" spc="114" b="1">
                <a:latin typeface="Georgia"/>
                <a:cs typeface="Georgia"/>
              </a:rPr>
              <a:t> </a:t>
            </a:r>
            <a:r>
              <a:rPr dirty="0" sz="1400" b="1">
                <a:latin typeface="Georgia"/>
                <a:cs typeface="Georgia"/>
              </a:rPr>
              <a:t>i</a:t>
            </a:r>
            <a:r>
              <a:rPr dirty="0" sz="1400" spc="120" b="1">
                <a:latin typeface="Georgia"/>
                <a:cs typeface="Georgia"/>
              </a:rPr>
              <a:t> </a:t>
            </a:r>
            <a:r>
              <a:rPr dirty="0" sz="1400" spc="-45" b="1">
                <a:latin typeface="Georgia"/>
                <a:cs typeface="Georgia"/>
              </a:rPr>
              <a:t>kriptoanaliza</a:t>
            </a:r>
            <a:r>
              <a:rPr dirty="0" sz="1400" spc="120" b="1">
                <a:latin typeface="Georgia"/>
                <a:cs typeface="Georgia"/>
              </a:rPr>
              <a:t> </a:t>
            </a:r>
            <a:r>
              <a:rPr dirty="0" sz="1400" spc="310" b="1">
                <a:latin typeface="Georgia"/>
                <a:cs typeface="Georgia"/>
              </a:rPr>
              <a:t>—</a:t>
            </a:r>
            <a:r>
              <a:rPr dirty="0" sz="1400" spc="120" b="1">
                <a:latin typeface="Georgia"/>
                <a:cs typeface="Georgia"/>
              </a:rPr>
              <a:t> </a:t>
            </a:r>
            <a:r>
              <a:rPr dirty="0" sz="1400" spc="-10" b="1">
                <a:latin typeface="Georgia"/>
                <a:cs typeface="Georgia"/>
              </a:rPr>
              <a:t>Me</a:t>
            </a:r>
            <a:r>
              <a:rPr dirty="0" sz="1400" spc="-10" b="1" strike="sngStrike">
                <a:latin typeface="Georgia"/>
                <a:cs typeface="Georgia"/>
              </a:rPr>
              <a:t>d</a:t>
            </a:r>
            <a:r>
              <a:rPr dirty="0" sz="1400" spc="-10" b="1" strike="noStrike">
                <a:latin typeface="Georgia"/>
                <a:cs typeface="Georgia"/>
              </a:rPr>
              <a:t>uispit</a:t>
            </a:r>
            <a:endParaRPr sz="1400">
              <a:latin typeface="Georgia"/>
              <a:cs typeface="Georgia"/>
            </a:endParaRPr>
          </a:p>
          <a:p>
            <a:pPr marL="1347470">
              <a:lnSpc>
                <a:spcPct val="100000"/>
              </a:lnSpc>
              <a:spcBef>
                <a:spcPts val="114"/>
              </a:spcBef>
            </a:pPr>
            <a:r>
              <a:rPr dirty="0" sz="1200">
                <a:latin typeface="Times New Roman"/>
                <a:cs typeface="Times New Roman"/>
              </a:rPr>
              <a:t>5.</a:t>
            </a:r>
            <a:r>
              <a:rPr dirty="0" sz="1200" spc="1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prosinca</a:t>
            </a:r>
            <a:r>
              <a:rPr dirty="0" sz="1200" spc="1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2024.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95630" y="749211"/>
            <a:ext cx="6981190" cy="49657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 algn="just" marL="40005" marR="74930">
              <a:lnSpc>
                <a:spcPct val="99600"/>
              </a:lnSpc>
              <a:spcBef>
                <a:spcPts val="10"/>
              </a:spcBef>
            </a:pPr>
            <a:r>
              <a:rPr dirty="0" sz="1000">
                <a:latin typeface="Georgia"/>
                <a:cs typeface="Georgia"/>
              </a:rPr>
              <a:t>Ispit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traje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b="1">
                <a:latin typeface="Cambria"/>
                <a:cs typeface="Cambria"/>
              </a:rPr>
              <a:t>2</a:t>
            </a:r>
            <a:r>
              <a:rPr dirty="0" sz="1000" spc="110" b="1">
                <a:latin typeface="Cambria"/>
                <a:cs typeface="Cambria"/>
              </a:rPr>
              <a:t> </a:t>
            </a:r>
            <a:r>
              <a:rPr dirty="0" sz="1000" b="1">
                <a:latin typeface="Cambria"/>
                <a:cs typeface="Cambria"/>
              </a:rPr>
              <a:t>sata</a:t>
            </a:r>
            <a:r>
              <a:rPr dirty="0" sz="1000" spc="80" b="1">
                <a:latin typeface="Cambria"/>
                <a:cs typeface="Cambria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nosi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ukupno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b="1">
                <a:latin typeface="Cambria"/>
                <a:cs typeface="Cambria"/>
              </a:rPr>
              <a:t>30</a:t>
            </a:r>
            <a:r>
              <a:rPr dirty="0" sz="1000" spc="110" b="1">
                <a:latin typeface="Cambria"/>
                <a:cs typeface="Cambria"/>
              </a:rPr>
              <a:t> </a:t>
            </a:r>
            <a:r>
              <a:rPr dirty="0" sz="1000" b="1">
                <a:latin typeface="Cambria"/>
                <a:cs typeface="Cambria"/>
              </a:rPr>
              <a:t>bodova</a:t>
            </a:r>
            <a:r>
              <a:rPr dirty="0" sz="1000">
                <a:latin typeface="Georgia"/>
                <a:cs typeface="Georgia"/>
              </a:rPr>
              <a:t>.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Zadaci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se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60">
                <a:latin typeface="Georgia"/>
                <a:cs typeface="Georgia"/>
              </a:rPr>
              <a:t>rjeˇsavaju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na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ovom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obrascu,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a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ako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nedostaje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mjesta,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90">
                <a:latin typeface="Georgia"/>
                <a:cs typeface="Georgia"/>
              </a:rPr>
              <a:t>moˇzete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koristiti </a:t>
            </a:r>
            <a:r>
              <a:rPr dirty="0" sz="1000" spc="-55">
                <a:latin typeface="Georgia"/>
                <a:cs typeface="Georgia"/>
              </a:rPr>
              <a:t>koˇsuljicu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ili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dodatne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papire.</a:t>
            </a:r>
            <a:r>
              <a:rPr dirty="0" sz="1000" spc="3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Nisu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dozvoljeni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nikakvi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materijali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osim</a:t>
            </a:r>
            <a:r>
              <a:rPr dirty="0" sz="1000" spc="100">
                <a:latin typeface="Georgia"/>
                <a:cs typeface="Georgia"/>
              </a:rPr>
              <a:t> </a:t>
            </a:r>
            <a:r>
              <a:rPr dirty="0" sz="1000" b="1">
                <a:latin typeface="Cambria"/>
                <a:cs typeface="Cambria"/>
              </a:rPr>
              <a:t>kalkulatora</a:t>
            </a:r>
            <a:r>
              <a:rPr dirty="0" sz="1000">
                <a:latin typeface="Georgia"/>
                <a:cs typeface="Georgia"/>
              </a:rPr>
              <a:t>.</a:t>
            </a:r>
            <a:r>
              <a:rPr dirty="0" sz="1000" spc="33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Molimo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vas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da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80">
                <a:latin typeface="Georgia"/>
                <a:cs typeface="Georgia"/>
              </a:rPr>
              <a:t>piˇsete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b="1">
                <a:latin typeface="Cambria"/>
                <a:cs typeface="Cambria"/>
              </a:rPr>
              <a:t>ˇcitko</a:t>
            </a:r>
            <a:r>
              <a:rPr dirty="0" sz="1000">
                <a:latin typeface="Georgia"/>
                <a:cs typeface="Georgia"/>
              </a:rPr>
              <a:t>;</a:t>
            </a:r>
            <a:r>
              <a:rPr dirty="0" sz="1000" spc="13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neˇcitka </a:t>
            </a:r>
            <a:r>
              <a:rPr dirty="0" sz="1000" spc="-70">
                <a:latin typeface="Georgia"/>
                <a:cs typeface="Georgia"/>
              </a:rPr>
              <a:t>rjeˇsenja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-105">
                <a:latin typeface="Georgia"/>
                <a:cs typeface="Georgia"/>
              </a:rPr>
              <a:t>ne´cemo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razmatrati.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077135" y="844284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4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65467" y="1335257"/>
            <a:ext cx="7183755" cy="7769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0335">
              <a:lnSpc>
                <a:spcPct val="100000"/>
              </a:lnSpc>
              <a:spcBef>
                <a:spcPts val="95"/>
              </a:spcBef>
              <a:tabLst>
                <a:tab pos="3682365" algn="l"/>
                <a:tab pos="5905500" algn="l"/>
                <a:tab pos="7017384" algn="l"/>
              </a:tabLst>
            </a:pPr>
            <a:r>
              <a:rPr dirty="0" sz="1000" spc="-10">
                <a:latin typeface="Georgia"/>
                <a:cs typeface="Georgia"/>
              </a:rPr>
              <a:t>Ime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prezime:</a:t>
            </a:r>
            <a:r>
              <a:rPr dirty="0" sz="1000" spc="250">
                <a:latin typeface="Georgia"/>
                <a:cs typeface="Georgia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000" spc="500">
                <a:latin typeface="Times New Roman"/>
                <a:cs typeface="Times New Roman"/>
              </a:rPr>
              <a:t> </a:t>
            </a:r>
            <a:r>
              <a:rPr dirty="0" sz="1000">
                <a:latin typeface="Georgia"/>
                <a:cs typeface="Georgia"/>
              </a:rPr>
              <a:t>JMBAG:</a:t>
            </a:r>
            <a:r>
              <a:rPr dirty="0" sz="1000" spc="250">
                <a:latin typeface="Georgia"/>
                <a:cs typeface="Georgia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000" spc="500">
                <a:latin typeface="Times New Roman"/>
                <a:cs typeface="Times New Roman"/>
              </a:rPr>
              <a:t> </a:t>
            </a:r>
            <a:r>
              <a:rPr dirty="0" sz="1000">
                <a:latin typeface="Georgia"/>
                <a:cs typeface="Georgia"/>
              </a:rPr>
              <a:t>Dvorana:</a:t>
            </a:r>
            <a:r>
              <a:rPr dirty="0" sz="1000" spc="250">
                <a:latin typeface="Georgia"/>
                <a:cs typeface="Georgia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000">
              <a:latin typeface="Times New Roman"/>
              <a:cs typeface="Times New Roman"/>
            </a:endParaRPr>
          </a:p>
          <a:p>
            <a:pPr marL="223520" indent="-160020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223520" algn="l"/>
              </a:tabLst>
            </a:pPr>
            <a:r>
              <a:rPr dirty="0" sz="1000">
                <a:latin typeface="Georgia"/>
                <a:cs typeface="Georgia"/>
              </a:rPr>
              <a:t>(4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boda)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Klasiˇcna</a:t>
            </a:r>
            <a:r>
              <a:rPr dirty="0" sz="1000" spc="85" i="1">
                <a:latin typeface="Palatino Linotype"/>
                <a:cs typeface="Palatino Linotype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kriptogra</a:t>
            </a:r>
            <a:r>
              <a:rPr dirty="0" cap="small" sz="1000" i="1">
                <a:latin typeface="Palatino Linotype"/>
                <a:cs typeface="Palatino Linotype"/>
              </a:rPr>
              <a:t>fi</a:t>
            </a:r>
            <a:r>
              <a:rPr dirty="0" sz="1000" i="1">
                <a:latin typeface="Palatino Linotype"/>
                <a:cs typeface="Palatino Linotype"/>
              </a:rPr>
              <a:t>ja</a:t>
            </a:r>
            <a:r>
              <a:rPr dirty="0" sz="1000">
                <a:latin typeface="Georgia"/>
                <a:cs typeface="Georgia"/>
              </a:rPr>
              <a:t>.</a:t>
            </a:r>
            <a:r>
              <a:rPr dirty="0" sz="1000" spc="170">
                <a:latin typeface="Georgia"/>
                <a:cs typeface="Georgia"/>
              </a:rPr>
              <a:t> </a:t>
            </a:r>
            <a:r>
              <a:rPr dirty="0" sz="1000" spc="-50">
                <a:latin typeface="Georgia"/>
                <a:cs typeface="Georgia"/>
              </a:rPr>
              <a:t>Deˇsifrirajte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poruku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Georgia"/>
              <a:buAutoNum type="arabicPeriod"/>
            </a:pPr>
            <a:endParaRPr sz="1000">
              <a:latin typeface="Georgia"/>
              <a:cs typeface="Georgia"/>
            </a:endParaRPr>
          </a:p>
          <a:p>
            <a:pPr algn="ctr" marL="173990">
              <a:lnSpc>
                <a:spcPct val="100000"/>
              </a:lnSpc>
            </a:pPr>
            <a:r>
              <a:rPr dirty="0" sz="1000" spc="-10">
                <a:latin typeface="Cambria"/>
                <a:cs typeface="Cambria"/>
              </a:rPr>
              <a:t>IIZAPEBUIRIZONNGRIDEAOKLMJTTIAICSPENLORIJAEIVRIO</a:t>
            </a:r>
            <a:r>
              <a:rPr dirty="0" baseline="8333" sz="1500" spc="-15">
                <a:latin typeface="Cambria"/>
                <a:cs typeface="Cambria"/>
              </a:rPr>
              <a:t>ˇ</a:t>
            </a:r>
            <a:r>
              <a:rPr dirty="0" sz="1000" spc="-10">
                <a:latin typeface="Cambria"/>
                <a:cs typeface="Cambria"/>
              </a:rPr>
              <a:t>ZTZKFT</a:t>
            </a:r>
            <a:endParaRPr sz="1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Cambria"/>
              <a:cs typeface="Cambria"/>
            </a:endParaRPr>
          </a:p>
          <a:p>
            <a:pPr marL="224790">
              <a:lnSpc>
                <a:spcPct val="100000"/>
              </a:lnSpc>
            </a:pPr>
            <a:r>
              <a:rPr dirty="0" sz="1000">
                <a:latin typeface="Georgia"/>
                <a:cs typeface="Georgia"/>
              </a:rPr>
              <a:t>ako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poznato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da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dobiven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60">
                <a:latin typeface="Georgia"/>
                <a:cs typeface="Georgia"/>
              </a:rPr>
              <a:t>stupˇcastom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transpozicijom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65">
                <a:latin typeface="Georgia"/>
                <a:cs typeface="Georgia"/>
              </a:rPr>
              <a:t>koriste´ci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85">
                <a:latin typeface="Georgia"/>
                <a:cs typeface="Georgia"/>
              </a:rPr>
              <a:t>kljuˇc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10">
                <a:latin typeface="Cambria"/>
                <a:cs typeface="Cambria"/>
              </a:rPr>
              <a:t>987654321</a:t>
            </a:r>
            <a:r>
              <a:rPr dirty="0" sz="1000" spc="-1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000">
              <a:latin typeface="Georgia"/>
              <a:cs typeface="Georgia"/>
            </a:endParaRPr>
          </a:p>
          <a:p>
            <a:pPr marL="224790">
              <a:lnSpc>
                <a:spcPct val="100000"/>
              </a:lnSpc>
            </a:pPr>
            <a:r>
              <a:rPr dirty="0" sz="1000" spc="60">
                <a:solidFill>
                  <a:srgbClr val="0000FF"/>
                </a:solidFill>
                <a:latin typeface="Cambria"/>
                <a:cs typeface="Cambria"/>
              </a:rPr>
              <a:t>2024./2025.: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85">
                <a:solidFill>
                  <a:srgbClr val="0000FF"/>
                </a:solidFill>
                <a:latin typeface="Cambria"/>
                <a:cs typeface="Cambria"/>
              </a:rPr>
              <a:t>trece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70">
                <a:solidFill>
                  <a:srgbClr val="0000FF"/>
                </a:solidFill>
                <a:latin typeface="Cambria"/>
                <a:cs typeface="Cambria"/>
              </a:rPr>
              <a:t>slovo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T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95">
                <a:solidFill>
                  <a:srgbClr val="0000FF"/>
                </a:solidFill>
                <a:latin typeface="Cambria"/>
                <a:cs typeface="Cambria"/>
              </a:rPr>
              <a:t>s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85">
                <a:solidFill>
                  <a:srgbClr val="0000FF"/>
                </a:solidFill>
                <a:latin typeface="Cambria"/>
                <a:cs typeface="Cambria"/>
              </a:rPr>
              <a:t>kraja</a:t>
            </a:r>
            <a:r>
              <a:rPr dirty="0" sz="1000" spc="31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110">
                <a:solidFill>
                  <a:srgbClr val="0000FF"/>
                </a:solidFill>
                <a:latin typeface="Cambria"/>
                <a:cs typeface="Cambria"/>
              </a:rPr>
              <a:t>bilo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145">
                <a:solidFill>
                  <a:srgbClr val="0000FF"/>
                </a:solidFill>
                <a:latin typeface="Cambria"/>
                <a:cs typeface="Cambria"/>
              </a:rPr>
              <a:t>je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120">
                <a:solidFill>
                  <a:srgbClr val="0000FF"/>
                </a:solidFill>
                <a:latin typeface="Cambria"/>
                <a:cs typeface="Cambria"/>
              </a:rPr>
              <a:t>viska.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85">
                <a:solidFill>
                  <a:srgbClr val="0000FF"/>
                </a:solidFill>
                <a:latin typeface="Cambria"/>
                <a:cs typeface="Cambria"/>
              </a:rPr>
              <a:t>Priznavati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110">
                <a:solidFill>
                  <a:srgbClr val="0000FF"/>
                </a:solidFill>
                <a:latin typeface="Cambria"/>
                <a:cs typeface="Cambria"/>
              </a:rPr>
              <a:t>rjesenja.</a:t>
            </a:r>
            <a:endParaRPr sz="1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0">
              <a:latin typeface="Cambria"/>
              <a:cs typeface="Cambria"/>
            </a:endParaRPr>
          </a:p>
          <a:p>
            <a:pPr marL="224790" marR="706755">
              <a:lnSpc>
                <a:spcPts val="1190"/>
              </a:lnSpc>
              <a:spcBef>
                <a:spcPts val="5"/>
              </a:spcBef>
            </a:pP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Kljucˇ</a:t>
            </a:r>
            <a:r>
              <a:rPr dirty="0" sz="1000" spc="3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ima</a:t>
            </a:r>
            <a:r>
              <a:rPr dirty="0" sz="1000" spc="3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9</a:t>
            </a:r>
            <a:r>
              <a:rPr dirty="0" sz="1000" spc="3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90">
                <a:solidFill>
                  <a:srgbClr val="0000FF"/>
                </a:solidFill>
                <a:latin typeface="Cambria"/>
                <a:cs typeface="Cambria"/>
              </a:rPr>
              <a:t>brojeva,</a:t>
            </a:r>
            <a:r>
              <a:rPr dirty="0" sz="1000" spc="3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a</a:t>
            </a:r>
            <a:r>
              <a:rPr dirty="0" sz="1000" spc="32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85">
                <a:solidFill>
                  <a:srgbClr val="0000FF"/>
                </a:solidFill>
                <a:latin typeface="Cambria"/>
                <a:cs typeface="Cambria"/>
              </a:rPr>
              <a:t>ˇsifrat</a:t>
            </a:r>
            <a:r>
              <a:rPr dirty="0" sz="1000" spc="3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54</a:t>
            </a:r>
            <a:r>
              <a:rPr dirty="0" sz="1000" spc="3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znaka</a:t>
            </a:r>
            <a:r>
              <a:rPr dirty="0" sz="1000" spc="3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pa</a:t>
            </a:r>
            <a:r>
              <a:rPr dirty="0" sz="1000" spc="32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85">
                <a:solidFill>
                  <a:srgbClr val="0000FF"/>
                </a:solidFill>
                <a:latin typeface="Cambria"/>
                <a:cs typeface="Cambria"/>
              </a:rPr>
              <a:t>ˇsifrat</a:t>
            </a:r>
            <a:r>
              <a:rPr dirty="0" sz="1000" spc="3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60">
                <a:solidFill>
                  <a:srgbClr val="0000FF"/>
                </a:solidFill>
                <a:latin typeface="Cambria"/>
                <a:cs typeface="Cambria"/>
              </a:rPr>
              <a:t>treba</a:t>
            </a:r>
            <a:r>
              <a:rPr dirty="0" sz="1000" spc="3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140">
                <a:solidFill>
                  <a:srgbClr val="0000FF"/>
                </a:solidFill>
                <a:latin typeface="Cambria"/>
                <a:cs typeface="Cambria"/>
              </a:rPr>
              <a:t>podijeliti</a:t>
            </a:r>
            <a:r>
              <a:rPr dirty="0" sz="1000" spc="3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na</a:t>
            </a:r>
            <a:r>
              <a:rPr dirty="0" sz="1000" spc="32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skupove</a:t>
            </a:r>
            <a:r>
              <a:rPr dirty="0" sz="1000" spc="3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od</a:t>
            </a:r>
            <a:r>
              <a:rPr dirty="0" sz="1000" spc="3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54/9=6</a:t>
            </a:r>
            <a:r>
              <a:rPr dirty="0" sz="1000" spc="31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Cambria"/>
                <a:cs typeface="Cambria"/>
              </a:rPr>
              <a:t>znakova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"IIZAPE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BUIRIZ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-50">
                <a:solidFill>
                  <a:srgbClr val="0000FF"/>
                </a:solidFill>
                <a:latin typeface="Cambria"/>
                <a:cs typeface="Cambria"/>
              </a:rPr>
              <a:t>ONNGRI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-70">
                <a:solidFill>
                  <a:srgbClr val="0000FF"/>
                </a:solidFill>
                <a:latin typeface="Cambria"/>
                <a:cs typeface="Cambria"/>
              </a:rPr>
              <a:t>DEAOKL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MJTTIA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ICSPEN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LORIJA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EIVRIO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8333" sz="1500" spc="-15">
                <a:solidFill>
                  <a:srgbClr val="0000FF"/>
                </a:solidFill>
                <a:latin typeface="Cambria"/>
                <a:cs typeface="Cambria"/>
              </a:rPr>
              <a:t>ˇ</a:t>
            </a:r>
            <a:r>
              <a:rPr dirty="0" sz="1000" spc="-10">
                <a:solidFill>
                  <a:srgbClr val="0000FF"/>
                </a:solidFill>
                <a:latin typeface="Cambria"/>
                <a:cs typeface="Cambria"/>
              </a:rPr>
              <a:t>ZTZKFT"</a:t>
            </a:r>
            <a:endParaRPr sz="1000">
              <a:latin typeface="Cambria"/>
              <a:cs typeface="Cambria"/>
            </a:endParaRPr>
          </a:p>
          <a:p>
            <a:pPr marL="291465">
              <a:lnSpc>
                <a:spcPts val="1155"/>
              </a:lnSpc>
            </a:pP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IIZAPE</a:t>
            </a:r>
            <a:r>
              <a:rPr dirty="0" sz="1000" spc="28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BUIRIZ</a:t>
            </a:r>
            <a:r>
              <a:rPr dirty="0" sz="1000" spc="2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-50">
                <a:solidFill>
                  <a:srgbClr val="0000FF"/>
                </a:solidFill>
                <a:latin typeface="Cambria"/>
                <a:cs typeface="Cambria"/>
              </a:rPr>
              <a:t>ONNGRI</a:t>
            </a:r>
            <a:r>
              <a:rPr dirty="0" sz="1000" spc="2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-70">
                <a:solidFill>
                  <a:srgbClr val="0000FF"/>
                </a:solidFill>
                <a:latin typeface="Cambria"/>
                <a:cs typeface="Cambria"/>
              </a:rPr>
              <a:t>DEAOKL</a:t>
            </a:r>
            <a:r>
              <a:rPr dirty="0" sz="1000" spc="2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MJTTIA</a:t>
            </a:r>
            <a:r>
              <a:rPr dirty="0" sz="1000" spc="2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ICSPEN</a:t>
            </a:r>
            <a:r>
              <a:rPr dirty="0" sz="1000" spc="2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LORIJA</a:t>
            </a:r>
            <a:r>
              <a:rPr dirty="0" sz="1000" spc="2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EIVRIO</a:t>
            </a:r>
            <a:r>
              <a:rPr dirty="0" sz="1000" spc="2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8333" sz="1500" spc="-15">
                <a:solidFill>
                  <a:srgbClr val="0000FF"/>
                </a:solidFill>
                <a:latin typeface="Cambria"/>
                <a:cs typeface="Cambria"/>
              </a:rPr>
              <a:t>ˇ</a:t>
            </a:r>
            <a:r>
              <a:rPr dirty="0" sz="1000" spc="-10">
                <a:solidFill>
                  <a:srgbClr val="0000FF"/>
                </a:solidFill>
                <a:latin typeface="Cambria"/>
                <a:cs typeface="Cambria"/>
              </a:rPr>
              <a:t>ZTZKFT</a:t>
            </a:r>
            <a:endParaRPr sz="1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Cambria"/>
              <a:cs typeface="Cambria"/>
            </a:endParaRPr>
          </a:p>
          <a:p>
            <a:pPr marL="224790">
              <a:lnSpc>
                <a:spcPts val="1195"/>
              </a:lnSpc>
              <a:spcBef>
                <a:spcPts val="5"/>
              </a:spcBef>
            </a:pPr>
            <a:r>
              <a:rPr dirty="0" sz="1000" spc="120">
                <a:solidFill>
                  <a:srgbClr val="0000FF"/>
                </a:solidFill>
                <a:latin typeface="Cambria"/>
                <a:cs typeface="Cambria"/>
              </a:rPr>
              <a:t>koji</a:t>
            </a:r>
            <a:r>
              <a:rPr dirty="0" sz="1000" spc="3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60">
                <a:solidFill>
                  <a:srgbClr val="0000FF"/>
                </a:solidFill>
                <a:latin typeface="Cambria"/>
                <a:cs typeface="Cambria"/>
              </a:rPr>
              <a:t>se</a:t>
            </a:r>
            <a:r>
              <a:rPr dirty="0" sz="1000" spc="3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popunjavaju</a:t>
            </a:r>
            <a:r>
              <a:rPr dirty="0" sz="1000" spc="3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po</a:t>
            </a:r>
            <a:r>
              <a:rPr dirty="0" sz="1000" spc="3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stupcima</a:t>
            </a:r>
            <a:r>
              <a:rPr dirty="0" sz="1000" spc="39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prema</a:t>
            </a:r>
            <a:r>
              <a:rPr dirty="0" sz="1000" spc="39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50">
                <a:solidFill>
                  <a:srgbClr val="0000FF"/>
                </a:solidFill>
                <a:latin typeface="Cambria"/>
                <a:cs typeface="Cambria"/>
              </a:rPr>
              <a:t>kljuˇcu:</a:t>
            </a:r>
            <a:endParaRPr sz="1000">
              <a:latin typeface="Cambria"/>
              <a:cs typeface="Cambria"/>
            </a:endParaRPr>
          </a:p>
          <a:p>
            <a:pPr marL="224790">
              <a:lnSpc>
                <a:spcPts val="1190"/>
              </a:lnSpc>
            </a:pP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prvo</a:t>
            </a:r>
            <a:r>
              <a:rPr dirty="0" sz="1000" spc="3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IIZAPE</a:t>
            </a:r>
            <a:r>
              <a:rPr dirty="0" sz="1000" spc="36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80">
                <a:solidFill>
                  <a:srgbClr val="0000FF"/>
                </a:solidFill>
                <a:latin typeface="Cambria"/>
                <a:cs typeface="Cambria"/>
              </a:rPr>
              <a:t>ide</a:t>
            </a:r>
            <a:r>
              <a:rPr dirty="0" sz="1000" spc="3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u</a:t>
            </a:r>
            <a:r>
              <a:rPr dirty="0" sz="1000" spc="36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55">
                <a:solidFill>
                  <a:srgbClr val="0000FF"/>
                </a:solidFill>
                <a:latin typeface="Cambria"/>
                <a:cs typeface="Cambria"/>
              </a:rPr>
              <a:t>stupac</a:t>
            </a:r>
            <a:r>
              <a:rPr dirty="0" sz="1000" spc="3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85">
                <a:solidFill>
                  <a:srgbClr val="0000FF"/>
                </a:solidFill>
                <a:latin typeface="Cambria"/>
                <a:cs typeface="Cambria"/>
              </a:rPr>
              <a:t>1:</a:t>
            </a:r>
            <a:endParaRPr sz="1000">
              <a:latin typeface="Cambria"/>
              <a:cs typeface="Cambria"/>
            </a:endParaRPr>
          </a:p>
          <a:p>
            <a:pPr marL="224790">
              <a:lnSpc>
                <a:spcPts val="1195"/>
              </a:lnSpc>
            </a:pPr>
            <a:r>
              <a:rPr dirty="0" sz="1000" spc="-10">
                <a:solidFill>
                  <a:srgbClr val="0000FF"/>
                </a:solidFill>
                <a:latin typeface="Cambria"/>
                <a:cs typeface="Cambria"/>
              </a:rPr>
              <a:t>987654321</a:t>
            </a:r>
            <a:endParaRPr sz="1000">
              <a:latin typeface="Cambria"/>
              <a:cs typeface="Cambria"/>
            </a:endParaRPr>
          </a:p>
          <a:p>
            <a:pPr algn="just" marL="756285" marR="6352540">
              <a:lnSpc>
                <a:spcPts val="1200"/>
              </a:lnSpc>
              <a:spcBef>
                <a:spcPts val="35"/>
              </a:spcBef>
            </a:pPr>
            <a:r>
              <a:rPr dirty="0" sz="1000" spc="145">
                <a:solidFill>
                  <a:srgbClr val="0000FF"/>
                </a:solidFill>
                <a:latin typeface="Cambria"/>
                <a:cs typeface="Cambria"/>
              </a:rPr>
              <a:t>I I </a:t>
            </a:r>
            <a:r>
              <a:rPr dirty="0" sz="1000" spc="-50">
                <a:solidFill>
                  <a:srgbClr val="0000FF"/>
                </a:solidFill>
                <a:latin typeface="Cambria"/>
                <a:cs typeface="Cambria"/>
              </a:rPr>
              <a:t>Z</a:t>
            </a:r>
            <a:r>
              <a:rPr dirty="0" sz="1000" spc="5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-145">
                <a:solidFill>
                  <a:srgbClr val="0000FF"/>
                </a:solidFill>
                <a:latin typeface="Cambria"/>
                <a:cs typeface="Cambria"/>
              </a:rPr>
              <a:t>A</a:t>
            </a:r>
            <a:r>
              <a:rPr dirty="0" sz="1000" spc="5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-80">
                <a:solidFill>
                  <a:srgbClr val="0000FF"/>
                </a:solidFill>
                <a:latin typeface="Cambria"/>
                <a:cs typeface="Cambria"/>
              </a:rPr>
              <a:t>P</a:t>
            </a:r>
            <a:r>
              <a:rPr dirty="0" sz="1000" spc="5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-95">
                <a:solidFill>
                  <a:srgbClr val="0000FF"/>
                </a:solidFill>
                <a:latin typeface="Cambria"/>
                <a:cs typeface="Cambria"/>
              </a:rPr>
              <a:t>E</a:t>
            </a:r>
            <a:endParaRPr sz="1000">
              <a:latin typeface="Cambria"/>
              <a:cs typeface="Cambria"/>
            </a:endParaRPr>
          </a:p>
          <a:p>
            <a:pPr marL="224790">
              <a:lnSpc>
                <a:spcPts val="1135"/>
              </a:lnSpc>
            </a:pPr>
            <a:r>
              <a:rPr dirty="0" sz="1000" spc="180">
                <a:solidFill>
                  <a:srgbClr val="0000FF"/>
                </a:solidFill>
                <a:latin typeface="Cambria"/>
                <a:cs typeface="Cambria"/>
              </a:rPr>
              <a:t>itd.</a:t>
            </a:r>
            <a:r>
              <a:rPr dirty="0" sz="1000" spc="3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do</a:t>
            </a:r>
            <a:r>
              <a:rPr dirty="0" sz="1000" spc="36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zadnjeg</a:t>
            </a:r>
            <a:r>
              <a:rPr dirty="0" sz="1000" spc="3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55">
                <a:solidFill>
                  <a:srgbClr val="0000FF"/>
                </a:solidFill>
                <a:latin typeface="Cambria"/>
                <a:cs typeface="Cambria"/>
              </a:rPr>
              <a:t>stupca</a:t>
            </a:r>
            <a:r>
              <a:rPr dirty="0" sz="1000" spc="36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120">
                <a:solidFill>
                  <a:srgbClr val="0000FF"/>
                </a:solidFill>
                <a:latin typeface="Cambria"/>
                <a:cs typeface="Cambria"/>
              </a:rPr>
              <a:t>koji</a:t>
            </a:r>
            <a:r>
              <a:rPr dirty="0" sz="1000" spc="3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145">
                <a:solidFill>
                  <a:srgbClr val="0000FF"/>
                </a:solidFill>
                <a:latin typeface="Cambria"/>
                <a:cs typeface="Cambria"/>
              </a:rPr>
              <a:t>je</a:t>
            </a:r>
            <a:r>
              <a:rPr dirty="0" sz="1000" spc="36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na</a:t>
            </a:r>
            <a:r>
              <a:rPr dirty="0" sz="1000" spc="3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mjestu</a:t>
            </a:r>
            <a:r>
              <a:rPr dirty="0" sz="1000" spc="36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9</a:t>
            </a:r>
            <a:r>
              <a:rPr dirty="0" sz="1000" spc="3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95">
                <a:solidFill>
                  <a:srgbClr val="0000FF"/>
                </a:solidFill>
                <a:latin typeface="Cambria"/>
                <a:cs typeface="Cambria"/>
              </a:rPr>
              <a:t>(prvi</a:t>
            </a:r>
            <a:r>
              <a:rPr dirty="0" sz="1000" spc="36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80">
                <a:solidFill>
                  <a:srgbClr val="0000FF"/>
                </a:solidFill>
                <a:latin typeface="Cambria"/>
                <a:cs typeface="Cambria"/>
              </a:rPr>
              <a:t>stupac):</a:t>
            </a:r>
            <a:endParaRPr sz="1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Cambria"/>
              <a:cs typeface="Cambria"/>
            </a:endParaRPr>
          </a:p>
          <a:p>
            <a:pPr algn="just" marL="224790" marR="6352540">
              <a:lnSpc>
                <a:spcPct val="100000"/>
              </a:lnSpc>
            </a:pPr>
            <a:r>
              <a:rPr dirty="0" sz="1000" spc="-40">
                <a:solidFill>
                  <a:srgbClr val="0000FF"/>
                </a:solidFill>
                <a:latin typeface="Cambria"/>
                <a:cs typeface="Cambria"/>
              </a:rPr>
              <a:t>987654321</a:t>
            </a:r>
            <a:r>
              <a:rPr dirty="0" sz="1000" spc="5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8333" sz="1500" spc="-112">
                <a:solidFill>
                  <a:srgbClr val="0000FF"/>
                </a:solidFill>
                <a:latin typeface="Cambria"/>
                <a:cs typeface="Cambria"/>
              </a:rPr>
              <a:t>ˇ</a:t>
            </a:r>
            <a:r>
              <a:rPr dirty="0" sz="1000" spc="-75">
                <a:solidFill>
                  <a:srgbClr val="0000FF"/>
                </a:solidFill>
                <a:latin typeface="Cambria"/>
                <a:cs typeface="Cambria"/>
              </a:rPr>
              <a:t>ZELIMDOBI</a:t>
            </a:r>
            <a:r>
              <a:rPr dirty="0" sz="1000" spc="-10">
                <a:solidFill>
                  <a:srgbClr val="0000FF"/>
                </a:solidFill>
                <a:latin typeface="Cambria"/>
                <a:cs typeface="Cambria"/>
              </a:rPr>
              <a:t> TIOCJENUI </a:t>
            </a:r>
            <a:r>
              <a:rPr dirty="0" sz="1000" spc="-45">
                <a:solidFill>
                  <a:srgbClr val="0000FF"/>
                </a:solidFill>
                <a:latin typeface="Cambria"/>
                <a:cs typeface="Cambria"/>
              </a:rPr>
              <a:t>ZVRSTANIZ</a:t>
            </a:r>
            <a:r>
              <a:rPr dirty="0" sz="1000" spc="50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-70">
                <a:solidFill>
                  <a:srgbClr val="0000FF"/>
                </a:solidFill>
                <a:latin typeface="Cambria"/>
                <a:cs typeface="Cambria"/>
              </a:rPr>
              <a:t>KRIPTOGRA</a:t>
            </a:r>
            <a:r>
              <a:rPr dirty="0" sz="1000" spc="40">
                <a:solidFill>
                  <a:srgbClr val="0000FF"/>
                </a:solidFill>
                <a:latin typeface="Cambria"/>
                <a:cs typeface="Cambria"/>
              </a:rPr>
              <a:t> FIJEIKRIP </a:t>
            </a:r>
            <a:r>
              <a:rPr dirty="0" sz="1000" spc="-60">
                <a:solidFill>
                  <a:srgbClr val="0000FF"/>
                </a:solidFill>
                <a:latin typeface="Cambria"/>
                <a:cs typeface="Cambria"/>
              </a:rPr>
              <a:t>TOANALIZE</a:t>
            </a:r>
            <a:endParaRPr sz="1000">
              <a:latin typeface="Cambria"/>
              <a:cs typeface="Cambria"/>
            </a:endParaRPr>
          </a:p>
          <a:p>
            <a:pPr marL="224790">
              <a:lnSpc>
                <a:spcPct val="100000"/>
              </a:lnSpc>
              <a:spcBef>
                <a:spcPts val="1165"/>
              </a:spcBef>
            </a:pPr>
            <a:r>
              <a:rPr dirty="0" sz="1000" spc="85">
                <a:solidFill>
                  <a:srgbClr val="0000FF"/>
                </a:solidFill>
                <a:latin typeface="Cambria"/>
                <a:cs typeface="Cambria"/>
              </a:rPr>
              <a:t>Izvorni</a:t>
            </a:r>
            <a:r>
              <a:rPr dirty="0" sz="1000" spc="30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125">
                <a:solidFill>
                  <a:srgbClr val="0000FF"/>
                </a:solidFill>
                <a:latin typeface="Cambria"/>
                <a:cs typeface="Cambria"/>
              </a:rPr>
              <a:t>tekst:</a:t>
            </a:r>
            <a:r>
              <a:rPr dirty="0" sz="1000" spc="32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8333" sz="1500" spc="-15">
                <a:solidFill>
                  <a:srgbClr val="0000FF"/>
                </a:solidFill>
                <a:latin typeface="Cambria"/>
                <a:cs typeface="Cambria"/>
              </a:rPr>
              <a:t>ˇ</a:t>
            </a:r>
            <a:r>
              <a:rPr dirty="0" sz="1000" spc="-10">
                <a:solidFill>
                  <a:srgbClr val="0000FF"/>
                </a:solidFill>
                <a:latin typeface="Cambria"/>
                <a:cs typeface="Cambria"/>
              </a:rPr>
              <a:t>ZELIMDOBITIOCJENUIZVRSTANIZKRIPTOGRAFIJEIKRIPTOANALIZE</a:t>
            </a:r>
            <a:endParaRPr sz="10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000">
              <a:latin typeface="Cambria"/>
              <a:cs typeface="Cambria"/>
            </a:endParaRPr>
          </a:p>
          <a:p>
            <a:pPr marL="222885" indent="-16002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22885" algn="l"/>
              </a:tabLst>
            </a:pPr>
            <a:r>
              <a:rPr dirty="0" sz="1000">
                <a:latin typeface="Georgia"/>
                <a:cs typeface="Georgia"/>
              </a:rPr>
              <a:t>(7</a:t>
            </a:r>
            <a:r>
              <a:rPr dirty="0" sz="1000" spc="12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bodova)</a:t>
            </a:r>
            <a:r>
              <a:rPr dirty="0" sz="1000" spc="130">
                <a:latin typeface="Georgia"/>
                <a:cs typeface="Georgia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Generatori</a:t>
            </a:r>
            <a:r>
              <a:rPr dirty="0" sz="1000" spc="145" i="1">
                <a:latin typeface="Palatino Linotype"/>
                <a:cs typeface="Palatino Linotype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pseudosluˇcajnih</a:t>
            </a:r>
            <a:r>
              <a:rPr dirty="0" sz="1000" spc="145" i="1">
                <a:latin typeface="Palatino Linotype"/>
                <a:cs typeface="Palatino Linotype"/>
              </a:rPr>
              <a:t> </a:t>
            </a:r>
            <a:r>
              <a:rPr dirty="0" sz="1000" spc="-10" i="1">
                <a:latin typeface="Palatino Linotype"/>
                <a:cs typeface="Palatino Linotype"/>
              </a:rPr>
              <a:t>brojeva</a:t>
            </a:r>
            <a:r>
              <a:rPr dirty="0" sz="1000" spc="-1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marL="224790">
              <a:lnSpc>
                <a:spcPct val="100000"/>
              </a:lnSpc>
              <a:spcBef>
                <a:spcPts val="390"/>
              </a:spcBef>
            </a:pPr>
            <a:r>
              <a:rPr dirty="0" sz="1000">
                <a:latin typeface="Georgia"/>
                <a:cs typeface="Georgia"/>
              </a:rPr>
              <a:t>Neka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155" i="1">
                <a:latin typeface="Calibri"/>
                <a:cs typeface="Calibri"/>
              </a:rPr>
              <a:t>G</a:t>
            </a:r>
            <a:r>
              <a:rPr dirty="0" sz="1000" spc="-120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: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320" i="1">
                <a:latin typeface="Calibri"/>
                <a:cs typeface="Calibri"/>
              </a:rPr>
              <a:t>K</a:t>
            </a:r>
            <a:r>
              <a:rPr dirty="0" sz="1000" spc="125" i="1">
                <a:latin typeface="Calibri"/>
                <a:cs typeface="Calibri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{</a:t>
            </a:r>
            <a:r>
              <a:rPr dirty="0" sz="1000">
                <a:latin typeface="Georgia"/>
                <a:cs typeface="Georgia"/>
              </a:rPr>
              <a:t>0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65" i="1">
                <a:latin typeface="Calibri"/>
                <a:cs typeface="Calibri"/>
              </a:rPr>
              <a:t> </a:t>
            </a:r>
            <a:r>
              <a:rPr dirty="0" sz="1000" spc="120">
                <a:latin typeface="Georgia"/>
                <a:cs typeface="Georgia"/>
              </a:rPr>
              <a:t>1</a:t>
            </a:r>
            <a:r>
              <a:rPr dirty="0" sz="1000" spc="120">
                <a:latin typeface="Lucida Sans Unicode"/>
                <a:cs typeface="Lucida Sans Unicode"/>
              </a:rPr>
              <a:t>}</a:t>
            </a:r>
            <a:r>
              <a:rPr dirty="0" baseline="27777" sz="1050" spc="179" i="1">
                <a:latin typeface="Calibri"/>
                <a:cs typeface="Calibri"/>
              </a:rPr>
              <a:t>n</a:t>
            </a:r>
            <a:r>
              <a:rPr dirty="0" baseline="27777" sz="1050" spc="345" i="1">
                <a:latin typeface="Calibri"/>
                <a:cs typeface="Calibri"/>
              </a:rPr>
              <a:t> </a:t>
            </a:r>
            <a:r>
              <a:rPr dirty="0" sz="1000" spc="-25">
                <a:latin typeface="Georgia"/>
                <a:cs typeface="Georgia"/>
              </a:rPr>
              <a:t>generator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pseudosl</a:t>
            </a:r>
            <a:r>
              <a:rPr dirty="0" sz="1000" spc="-55">
                <a:latin typeface="Georgia"/>
                <a:cs typeface="Georgia"/>
              </a:rPr>
              <a:t>u</a:t>
            </a:r>
            <a:r>
              <a:rPr dirty="0" sz="1000" spc="-500">
                <a:latin typeface="Georgia"/>
                <a:cs typeface="Georgia"/>
              </a:rPr>
              <a:t>ˇ</a:t>
            </a:r>
            <a:r>
              <a:rPr dirty="0" sz="1000" spc="-20">
                <a:latin typeface="Georgia"/>
                <a:cs typeface="Georgia"/>
              </a:rPr>
              <a:t>c</a:t>
            </a:r>
            <a:r>
              <a:rPr dirty="0" sz="1000" spc="5">
                <a:latin typeface="Georgia"/>
                <a:cs typeface="Georgia"/>
              </a:rPr>
              <a:t>a</a:t>
            </a:r>
            <a:r>
              <a:rPr dirty="0" sz="1000" spc="-30">
                <a:latin typeface="Georgia"/>
                <a:cs typeface="Georgia"/>
              </a:rPr>
              <a:t>jni</a:t>
            </a:r>
            <a:r>
              <a:rPr dirty="0" sz="1000" spc="-20">
                <a:latin typeface="Georgia"/>
                <a:cs typeface="Georgia"/>
              </a:rPr>
              <a:t>h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brojeva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(PRG)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 spc="165" i="1">
                <a:latin typeface="Calibri"/>
                <a:cs typeface="Calibri"/>
              </a:rPr>
              <a:t>A</a:t>
            </a:r>
            <a:r>
              <a:rPr dirty="0" sz="1000" spc="-120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: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{</a:t>
            </a:r>
            <a:r>
              <a:rPr dirty="0" sz="1000">
                <a:latin typeface="Georgia"/>
                <a:cs typeface="Georgia"/>
              </a:rPr>
              <a:t>0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120">
                <a:latin typeface="Georgia"/>
                <a:cs typeface="Georgia"/>
              </a:rPr>
              <a:t>1</a:t>
            </a:r>
            <a:r>
              <a:rPr dirty="0" sz="1000" spc="120">
                <a:latin typeface="Lucida Sans Unicode"/>
                <a:cs typeface="Lucida Sans Unicode"/>
              </a:rPr>
              <a:t>}</a:t>
            </a:r>
            <a:r>
              <a:rPr dirty="0" baseline="27777" sz="1050" spc="179" i="1">
                <a:latin typeface="Calibri"/>
                <a:cs typeface="Calibri"/>
              </a:rPr>
              <a:t>n</a:t>
            </a:r>
            <a:r>
              <a:rPr dirty="0" baseline="27777" sz="1050" spc="254" i="1">
                <a:latin typeface="Calibri"/>
                <a:cs typeface="Calibri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{</a:t>
            </a:r>
            <a:r>
              <a:rPr dirty="0" sz="1000">
                <a:latin typeface="Georgia"/>
                <a:cs typeface="Georgia"/>
              </a:rPr>
              <a:t>0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65" i="1">
                <a:latin typeface="Calibri"/>
                <a:cs typeface="Calibri"/>
              </a:rPr>
              <a:t> </a:t>
            </a:r>
            <a:r>
              <a:rPr dirty="0" sz="1000" spc="120">
                <a:latin typeface="Georgia"/>
                <a:cs typeface="Georgia"/>
              </a:rPr>
              <a:t>1</a:t>
            </a:r>
            <a:r>
              <a:rPr dirty="0" sz="1000" spc="120">
                <a:latin typeface="Lucida Sans Unicode"/>
                <a:cs typeface="Lucida Sans Unicode"/>
              </a:rPr>
              <a:t>}</a:t>
            </a:r>
            <a:r>
              <a:rPr dirty="0" sz="1000" spc="15">
                <a:latin typeface="Lucida Sans Unicode"/>
                <a:cs typeface="Lucida Sans Unicode"/>
              </a:rPr>
              <a:t> </a:t>
            </a:r>
            <a:r>
              <a:rPr dirty="0" sz="1000" spc="-45">
                <a:latin typeface="Georgia"/>
                <a:cs typeface="Georgia"/>
              </a:rPr>
              <a:t>statistiˇcki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test.</a:t>
            </a:r>
            <a:endParaRPr sz="1000">
              <a:latin typeface="Georgia"/>
              <a:cs typeface="Georgia"/>
            </a:endParaRPr>
          </a:p>
          <a:p>
            <a:pPr lvl="1" marL="500380" indent="-222250">
              <a:lnSpc>
                <a:spcPct val="100000"/>
              </a:lnSpc>
              <a:spcBef>
                <a:spcPts val="795"/>
              </a:spcBef>
              <a:buAutoNum type="alphaLcParenBoth"/>
              <a:tabLst>
                <a:tab pos="500380" algn="l"/>
              </a:tabLst>
            </a:pPr>
            <a:r>
              <a:rPr dirty="0" sz="1000">
                <a:latin typeface="Georgia"/>
                <a:cs typeface="Georgia"/>
              </a:rPr>
              <a:t>(1)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Formalno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definirajte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prednost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50">
                <a:latin typeface="Georgia"/>
                <a:cs typeface="Georgia"/>
              </a:rPr>
              <a:t>statistiˇckog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testa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165" i="1">
                <a:latin typeface="Calibri"/>
                <a:cs typeface="Calibri"/>
              </a:rPr>
              <a:t>A</a:t>
            </a:r>
            <a:r>
              <a:rPr dirty="0" sz="1000" spc="90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u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odnosu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PRG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50" i="1">
                <a:latin typeface="Calibri"/>
                <a:cs typeface="Calibri"/>
              </a:rPr>
              <a:t>G</a:t>
            </a:r>
            <a:r>
              <a:rPr dirty="0" sz="1000" spc="5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marL="502920" marR="43180">
              <a:lnSpc>
                <a:spcPct val="100000"/>
              </a:lnSpc>
              <a:spcBef>
                <a:spcPts val="195"/>
              </a:spcBef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Neka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55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000" spc="-12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:</a:t>
            </a:r>
            <a:r>
              <a:rPr dirty="0" sz="1000" spc="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32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000" spc="11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0000FF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4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Lucida Sans Unicode"/>
                <a:cs typeface="Lucida Sans Unicode"/>
              </a:rPr>
              <a:t>{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000" spc="-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12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dirty="0" sz="1000" spc="120">
                <a:solidFill>
                  <a:srgbClr val="0000FF"/>
                </a:solidFill>
                <a:latin typeface="Lucida Sans Unicode"/>
                <a:cs typeface="Lucida Sans Unicode"/>
              </a:rPr>
              <a:t>}</a:t>
            </a:r>
            <a:r>
              <a:rPr dirty="0" baseline="27777" sz="1050" spc="179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baseline="27777" sz="1050" spc="254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PRG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65" i="1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dirty="0" sz="1000" spc="-12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:</a:t>
            </a:r>
            <a:r>
              <a:rPr dirty="0" sz="1000" spc="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Lucida Sans Unicode"/>
                <a:cs typeface="Lucida Sans Unicode"/>
              </a:rPr>
              <a:t>{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000" spc="-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12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dirty="0" sz="1000" spc="120">
                <a:solidFill>
                  <a:srgbClr val="0000FF"/>
                </a:solidFill>
                <a:latin typeface="Lucida Sans Unicode"/>
                <a:cs typeface="Lucida Sans Unicode"/>
              </a:rPr>
              <a:t>}</a:t>
            </a:r>
            <a:r>
              <a:rPr dirty="0" baseline="27777" sz="1050" spc="179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baseline="27777" sz="1050" spc="24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0000FF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-4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Lucida Sans Unicode"/>
                <a:cs typeface="Lucida Sans Unicode"/>
              </a:rPr>
              <a:t>{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000" spc="-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12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dirty="0" sz="1000" spc="120">
                <a:solidFill>
                  <a:srgbClr val="0000FF"/>
                </a:solidFill>
                <a:latin typeface="Lucida Sans Unicode"/>
                <a:cs typeface="Lucida Sans Unicode"/>
              </a:rPr>
              <a:t>}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statisticki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test.</a:t>
            </a:r>
            <a:r>
              <a:rPr dirty="0" sz="1000" spc="1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Prednost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(advantage)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50">
                <a:solidFill>
                  <a:srgbClr val="0000FF"/>
                </a:solidFill>
                <a:latin typeface="Georgia"/>
                <a:cs typeface="Georgia"/>
              </a:rPr>
              <a:t>statistiˇckog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testa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65" i="1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dirty="0" sz="1000" spc="5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definiramo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kao:</a:t>
            </a:r>
            <a:r>
              <a:rPr dirty="0" sz="1000" spc="2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Adv</a:t>
            </a:r>
            <a:r>
              <a:rPr dirty="0" baseline="-11904" sz="1050">
                <a:solidFill>
                  <a:srgbClr val="0000FF"/>
                </a:solidFill>
                <a:latin typeface="Arial MT"/>
                <a:cs typeface="Arial MT"/>
              </a:rPr>
              <a:t>PRG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A,</a:t>
            </a:r>
            <a:r>
              <a:rPr dirty="0" sz="1000" spc="-5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80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baseline="2777" sz="1500" spc="75">
                <a:solidFill>
                  <a:srgbClr val="0000FF"/>
                </a:solidFill>
                <a:latin typeface="Georgia"/>
                <a:cs typeface="Georgia"/>
              </a:rPr>
              <a:t>: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== </a:t>
            </a:r>
            <a:r>
              <a:rPr dirty="0" sz="1000" spc="130">
                <a:solidFill>
                  <a:srgbClr val="0000FF"/>
                </a:solidFill>
                <a:latin typeface="Lucida Sans Unicode"/>
                <a:cs typeface="Lucida Sans Unicode"/>
              </a:rPr>
              <a:t>|</a:t>
            </a:r>
            <a:r>
              <a:rPr dirty="0" sz="1000" spc="130" i="1">
                <a:solidFill>
                  <a:srgbClr val="0000FF"/>
                </a:solidFill>
                <a:latin typeface="Calibri"/>
                <a:cs typeface="Calibri"/>
              </a:rPr>
              <a:t>P</a:t>
            </a:r>
            <a:r>
              <a:rPr dirty="0" baseline="-11904" sz="1050" spc="19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baseline="-11904" sz="1050" spc="195">
                <a:solidFill>
                  <a:srgbClr val="0000FF"/>
                </a:solidFill>
                <a:latin typeface="Cambria"/>
                <a:cs typeface="Cambria"/>
              </a:rPr>
              <a:t>←</a:t>
            </a:r>
            <a:r>
              <a:rPr dirty="0" baseline="-11904" sz="1050" spc="19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baseline="-11904" sz="1050" spc="-82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55" i="1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55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5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))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1)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dirty="0" sz="1000" spc="-8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100" i="1">
                <a:solidFill>
                  <a:srgbClr val="0000FF"/>
                </a:solidFill>
                <a:latin typeface="Calibri"/>
                <a:cs typeface="Calibri"/>
              </a:rPr>
              <a:t>P</a:t>
            </a:r>
            <a:r>
              <a:rPr dirty="0" baseline="-15873" sz="1050" spc="150" i="1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dirty="0" baseline="-15873" sz="1050" spc="150">
                <a:solidFill>
                  <a:srgbClr val="0000FF"/>
                </a:solidFill>
                <a:latin typeface="Cambria"/>
                <a:cs typeface="Cambria"/>
              </a:rPr>
              <a:t>←{</a:t>
            </a:r>
            <a:r>
              <a:rPr dirty="0" baseline="-15873" sz="1050" spc="1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5873" sz="1050" spc="15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baseline="-15873" sz="1050" spc="150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baseline="-15873" sz="1050" spc="150">
                <a:solidFill>
                  <a:srgbClr val="0000FF"/>
                </a:solidFill>
                <a:latin typeface="Cambria"/>
                <a:cs typeface="Cambria"/>
              </a:rPr>
              <a:t>}</a:t>
            </a:r>
            <a:r>
              <a:rPr dirty="0" sz="500" spc="100" i="1">
                <a:solidFill>
                  <a:srgbClr val="0000FF"/>
                </a:solidFill>
                <a:latin typeface="Verdana"/>
                <a:cs typeface="Verdana"/>
              </a:rPr>
              <a:t>n</a:t>
            </a:r>
            <a:r>
              <a:rPr dirty="0" sz="500" spc="-75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60" i="1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60" i="1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1)</a:t>
            </a:r>
            <a:r>
              <a:rPr dirty="0" sz="1000" spc="-25">
                <a:solidFill>
                  <a:srgbClr val="0000FF"/>
                </a:solidFill>
                <a:latin typeface="Lucida Sans Unicode"/>
                <a:cs typeface="Lucida Sans Unicode"/>
              </a:rPr>
              <a:t>|</a:t>
            </a:r>
            <a:endParaRPr sz="1000">
              <a:latin typeface="Lucida Sans Unicode"/>
              <a:cs typeface="Lucida Sans Unicode"/>
            </a:endParaRPr>
          </a:p>
          <a:p>
            <a:pPr lvl="1" marL="500380" indent="-229235">
              <a:lnSpc>
                <a:spcPct val="100000"/>
              </a:lnSpc>
              <a:spcBef>
                <a:spcPts val="390"/>
              </a:spcBef>
              <a:buAutoNum type="alphaLcParenBoth" startAt="2"/>
              <a:tabLst>
                <a:tab pos="500380" algn="l"/>
              </a:tabLst>
            </a:pPr>
            <a:r>
              <a:rPr dirty="0" sz="1000">
                <a:latin typeface="Georgia"/>
                <a:cs typeface="Georgia"/>
              </a:rPr>
              <a:t>(1)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Kad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spc="-90">
                <a:latin typeface="Georgia"/>
                <a:cs typeface="Georgia"/>
              </a:rPr>
              <a:t>kaˇzemo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da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spc="155" i="1">
                <a:latin typeface="Calibri"/>
                <a:cs typeface="Calibri"/>
              </a:rPr>
              <a:t>G</a:t>
            </a:r>
            <a:r>
              <a:rPr dirty="0" sz="1000" spc="100" i="1">
                <a:latin typeface="Calibri"/>
                <a:cs typeface="Calibri"/>
              </a:rPr>
              <a:t> </a:t>
            </a:r>
            <a:r>
              <a:rPr dirty="0" sz="1000" spc="-20">
                <a:latin typeface="Georgia"/>
                <a:cs typeface="Georgia"/>
              </a:rPr>
              <a:t>siguran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PRG?</a:t>
            </a:r>
            <a:endParaRPr sz="1000">
              <a:latin typeface="Georgia"/>
              <a:cs typeface="Georgia"/>
            </a:endParaRPr>
          </a:p>
          <a:p>
            <a:pPr marL="502920">
              <a:lnSpc>
                <a:spcPct val="100000"/>
              </a:lnSpc>
              <a:spcBef>
                <a:spcPts val="195"/>
              </a:spcBef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Ako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svaki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efikasni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70">
                <a:solidFill>
                  <a:srgbClr val="0000FF"/>
                </a:solidFill>
                <a:latin typeface="Georgia"/>
                <a:cs typeface="Georgia"/>
              </a:rPr>
              <a:t>napadaˇc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(statisticki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test)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ima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zanemarivo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malu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prednost.</a:t>
            </a:r>
            <a:endParaRPr sz="1000">
              <a:latin typeface="Georgia"/>
              <a:cs typeface="Georgia"/>
            </a:endParaRPr>
          </a:p>
          <a:p>
            <a:pPr lvl="1" marL="499745" marR="3136900" indent="-215265">
              <a:lnSpc>
                <a:spcPct val="116199"/>
              </a:lnSpc>
              <a:spcBef>
                <a:spcPts val="200"/>
              </a:spcBef>
              <a:buAutoNum type="alphaLcParenBoth" startAt="3"/>
              <a:tabLst>
                <a:tab pos="502920" algn="l"/>
              </a:tabLst>
            </a:pPr>
            <a:r>
              <a:rPr dirty="0" sz="1000">
                <a:latin typeface="Georgia"/>
                <a:cs typeface="Georgia"/>
              </a:rPr>
              <a:t>(1)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Koja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veza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izmedu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(ne)predvidivosti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sigurnosti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PRG-</a:t>
            </a:r>
            <a:r>
              <a:rPr dirty="0" sz="1000" spc="-20">
                <a:latin typeface="Georgia"/>
                <a:cs typeface="Georgia"/>
              </a:rPr>
              <a:t>ova. </a:t>
            </a:r>
            <a:r>
              <a:rPr dirty="0" sz="1000" spc="-20">
                <a:latin typeface="Georgia"/>
                <a:cs typeface="Georgia"/>
              </a:rPr>
              <a:t>	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PRG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siguran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ako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samo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ako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nepredvidiv.</a:t>
            </a:r>
            <a:endParaRPr sz="1000">
              <a:latin typeface="Georgia"/>
              <a:cs typeface="Georgia"/>
            </a:endParaRPr>
          </a:p>
          <a:p>
            <a:pPr lvl="1" marL="499745" marR="259715" indent="-229235">
              <a:lnSpc>
                <a:spcPct val="116199"/>
              </a:lnSpc>
              <a:spcBef>
                <a:spcPts val="200"/>
              </a:spcBef>
              <a:buAutoNum type="alphaLcParenBoth" startAt="3"/>
              <a:tabLst>
                <a:tab pos="502920" algn="l"/>
              </a:tabLst>
            </a:pPr>
            <a:r>
              <a:rPr dirty="0" sz="1000">
                <a:latin typeface="Georgia"/>
                <a:cs typeface="Georgia"/>
              </a:rPr>
              <a:t>(1) Nabrojite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barem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dvije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85">
                <a:latin typeface="Georgia"/>
                <a:cs typeface="Georgia"/>
              </a:rPr>
              <a:t>protoˇcne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-100">
                <a:latin typeface="Georgia"/>
                <a:cs typeface="Georgia"/>
              </a:rPr>
              <a:t>ˇsifre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koriˇstene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u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praksi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od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kojih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barem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jedna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sigurna.</a:t>
            </a:r>
            <a:r>
              <a:rPr dirty="0" sz="1000" spc="1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Ne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trebate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ih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opisivati. </a:t>
            </a:r>
            <a:r>
              <a:rPr dirty="0" sz="1000" spc="-10">
                <a:latin typeface="Georgia"/>
                <a:cs typeface="Georgia"/>
              </a:rPr>
              <a:t>	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siguran: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Salsa20/ChaCha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(siguran);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30">
                <a:solidFill>
                  <a:srgbClr val="0000FF"/>
                </a:solidFill>
                <a:latin typeface="Georgia"/>
                <a:cs typeface="Georgia"/>
              </a:rPr>
              <a:t>nesigurni:</a:t>
            </a:r>
            <a:r>
              <a:rPr dirty="0" sz="1000" spc="1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RC4,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CSS,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Linear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congruental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generator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(LCG)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220"/>
              </a:spcBef>
            </a:pPr>
            <a:r>
              <a:rPr dirty="0" spc="20"/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99082" y="3877106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4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390867" y="261624"/>
            <a:ext cx="7146925" cy="4023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74345" marR="31115" indent="-215265">
              <a:lnSpc>
                <a:spcPct val="100000"/>
              </a:lnSpc>
              <a:spcBef>
                <a:spcPts val="95"/>
              </a:spcBef>
              <a:buAutoNum type="alphaLcParenBoth" startAt="5"/>
              <a:tabLst>
                <a:tab pos="477520" algn="l"/>
              </a:tabLst>
            </a:pPr>
            <a:r>
              <a:rPr dirty="0" sz="1000">
                <a:latin typeface="Georgia"/>
                <a:cs typeface="Georgia"/>
              </a:rPr>
              <a:t>(3)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Pretpostavite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da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spc="155" i="1">
                <a:latin typeface="Calibri"/>
                <a:cs typeface="Calibri"/>
              </a:rPr>
              <a:t>G</a:t>
            </a:r>
            <a:r>
              <a:rPr dirty="0" sz="1000" spc="100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siguran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generator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pseudosl</a:t>
            </a:r>
            <a:r>
              <a:rPr dirty="0" sz="1000" spc="-50">
                <a:latin typeface="Georgia"/>
                <a:cs typeface="Georgia"/>
              </a:rPr>
              <a:t>u</a:t>
            </a:r>
            <a:r>
              <a:rPr dirty="0" sz="1000" spc="-495">
                <a:latin typeface="Georgia"/>
                <a:cs typeface="Georgia"/>
              </a:rPr>
              <a:t>ˇ</a:t>
            </a:r>
            <a:r>
              <a:rPr dirty="0" sz="1000" spc="-15">
                <a:latin typeface="Georgia"/>
                <a:cs typeface="Georgia"/>
              </a:rPr>
              <a:t>c</a:t>
            </a:r>
            <a:r>
              <a:rPr dirty="0" sz="1000" spc="10">
                <a:latin typeface="Georgia"/>
                <a:cs typeface="Georgia"/>
              </a:rPr>
              <a:t>a</a:t>
            </a:r>
            <a:r>
              <a:rPr dirty="0" sz="1000" spc="-25">
                <a:latin typeface="Georgia"/>
                <a:cs typeface="Georgia"/>
              </a:rPr>
              <a:t>jni</a:t>
            </a:r>
            <a:r>
              <a:rPr dirty="0" sz="1000" spc="-15">
                <a:latin typeface="Georgia"/>
                <a:cs typeface="Georgia"/>
              </a:rPr>
              <a:t>h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brojeva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koji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generira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nizove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bitova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u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skupu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{</a:t>
            </a:r>
            <a:r>
              <a:rPr dirty="0" sz="1000">
                <a:latin typeface="Georgia"/>
                <a:cs typeface="Georgia"/>
              </a:rPr>
              <a:t>0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55" i="1">
                <a:latin typeface="Calibri"/>
                <a:cs typeface="Calibri"/>
              </a:rPr>
              <a:t> </a:t>
            </a:r>
            <a:r>
              <a:rPr dirty="0" sz="1000" spc="100">
                <a:latin typeface="Georgia"/>
                <a:cs typeface="Georgia"/>
              </a:rPr>
              <a:t>1</a:t>
            </a:r>
            <a:r>
              <a:rPr dirty="0" sz="1000" spc="100">
                <a:latin typeface="Lucida Sans Unicode"/>
                <a:cs typeface="Lucida Sans Unicode"/>
              </a:rPr>
              <a:t>}</a:t>
            </a:r>
            <a:r>
              <a:rPr dirty="0" baseline="27777" sz="1050" spc="150" i="1">
                <a:latin typeface="Calibri"/>
                <a:cs typeface="Calibri"/>
              </a:rPr>
              <a:t>n</a:t>
            </a:r>
            <a:r>
              <a:rPr dirty="0" sz="1000" spc="100">
                <a:latin typeface="Georgia"/>
                <a:cs typeface="Georgia"/>
              </a:rPr>
              <a:t>.</a:t>
            </a:r>
            <a:r>
              <a:rPr dirty="0" sz="1000" spc="29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Za- </a:t>
            </a:r>
            <a:r>
              <a:rPr dirty="0" sz="1000" spc="-25">
                <a:latin typeface="Georgia"/>
                <a:cs typeface="Georgia"/>
              </a:rPr>
              <a:t>	</a:t>
            </a:r>
            <a:r>
              <a:rPr dirty="0" sz="1000" spc="-60">
                <a:latin typeface="Georgia"/>
                <a:cs typeface="Georgia"/>
              </a:rPr>
              <a:t>okruˇzite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45">
                <a:latin typeface="Georgia"/>
                <a:cs typeface="Georgia"/>
              </a:rPr>
              <a:t>obrazloˇzite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koji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od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60">
                <a:latin typeface="Georgia"/>
                <a:cs typeface="Georgia"/>
              </a:rPr>
              <a:t>sljede´cih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generatora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pseudosl</a:t>
            </a:r>
            <a:r>
              <a:rPr dirty="0" sz="1000" spc="-50">
                <a:latin typeface="Georgia"/>
                <a:cs typeface="Georgia"/>
              </a:rPr>
              <a:t>u</a:t>
            </a:r>
            <a:r>
              <a:rPr dirty="0" sz="1000" spc="-495">
                <a:latin typeface="Georgia"/>
                <a:cs typeface="Georgia"/>
              </a:rPr>
              <a:t>ˇ</a:t>
            </a:r>
            <a:r>
              <a:rPr dirty="0" sz="1000" spc="-15">
                <a:latin typeface="Georgia"/>
                <a:cs typeface="Georgia"/>
              </a:rPr>
              <a:t>c</a:t>
            </a:r>
            <a:r>
              <a:rPr dirty="0" sz="1000" spc="10">
                <a:latin typeface="Georgia"/>
                <a:cs typeface="Georgia"/>
              </a:rPr>
              <a:t>a</a:t>
            </a:r>
            <a:r>
              <a:rPr dirty="0" sz="1000" spc="-25">
                <a:latin typeface="Georgia"/>
                <a:cs typeface="Georgia"/>
              </a:rPr>
              <a:t>jni</a:t>
            </a:r>
            <a:r>
              <a:rPr dirty="0" sz="1000" spc="-15">
                <a:latin typeface="Georgia"/>
                <a:cs typeface="Georgia"/>
              </a:rPr>
              <a:t>h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brojeva,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izvedenih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iz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75" i="1">
                <a:latin typeface="Calibri"/>
                <a:cs typeface="Calibri"/>
              </a:rPr>
              <a:t>G</a:t>
            </a:r>
            <a:r>
              <a:rPr dirty="0" sz="1000" spc="75">
                <a:latin typeface="Georgia"/>
                <a:cs typeface="Georgia"/>
              </a:rPr>
              <a:t>,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su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nesigurni?</a:t>
            </a:r>
            <a:r>
              <a:rPr dirty="0" sz="1000" spc="21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Ovdje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“</a:t>
            </a:r>
            <a:r>
              <a:rPr dirty="0" sz="1000" spc="-25">
                <a:latin typeface="Lucida Sans Unicode"/>
                <a:cs typeface="Lucida Sans Unicode"/>
              </a:rPr>
              <a:t>∥</a:t>
            </a:r>
            <a:r>
              <a:rPr dirty="0" sz="1000" spc="-25">
                <a:latin typeface="Georgia"/>
                <a:cs typeface="Georgia"/>
              </a:rPr>
              <a:t>” </a:t>
            </a:r>
            <a:r>
              <a:rPr dirty="0" sz="1000" spc="-25">
                <a:latin typeface="Georgia"/>
                <a:cs typeface="Georgia"/>
              </a:rPr>
              <a:t>	</a:t>
            </a:r>
            <a:r>
              <a:rPr dirty="0" sz="1000">
                <a:latin typeface="Georgia"/>
                <a:cs typeface="Georgia"/>
              </a:rPr>
              <a:t>operacija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nadovezivanja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(konkatenacije),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“</a:t>
            </a:r>
            <a:r>
              <a:rPr dirty="0" sz="1000">
                <a:latin typeface="Lucida Sans Unicode"/>
                <a:cs typeface="Lucida Sans Unicode"/>
              </a:rPr>
              <a:t>∧</a:t>
            </a:r>
            <a:r>
              <a:rPr dirty="0" sz="1000">
                <a:latin typeface="Georgia"/>
                <a:cs typeface="Georgia"/>
              </a:rPr>
              <a:t>”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bitovna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 spc="-80">
                <a:latin typeface="Georgia"/>
                <a:cs typeface="Georgia"/>
              </a:rPr>
              <a:t>logiˇcka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konjunkcija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(</a:t>
            </a:r>
            <a:r>
              <a:rPr dirty="0" sz="1000" i="1">
                <a:latin typeface="Palatino Linotype"/>
                <a:cs typeface="Palatino Linotype"/>
              </a:rPr>
              <a:t>bitwise</a:t>
            </a:r>
            <a:r>
              <a:rPr dirty="0" sz="1000" spc="80" i="1">
                <a:latin typeface="Palatino Linotype"/>
                <a:cs typeface="Palatino Linotype"/>
              </a:rPr>
              <a:t> </a:t>
            </a:r>
            <a:r>
              <a:rPr dirty="0" sz="1000">
                <a:latin typeface="Tahoma"/>
                <a:cs typeface="Tahoma"/>
              </a:rPr>
              <a:t>AND</a:t>
            </a:r>
            <a:r>
              <a:rPr dirty="0" sz="1000">
                <a:latin typeface="Georgia"/>
                <a:cs typeface="Georgia"/>
              </a:rPr>
              <a:t>),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a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“</a:t>
            </a:r>
            <a:r>
              <a:rPr dirty="0" sz="1000">
                <a:latin typeface="Lucida Sans Unicode"/>
                <a:cs typeface="Lucida Sans Unicode"/>
              </a:rPr>
              <a:t>⊕</a:t>
            </a:r>
            <a:r>
              <a:rPr dirty="0" sz="1000">
                <a:latin typeface="Georgia"/>
                <a:cs typeface="Georgia"/>
              </a:rPr>
              <a:t>”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operacija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 spc="-35">
                <a:latin typeface="Georgia"/>
                <a:cs typeface="Georgia"/>
              </a:rPr>
              <a:t>ekskluzivno-</a:t>
            </a:r>
            <a:r>
              <a:rPr dirty="0" sz="1000" spc="-25">
                <a:latin typeface="Georgia"/>
                <a:cs typeface="Georgia"/>
              </a:rPr>
              <a:t>ili </a:t>
            </a:r>
            <a:r>
              <a:rPr dirty="0" sz="1000" spc="-25">
                <a:latin typeface="Georgia"/>
                <a:cs typeface="Georgia"/>
              </a:rPr>
              <a:t>	</a:t>
            </a:r>
            <a:r>
              <a:rPr dirty="0" sz="1000" spc="-10">
                <a:latin typeface="Georgia"/>
                <a:cs typeface="Georgia"/>
              </a:rPr>
              <a:t>(</a:t>
            </a:r>
            <a:r>
              <a:rPr dirty="0" sz="1000" spc="-10">
                <a:latin typeface="Tahoma"/>
                <a:cs typeface="Tahoma"/>
              </a:rPr>
              <a:t>XOR</a:t>
            </a:r>
            <a:r>
              <a:rPr dirty="0" sz="1000" spc="-10">
                <a:latin typeface="Georgia"/>
                <a:cs typeface="Georgia"/>
              </a:rPr>
              <a:t>).</a:t>
            </a:r>
            <a:endParaRPr sz="1000">
              <a:latin typeface="Georgia"/>
              <a:cs typeface="Georgia"/>
            </a:endParaRPr>
          </a:p>
          <a:p>
            <a:pPr lvl="1" marL="712470" indent="-131445">
              <a:lnSpc>
                <a:spcPct val="100000"/>
              </a:lnSpc>
              <a:spcBef>
                <a:spcPts val="580"/>
              </a:spcBef>
              <a:buFont typeface="Georgia"/>
              <a:buAutoNum type="romanLcPeriod"/>
              <a:tabLst>
                <a:tab pos="712470" algn="l"/>
              </a:tabLst>
            </a:pPr>
            <a:r>
              <a:rPr dirty="0" sz="1000" spc="55" i="1">
                <a:latin typeface="Calibri"/>
                <a:cs typeface="Calibri"/>
              </a:rPr>
              <a:t>G</a:t>
            </a:r>
            <a:r>
              <a:rPr dirty="0" baseline="-11904" sz="1050" spc="82">
                <a:latin typeface="Roboto"/>
                <a:cs typeface="Roboto"/>
              </a:rPr>
              <a:t>1</a:t>
            </a:r>
            <a:r>
              <a:rPr dirty="0" sz="1000" spc="55">
                <a:latin typeface="Georgia"/>
                <a:cs typeface="Georgia"/>
              </a:rPr>
              <a:t>(</a:t>
            </a:r>
            <a:r>
              <a:rPr dirty="0" sz="1000" spc="55" i="1">
                <a:latin typeface="Calibri"/>
                <a:cs typeface="Calibri"/>
              </a:rPr>
              <a:t>s</a:t>
            </a:r>
            <a:r>
              <a:rPr dirty="0" baseline="-11904" sz="1050" spc="82">
                <a:latin typeface="Roboto"/>
                <a:cs typeface="Roboto"/>
              </a:rPr>
              <a:t>1</a:t>
            </a:r>
            <a:r>
              <a:rPr dirty="0" baseline="-11904" sz="1050" spc="195">
                <a:latin typeface="Roboto"/>
                <a:cs typeface="Roboto"/>
              </a:rPr>
              <a:t> </a:t>
            </a:r>
            <a:r>
              <a:rPr dirty="0" sz="1000" spc="-90">
                <a:latin typeface="Lucida Sans Unicode"/>
                <a:cs typeface="Lucida Sans Unicode"/>
              </a:rPr>
              <a:t>∥</a:t>
            </a:r>
            <a:r>
              <a:rPr dirty="0" sz="1000" spc="-6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Calibri"/>
                <a:cs typeface="Calibri"/>
              </a:rPr>
              <a:t>s</a:t>
            </a:r>
            <a:r>
              <a:rPr dirty="0" baseline="-11904" sz="1050">
                <a:latin typeface="Roboto"/>
                <a:cs typeface="Roboto"/>
              </a:rPr>
              <a:t>2</a:t>
            </a:r>
            <a:r>
              <a:rPr dirty="0" sz="1000">
                <a:latin typeface="Georgia"/>
                <a:cs typeface="Georgia"/>
              </a:rPr>
              <a:t>)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baseline="2777" sz="1500">
                <a:latin typeface="Georgia"/>
                <a:cs typeface="Georgia"/>
              </a:rPr>
              <a:t>:</a:t>
            </a:r>
            <a:r>
              <a:rPr dirty="0" sz="1000">
                <a:latin typeface="Georgia"/>
                <a:cs typeface="Georgia"/>
              </a:rPr>
              <a:t>=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55" i="1">
                <a:latin typeface="Calibri"/>
                <a:cs typeface="Calibri"/>
              </a:rPr>
              <a:t>G</a:t>
            </a:r>
            <a:r>
              <a:rPr dirty="0" sz="1000" spc="55">
                <a:latin typeface="Georgia"/>
                <a:cs typeface="Georgia"/>
              </a:rPr>
              <a:t>(</a:t>
            </a:r>
            <a:r>
              <a:rPr dirty="0" sz="1000" spc="55" i="1">
                <a:latin typeface="Calibri"/>
                <a:cs typeface="Calibri"/>
              </a:rPr>
              <a:t>s</a:t>
            </a:r>
            <a:r>
              <a:rPr dirty="0" baseline="-11904" sz="1050" spc="82">
                <a:latin typeface="Roboto"/>
                <a:cs typeface="Roboto"/>
              </a:rPr>
              <a:t>1</a:t>
            </a:r>
            <a:r>
              <a:rPr dirty="0" sz="1000" spc="55">
                <a:latin typeface="Georgia"/>
                <a:cs typeface="Georgia"/>
              </a:rPr>
              <a:t>)</a:t>
            </a:r>
            <a:r>
              <a:rPr dirty="0" sz="1000" spc="10">
                <a:latin typeface="Georgia"/>
                <a:cs typeface="Georgi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⊕</a:t>
            </a:r>
            <a:r>
              <a:rPr dirty="0" sz="1000" spc="-70">
                <a:latin typeface="Lucida Sans Unicode"/>
                <a:cs typeface="Lucida Sans Unicode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G</a:t>
            </a:r>
            <a:r>
              <a:rPr dirty="0" sz="1000" spc="-10">
                <a:latin typeface="Georgia"/>
                <a:cs typeface="Georgia"/>
              </a:rPr>
              <a:t>(</a:t>
            </a:r>
            <a:r>
              <a:rPr dirty="0" sz="1000" spc="-10" i="1">
                <a:latin typeface="Calibri"/>
                <a:cs typeface="Calibri"/>
              </a:rPr>
              <a:t>s</a:t>
            </a:r>
            <a:r>
              <a:rPr dirty="0" baseline="-11904" sz="1050" spc="-15">
                <a:latin typeface="Roboto"/>
                <a:cs typeface="Roboto"/>
              </a:rPr>
              <a:t>2</a:t>
            </a:r>
            <a:r>
              <a:rPr dirty="0" sz="1000" spc="-10">
                <a:latin typeface="Georgia"/>
                <a:cs typeface="Georgia"/>
              </a:rPr>
              <a:t>).</a:t>
            </a:r>
            <a:endParaRPr sz="1000">
              <a:latin typeface="Georgia"/>
              <a:cs typeface="Georgia"/>
            </a:endParaRPr>
          </a:p>
          <a:p>
            <a:pPr lvl="1" marL="711835" indent="-166370">
              <a:lnSpc>
                <a:spcPct val="100000"/>
              </a:lnSpc>
              <a:spcBef>
                <a:spcPts val="195"/>
              </a:spcBef>
              <a:buFont typeface="Georgia"/>
              <a:buAutoNum type="romanLcPeriod"/>
              <a:tabLst>
                <a:tab pos="711835" algn="l"/>
              </a:tabLst>
            </a:pPr>
            <a:r>
              <a:rPr dirty="0" sz="1000" spc="55" i="1">
                <a:latin typeface="Calibri"/>
                <a:cs typeface="Calibri"/>
              </a:rPr>
              <a:t>G</a:t>
            </a:r>
            <a:r>
              <a:rPr dirty="0" baseline="-11904" sz="1050" spc="82">
                <a:latin typeface="Roboto"/>
                <a:cs typeface="Roboto"/>
              </a:rPr>
              <a:t>2</a:t>
            </a:r>
            <a:r>
              <a:rPr dirty="0" sz="1000" spc="55">
                <a:latin typeface="Georgia"/>
                <a:cs typeface="Georgia"/>
              </a:rPr>
              <a:t>(</a:t>
            </a:r>
            <a:r>
              <a:rPr dirty="0" sz="1000" spc="55" i="1">
                <a:latin typeface="Calibri"/>
                <a:cs typeface="Calibri"/>
              </a:rPr>
              <a:t>s</a:t>
            </a:r>
            <a:r>
              <a:rPr dirty="0" sz="1000" spc="55">
                <a:latin typeface="Georgia"/>
                <a:cs typeface="Georgia"/>
              </a:rPr>
              <a:t>)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baseline="2777" sz="1500">
                <a:latin typeface="Georgia"/>
                <a:cs typeface="Georgia"/>
              </a:rPr>
              <a:t>:</a:t>
            </a:r>
            <a:r>
              <a:rPr dirty="0" sz="1000">
                <a:latin typeface="Georgia"/>
                <a:cs typeface="Georgia"/>
              </a:rPr>
              <a:t>=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60" i="1">
                <a:latin typeface="Calibri"/>
                <a:cs typeface="Calibri"/>
              </a:rPr>
              <a:t>G</a:t>
            </a:r>
            <a:r>
              <a:rPr dirty="0" sz="1000" spc="60">
                <a:latin typeface="Georgia"/>
                <a:cs typeface="Georgia"/>
              </a:rPr>
              <a:t>(</a:t>
            </a:r>
            <a:r>
              <a:rPr dirty="0" sz="1000" spc="60" i="1">
                <a:latin typeface="Calibri"/>
                <a:cs typeface="Calibri"/>
              </a:rPr>
              <a:t>s</a:t>
            </a:r>
            <a:r>
              <a:rPr dirty="0" sz="1000" spc="60">
                <a:latin typeface="Georgia"/>
                <a:cs typeface="Georgia"/>
              </a:rPr>
              <a:t>)</a:t>
            </a:r>
            <a:r>
              <a:rPr dirty="0" sz="1000" spc="-5">
                <a:latin typeface="Georgia"/>
                <a:cs typeface="Georgia"/>
              </a:rPr>
              <a:t> </a:t>
            </a:r>
            <a:r>
              <a:rPr dirty="0" sz="1000" spc="-90">
                <a:latin typeface="Lucida Sans Unicode"/>
                <a:cs typeface="Lucida Sans Unicode"/>
              </a:rPr>
              <a:t>∥</a:t>
            </a:r>
            <a:r>
              <a:rPr dirty="0" sz="1000" spc="-80">
                <a:latin typeface="Lucida Sans Unicode"/>
                <a:cs typeface="Lucida Sans Unicode"/>
              </a:rPr>
              <a:t> </a:t>
            </a:r>
            <a:r>
              <a:rPr dirty="0" sz="1000" spc="-20" i="1">
                <a:latin typeface="Calibri"/>
                <a:cs typeface="Calibri"/>
              </a:rPr>
              <a:t>G</a:t>
            </a:r>
            <a:r>
              <a:rPr dirty="0" sz="1000" spc="-20">
                <a:latin typeface="Georgia"/>
                <a:cs typeface="Georgia"/>
              </a:rPr>
              <a:t>(</a:t>
            </a:r>
            <a:r>
              <a:rPr dirty="0" sz="1000" spc="-20" i="1">
                <a:latin typeface="Calibri"/>
                <a:cs typeface="Calibri"/>
              </a:rPr>
              <a:t>s</a:t>
            </a:r>
            <a:r>
              <a:rPr dirty="0" sz="1000" spc="-20">
                <a:latin typeface="Georgia"/>
                <a:cs typeface="Georgia"/>
              </a:rPr>
              <a:t>).</a:t>
            </a:r>
            <a:endParaRPr sz="1000">
              <a:latin typeface="Georgia"/>
              <a:cs typeface="Georgia"/>
            </a:endParaRPr>
          </a:p>
          <a:p>
            <a:pPr lvl="1" marL="711200" indent="-200660">
              <a:lnSpc>
                <a:spcPct val="100000"/>
              </a:lnSpc>
              <a:spcBef>
                <a:spcPts val="195"/>
              </a:spcBef>
              <a:buFont typeface="Georgia"/>
              <a:buAutoNum type="romanLcPeriod"/>
              <a:tabLst>
                <a:tab pos="711200" algn="l"/>
              </a:tabLst>
            </a:pPr>
            <a:r>
              <a:rPr dirty="0" sz="1000" spc="55" i="1">
                <a:latin typeface="Calibri"/>
                <a:cs typeface="Calibri"/>
              </a:rPr>
              <a:t>G</a:t>
            </a:r>
            <a:r>
              <a:rPr dirty="0" baseline="-11904" sz="1050" spc="82">
                <a:latin typeface="Roboto"/>
                <a:cs typeface="Roboto"/>
              </a:rPr>
              <a:t>3</a:t>
            </a:r>
            <a:r>
              <a:rPr dirty="0" sz="1000" spc="55">
                <a:latin typeface="Georgia"/>
                <a:cs typeface="Georgia"/>
              </a:rPr>
              <a:t>(</a:t>
            </a:r>
            <a:r>
              <a:rPr dirty="0" sz="1000" spc="55" i="1">
                <a:latin typeface="Calibri"/>
                <a:cs typeface="Calibri"/>
              </a:rPr>
              <a:t>s</a:t>
            </a:r>
            <a:r>
              <a:rPr dirty="0" sz="1000" spc="55">
                <a:latin typeface="Georgia"/>
                <a:cs typeface="Georgia"/>
              </a:rPr>
              <a:t>)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baseline="2777" sz="1500">
                <a:latin typeface="Georgia"/>
                <a:cs typeface="Georgia"/>
              </a:rPr>
              <a:t>:</a:t>
            </a:r>
            <a:r>
              <a:rPr dirty="0" sz="1000">
                <a:latin typeface="Georgia"/>
                <a:cs typeface="Georgia"/>
              </a:rPr>
              <a:t>=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60" i="1">
                <a:latin typeface="Calibri"/>
                <a:cs typeface="Calibri"/>
              </a:rPr>
              <a:t>G</a:t>
            </a:r>
            <a:r>
              <a:rPr dirty="0" sz="1000" spc="60">
                <a:latin typeface="Georgia"/>
                <a:cs typeface="Georgia"/>
              </a:rPr>
              <a:t>(</a:t>
            </a:r>
            <a:r>
              <a:rPr dirty="0" sz="1000" spc="60" i="1">
                <a:latin typeface="Calibri"/>
                <a:cs typeface="Calibri"/>
              </a:rPr>
              <a:t>s</a:t>
            </a:r>
            <a:r>
              <a:rPr dirty="0" sz="1000" spc="60">
                <a:latin typeface="Georgia"/>
                <a:cs typeface="Georgia"/>
              </a:rPr>
              <a:t>)</a:t>
            </a:r>
            <a:r>
              <a:rPr dirty="0" sz="1000" spc="-5">
                <a:latin typeface="Georgia"/>
                <a:cs typeface="Georgi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⊕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 spc="55">
                <a:latin typeface="Georgia"/>
                <a:cs typeface="Georgia"/>
              </a:rPr>
              <a:t>1</a:t>
            </a:r>
            <a:r>
              <a:rPr dirty="0" baseline="27777" sz="1050" spc="82" i="1">
                <a:latin typeface="Calibri"/>
                <a:cs typeface="Calibri"/>
              </a:rPr>
              <a:t>n</a:t>
            </a:r>
            <a:r>
              <a:rPr dirty="0" sz="1000" spc="55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lvl="1" marL="711835" indent="-197485">
              <a:lnSpc>
                <a:spcPct val="100000"/>
              </a:lnSpc>
              <a:spcBef>
                <a:spcPts val="195"/>
              </a:spcBef>
              <a:buFont typeface="Georgia"/>
              <a:buAutoNum type="romanLcPeriod"/>
              <a:tabLst>
                <a:tab pos="711835" algn="l"/>
              </a:tabLst>
            </a:pPr>
            <a:r>
              <a:rPr dirty="0" sz="1000" spc="55" i="1">
                <a:latin typeface="Calibri"/>
                <a:cs typeface="Calibri"/>
              </a:rPr>
              <a:t>G</a:t>
            </a:r>
            <a:r>
              <a:rPr dirty="0" baseline="-11904" sz="1050" spc="82">
                <a:latin typeface="Roboto"/>
                <a:cs typeface="Roboto"/>
              </a:rPr>
              <a:t>4</a:t>
            </a:r>
            <a:r>
              <a:rPr dirty="0" sz="1000" spc="55">
                <a:latin typeface="Georgia"/>
                <a:cs typeface="Georgia"/>
              </a:rPr>
              <a:t>(</a:t>
            </a:r>
            <a:r>
              <a:rPr dirty="0" sz="1000" spc="55" i="1">
                <a:latin typeface="Calibri"/>
                <a:cs typeface="Calibri"/>
              </a:rPr>
              <a:t>s</a:t>
            </a:r>
            <a:r>
              <a:rPr dirty="0" sz="1000" spc="55">
                <a:latin typeface="Georgia"/>
                <a:cs typeface="Georgia"/>
              </a:rPr>
              <a:t>)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baseline="2777" sz="1500">
                <a:latin typeface="Georgia"/>
                <a:cs typeface="Georgia"/>
              </a:rPr>
              <a:t>:</a:t>
            </a:r>
            <a:r>
              <a:rPr dirty="0" sz="1000">
                <a:latin typeface="Georgia"/>
                <a:cs typeface="Georgia"/>
              </a:rPr>
              <a:t>=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60" i="1">
                <a:latin typeface="Calibri"/>
                <a:cs typeface="Calibri"/>
              </a:rPr>
              <a:t>G</a:t>
            </a:r>
            <a:r>
              <a:rPr dirty="0" sz="1000" spc="60">
                <a:latin typeface="Georgia"/>
                <a:cs typeface="Georgia"/>
              </a:rPr>
              <a:t>(</a:t>
            </a:r>
            <a:r>
              <a:rPr dirty="0" sz="1000" spc="60" i="1">
                <a:latin typeface="Calibri"/>
                <a:cs typeface="Calibri"/>
              </a:rPr>
              <a:t>s</a:t>
            </a:r>
            <a:r>
              <a:rPr dirty="0" sz="1000" spc="60">
                <a:latin typeface="Georgia"/>
                <a:cs typeface="Georgia"/>
              </a:rPr>
              <a:t>)</a:t>
            </a:r>
            <a:r>
              <a:rPr dirty="0" sz="1000" spc="-5">
                <a:latin typeface="Georgia"/>
                <a:cs typeface="Georgi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⊕</a:t>
            </a:r>
            <a:r>
              <a:rPr dirty="0" sz="1000" spc="-85">
                <a:latin typeface="Lucida Sans Unicode"/>
                <a:cs typeface="Lucida Sans Unicode"/>
              </a:rPr>
              <a:t> </a:t>
            </a:r>
            <a:r>
              <a:rPr dirty="0" sz="1000" spc="-20" i="1">
                <a:latin typeface="Calibri"/>
                <a:cs typeface="Calibri"/>
              </a:rPr>
              <a:t>G</a:t>
            </a:r>
            <a:r>
              <a:rPr dirty="0" sz="1000" spc="-20">
                <a:latin typeface="Georgia"/>
                <a:cs typeface="Georgia"/>
              </a:rPr>
              <a:t>(</a:t>
            </a:r>
            <a:r>
              <a:rPr dirty="0" sz="1000" spc="-20" i="1">
                <a:latin typeface="Calibri"/>
                <a:cs typeface="Calibri"/>
              </a:rPr>
              <a:t>s</a:t>
            </a:r>
            <a:r>
              <a:rPr dirty="0" sz="1000" spc="-20">
                <a:latin typeface="Georgia"/>
                <a:cs typeface="Georgia"/>
              </a:rPr>
              <a:t>).</a:t>
            </a:r>
            <a:endParaRPr sz="1000">
              <a:latin typeface="Georgia"/>
              <a:cs typeface="Georgia"/>
            </a:endParaRPr>
          </a:p>
          <a:p>
            <a:pPr lvl="1" marL="712470" indent="-163195">
              <a:lnSpc>
                <a:spcPct val="100000"/>
              </a:lnSpc>
              <a:spcBef>
                <a:spcPts val="195"/>
              </a:spcBef>
              <a:buFont typeface="Georgia"/>
              <a:buAutoNum type="romanLcPeriod"/>
              <a:tabLst>
                <a:tab pos="712470" algn="l"/>
              </a:tabLst>
            </a:pPr>
            <a:r>
              <a:rPr dirty="0" sz="1000" spc="55" i="1">
                <a:latin typeface="Calibri"/>
                <a:cs typeface="Calibri"/>
              </a:rPr>
              <a:t>G</a:t>
            </a:r>
            <a:r>
              <a:rPr dirty="0" baseline="-11904" sz="1050" spc="82">
                <a:latin typeface="Roboto"/>
                <a:cs typeface="Roboto"/>
              </a:rPr>
              <a:t>5</a:t>
            </a:r>
            <a:r>
              <a:rPr dirty="0" sz="1000" spc="55">
                <a:latin typeface="Georgia"/>
                <a:cs typeface="Georgia"/>
              </a:rPr>
              <a:t>(</a:t>
            </a:r>
            <a:r>
              <a:rPr dirty="0" sz="1000" spc="55" i="1">
                <a:latin typeface="Calibri"/>
                <a:cs typeface="Calibri"/>
              </a:rPr>
              <a:t>s</a:t>
            </a:r>
            <a:r>
              <a:rPr dirty="0" baseline="-11904" sz="1050" spc="82">
                <a:latin typeface="Roboto"/>
                <a:cs typeface="Roboto"/>
              </a:rPr>
              <a:t>1</a:t>
            </a:r>
            <a:r>
              <a:rPr dirty="0" baseline="-11904" sz="1050" spc="195">
                <a:latin typeface="Roboto"/>
                <a:cs typeface="Roboto"/>
              </a:rPr>
              <a:t> </a:t>
            </a:r>
            <a:r>
              <a:rPr dirty="0" sz="1000" spc="-90">
                <a:latin typeface="Lucida Sans Unicode"/>
                <a:cs typeface="Lucida Sans Unicode"/>
              </a:rPr>
              <a:t>∥</a:t>
            </a:r>
            <a:r>
              <a:rPr dirty="0" sz="1000" spc="-6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Calibri"/>
                <a:cs typeface="Calibri"/>
              </a:rPr>
              <a:t>s</a:t>
            </a:r>
            <a:r>
              <a:rPr dirty="0" baseline="-11904" sz="1050">
                <a:latin typeface="Roboto"/>
                <a:cs typeface="Roboto"/>
              </a:rPr>
              <a:t>2</a:t>
            </a:r>
            <a:r>
              <a:rPr dirty="0" sz="1000">
                <a:latin typeface="Georgia"/>
                <a:cs typeface="Georgia"/>
              </a:rPr>
              <a:t>)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baseline="2777" sz="1500">
                <a:latin typeface="Georgia"/>
                <a:cs typeface="Georgia"/>
              </a:rPr>
              <a:t>:</a:t>
            </a:r>
            <a:r>
              <a:rPr dirty="0" sz="1000">
                <a:latin typeface="Georgia"/>
                <a:cs typeface="Georgia"/>
              </a:rPr>
              <a:t>=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55" i="1">
                <a:latin typeface="Calibri"/>
                <a:cs typeface="Calibri"/>
              </a:rPr>
              <a:t>G</a:t>
            </a:r>
            <a:r>
              <a:rPr dirty="0" sz="1000" spc="55">
                <a:latin typeface="Georgia"/>
                <a:cs typeface="Georgia"/>
              </a:rPr>
              <a:t>(</a:t>
            </a:r>
            <a:r>
              <a:rPr dirty="0" sz="1000" spc="55" i="1">
                <a:latin typeface="Calibri"/>
                <a:cs typeface="Calibri"/>
              </a:rPr>
              <a:t>s</a:t>
            </a:r>
            <a:r>
              <a:rPr dirty="0" baseline="-11904" sz="1050" spc="82">
                <a:latin typeface="Roboto"/>
                <a:cs typeface="Roboto"/>
              </a:rPr>
              <a:t>1</a:t>
            </a:r>
            <a:r>
              <a:rPr dirty="0" sz="1000" spc="55">
                <a:latin typeface="Georgia"/>
                <a:cs typeface="Georgia"/>
              </a:rPr>
              <a:t>)</a:t>
            </a:r>
            <a:r>
              <a:rPr dirty="0" sz="1000" spc="10">
                <a:latin typeface="Georgia"/>
                <a:cs typeface="Georgia"/>
              </a:rPr>
              <a:t> </a:t>
            </a:r>
            <a:r>
              <a:rPr dirty="0" sz="1000" spc="-145">
                <a:latin typeface="Lucida Sans Unicode"/>
                <a:cs typeface="Lucida Sans Unicode"/>
              </a:rPr>
              <a:t>∧</a:t>
            </a:r>
            <a:r>
              <a:rPr dirty="0" sz="1000" spc="-75">
                <a:latin typeface="Lucida Sans Unicode"/>
                <a:cs typeface="Lucida Sans Unicode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G</a:t>
            </a:r>
            <a:r>
              <a:rPr dirty="0" sz="1000" spc="-10">
                <a:latin typeface="Georgia"/>
                <a:cs typeface="Georgia"/>
              </a:rPr>
              <a:t>(</a:t>
            </a:r>
            <a:r>
              <a:rPr dirty="0" sz="1000" spc="-10" i="1">
                <a:latin typeface="Calibri"/>
                <a:cs typeface="Calibri"/>
              </a:rPr>
              <a:t>s</a:t>
            </a:r>
            <a:r>
              <a:rPr dirty="0" baseline="-11904" sz="1050" spc="-15">
                <a:latin typeface="Roboto"/>
                <a:cs typeface="Roboto"/>
              </a:rPr>
              <a:t>2</a:t>
            </a:r>
            <a:r>
              <a:rPr dirty="0" sz="1000" spc="-10">
                <a:latin typeface="Georgia"/>
                <a:cs typeface="Georgia"/>
              </a:rPr>
              <a:t>).</a:t>
            </a:r>
            <a:endParaRPr sz="1000">
              <a:latin typeface="Georgia"/>
              <a:cs typeface="Georgia"/>
            </a:endParaRPr>
          </a:p>
          <a:p>
            <a:pPr lvl="1" marL="711835" indent="-197485">
              <a:lnSpc>
                <a:spcPct val="100000"/>
              </a:lnSpc>
              <a:spcBef>
                <a:spcPts val="195"/>
              </a:spcBef>
              <a:buFont typeface="Georgia"/>
              <a:buAutoNum type="romanLcPeriod"/>
              <a:tabLst>
                <a:tab pos="711835" algn="l"/>
              </a:tabLst>
            </a:pPr>
            <a:r>
              <a:rPr dirty="0" sz="1000" spc="55" i="1">
                <a:latin typeface="Calibri"/>
                <a:cs typeface="Calibri"/>
              </a:rPr>
              <a:t>G</a:t>
            </a:r>
            <a:r>
              <a:rPr dirty="0" baseline="-11904" sz="1050" spc="82">
                <a:latin typeface="Roboto"/>
                <a:cs typeface="Roboto"/>
              </a:rPr>
              <a:t>6</a:t>
            </a:r>
            <a:r>
              <a:rPr dirty="0" sz="1000" spc="55">
                <a:latin typeface="Georgia"/>
                <a:cs typeface="Georgia"/>
              </a:rPr>
              <a:t>(</a:t>
            </a:r>
            <a:r>
              <a:rPr dirty="0" sz="1000" spc="55" i="1">
                <a:latin typeface="Calibri"/>
                <a:cs typeface="Calibri"/>
              </a:rPr>
              <a:t>s</a:t>
            </a:r>
            <a:r>
              <a:rPr dirty="0" baseline="-11904" sz="1050" spc="82">
                <a:latin typeface="Roboto"/>
                <a:cs typeface="Roboto"/>
              </a:rPr>
              <a:t>1</a:t>
            </a:r>
            <a:r>
              <a:rPr dirty="0" baseline="-11904" sz="1050" spc="202">
                <a:latin typeface="Roboto"/>
                <a:cs typeface="Roboto"/>
              </a:rPr>
              <a:t> </a:t>
            </a:r>
            <a:r>
              <a:rPr dirty="0" sz="1000" spc="-90">
                <a:latin typeface="Lucida Sans Unicode"/>
                <a:cs typeface="Lucida Sans Unicode"/>
              </a:rPr>
              <a:t>∥</a:t>
            </a:r>
            <a:r>
              <a:rPr dirty="0" sz="1000" spc="-55">
                <a:latin typeface="Lucida Sans Unicode"/>
                <a:cs typeface="Lucida Sans Unicode"/>
              </a:rPr>
              <a:t> </a:t>
            </a:r>
            <a:r>
              <a:rPr dirty="0" sz="1000" i="1">
                <a:latin typeface="Calibri"/>
                <a:cs typeface="Calibri"/>
              </a:rPr>
              <a:t>s</a:t>
            </a:r>
            <a:r>
              <a:rPr dirty="0" baseline="-11904" sz="1050">
                <a:latin typeface="Roboto"/>
                <a:cs typeface="Roboto"/>
              </a:rPr>
              <a:t>2</a:t>
            </a:r>
            <a:r>
              <a:rPr dirty="0" sz="1000">
                <a:latin typeface="Georgia"/>
                <a:cs typeface="Georgia"/>
              </a:rPr>
              <a:t>)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baseline="2777" sz="1500">
                <a:latin typeface="Georgia"/>
                <a:cs typeface="Georgia"/>
              </a:rPr>
              <a:t>:</a:t>
            </a:r>
            <a:r>
              <a:rPr dirty="0" sz="1000">
                <a:latin typeface="Georgia"/>
                <a:cs typeface="Georgia"/>
              </a:rPr>
              <a:t>=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i="1">
                <a:latin typeface="Calibri"/>
                <a:cs typeface="Calibri"/>
              </a:rPr>
              <a:t>s</a:t>
            </a:r>
            <a:r>
              <a:rPr dirty="0" baseline="-11904" sz="1050">
                <a:latin typeface="Roboto"/>
                <a:cs typeface="Roboto"/>
              </a:rPr>
              <a:t>1</a:t>
            </a:r>
            <a:r>
              <a:rPr dirty="0" baseline="-11904" sz="1050" spc="202">
                <a:latin typeface="Roboto"/>
                <a:cs typeface="Roboto"/>
              </a:rPr>
              <a:t> </a:t>
            </a:r>
            <a:r>
              <a:rPr dirty="0" sz="1000" spc="-90">
                <a:latin typeface="Lucida Sans Unicode"/>
                <a:cs typeface="Lucida Sans Unicode"/>
              </a:rPr>
              <a:t>∥</a:t>
            </a:r>
            <a:r>
              <a:rPr dirty="0" sz="1000" spc="-55">
                <a:latin typeface="Lucida Sans Unicode"/>
                <a:cs typeface="Lucida Sans Unicode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G</a:t>
            </a:r>
            <a:r>
              <a:rPr dirty="0" sz="1000" spc="-10">
                <a:latin typeface="Georgia"/>
                <a:cs typeface="Georgia"/>
              </a:rPr>
              <a:t>(</a:t>
            </a:r>
            <a:r>
              <a:rPr dirty="0" sz="1000" spc="-10" i="1">
                <a:latin typeface="Calibri"/>
                <a:cs typeface="Calibri"/>
              </a:rPr>
              <a:t>s</a:t>
            </a:r>
            <a:r>
              <a:rPr dirty="0" baseline="-11904" sz="1050" spc="-15">
                <a:latin typeface="Roboto"/>
                <a:cs typeface="Roboto"/>
              </a:rPr>
              <a:t>2</a:t>
            </a:r>
            <a:r>
              <a:rPr dirty="0" sz="1000" spc="-10">
                <a:latin typeface="Georgia"/>
                <a:cs typeface="Georgia"/>
              </a:rPr>
              <a:t>).</a:t>
            </a:r>
            <a:endParaRPr sz="1000">
              <a:latin typeface="Georgia"/>
              <a:cs typeface="Georgia"/>
            </a:endParaRPr>
          </a:p>
          <a:p>
            <a:pPr marL="712470" indent="-131445">
              <a:lnSpc>
                <a:spcPct val="100000"/>
              </a:lnSpc>
              <a:spcBef>
                <a:spcPts val="690"/>
              </a:spcBef>
              <a:buAutoNum type="romanLcPeriod"/>
              <a:tabLst>
                <a:tab pos="712470" algn="l"/>
              </a:tabLst>
            </a:pP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Ne</a:t>
            </a:r>
            <a:endParaRPr sz="1000">
              <a:latin typeface="Georgia"/>
              <a:cs typeface="Georgia"/>
            </a:endParaRPr>
          </a:p>
          <a:p>
            <a:pPr marL="711835" indent="-166370">
              <a:lnSpc>
                <a:spcPct val="100000"/>
              </a:lnSpc>
              <a:spcBef>
                <a:spcPts val="195"/>
              </a:spcBef>
              <a:buAutoNum type="romanLcPeriod"/>
              <a:tabLst>
                <a:tab pos="711835" algn="l"/>
              </a:tabLst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Da.</a:t>
            </a:r>
            <a:r>
              <a:rPr dirty="0" sz="1000" spc="114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Napadac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moze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usporediti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prvi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drugi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dio.</a:t>
            </a:r>
            <a:endParaRPr sz="1000">
              <a:latin typeface="Georgia"/>
              <a:cs typeface="Georgia"/>
            </a:endParaRPr>
          </a:p>
          <a:p>
            <a:pPr marL="711200" indent="-200660">
              <a:lnSpc>
                <a:spcPct val="100000"/>
              </a:lnSpc>
              <a:spcBef>
                <a:spcPts val="195"/>
              </a:spcBef>
              <a:buAutoNum type="romanLcPeriod"/>
              <a:tabLst>
                <a:tab pos="711200" algn="l"/>
              </a:tabLst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Ne.</a:t>
            </a:r>
            <a:r>
              <a:rPr dirty="0" sz="1000" spc="1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To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samo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komplement</a:t>
            </a:r>
            <a:endParaRPr sz="1000">
              <a:latin typeface="Georgia"/>
              <a:cs typeface="Georgia"/>
            </a:endParaRPr>
          </a:p>
          <a:p>
            <a:pPr marL="711835" indent="-197485">
              <a:lnSpc>
                <a:spcPct val="100000"/>
              </a:lnSpc>
              <a:spcBef>
                <a:spcPts val="195"/>
              </a:spcBef>
              <a:buAutoNum type="romanLcPeriod"/>
              <a:tabLst>
                <a:tab pos="711835" algn="l"/>
              </a:tabLst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Da.</a:t>
            </a:r>
            <a:r>
              <a:rPr dirty="0" sz="1000" spc="1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Sve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se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XOR-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a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u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0.</a:t>
            </a:r>
            <a:endParaRPr sz="1000">
              <a:latin typeface="Georgia"/>
              <a:cs typeface="Georgia"/>
            </a:endParaRPr>
          </a:p>
          <a:p>
            <a:pPr marL="711835" marR="31115" indent="-163195">
              <a:lnSpc>
                <a:spcPct val="100000"/>
              </a:lnSpc>
              <a:spcBef>
                <a:spcPts val="195"/>
              </a:spcBef>
              <a:buAutoNum type="romanLcPeriod"/>
              <a:tabLst>
                <a:tab pos="714375" algn="l"/>
              </a:tabLst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Da.</a:t>
            </a:r>
            <a:r>
              <a:rPr dirty="0" sz="1000" spc="3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Za</a:t>
            </a:r>
            <a:r>
              <a:rPr dirty="0" sz="1000" spc="1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jedinicu</a:t>
            </a:r>
            <a:r>
              <a:rPr dirty="0" sz="1000" spc="1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u</a:t>
            </a:r>
            <a:r>
              <a:rPr dirty="0" sz="1000" spc="1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75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baseline="-11904" sz="1050" spc="112">
                <a:solidFill>
                  <a:srgbClr val="0000FF"/>
                </a:solidFill>
                <a:latin typeface="Roboto"/>
                <a:cs typeface="Roboto"/>
              </a:rPr>
              <a:t>4</a:t>
            </a:r>
            <a:r>
              <a:rPr dirty="0" baseline="-11904" sz="1050" spc="390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trebamo</a:t>
            </a:r>
            <a:r>
              <a:rPr dirty="0" sz="1000" spc="1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imati</a:t>
            </a:r>
            <a:r>
              <a:rPr dirty="0" sz="1000" spc="1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jedinicu</a:t>
            </a:r>
            <a:r>
              <a:rPr dirty="0" sz="1000" spc="1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u</a:t>
            </a:r>
            <a:r>
              <a:rPr dirty="0" sz="1000" spc="1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55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55" i="1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dirty="0" baseline="-11904" sz="1050" spc="82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1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1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jedinicu</a:t>
            </a:r>
            <a:r>
              <a:rPr dirty="0" sz="1000" spc="1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u</a:t>
            </a:r>
            <a:r>
              <a:rPr dirty="0" sz="1000" spc="1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2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).</a:t>
            </a:r>
            <a:r>
              <a:rPr dirty="0" sz="1000" spc="3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Dakle,</a:t>
            </a:r>
            <a:r>
              <a:rPr dirty="0" sz="1000" spc="1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udio</a:t>
            </a:r>
            <a:r>
              <a:rPr dirty="0" sz="1000" spc="1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jedinica</a:t>
            </a:r>
            <a:r>
              <a:rPr dirty="0" sz="1000" spc="1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1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biti</a:t>
            </a:r>
            <a:r>
              <a:rPr dirty="0" sz="1000" spc="1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/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4,</a:t>
            </a:r>
            <a:r>
              <a:rPr dirty="0" sz="1000" spc="1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a</a:t>
            </a:r>
            <a:r>
              <a:rPr dirty="0" sz="1000" spc="1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kod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	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slucajnog</a:t>
            </a:r>
            <a:r>
              <a:rPr dirty="0" sz="1000" spc="1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niza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priblizno</a:t>
            </a:r>
            <a:r>
              <a:rPr dirty="0" sz="1000" spc="1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dirty="0" sz="1000" spc="-20" i="1">
                <a:solidFill>
                  <a:srgbClr val="0000FF"/>
                </a:solidFill>
                <a:latin typeface="Calibri"/>
                <a:cs typeface="Calibri"/>
              </a:rPr>
              <a:t>/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2.</a:t>
            </a:r>
            <a:endParaRPr sz="1000">
              <a:latin typeface="Georgia"/>
              <a:cs typeface="Georgia"/>
            </a:endParaRPr>
          </a:p>
          <a:p>
            <a:pPr marL="711835" indent="-197485">
              <a:lnSpc>
                <a:spcPct val="100000"/>
              </a:lnSpc>
              <a:spcBef>
                <a:spcPts val="190"/>
              </a:spcBef>
              <a:buAutoNum type="romanLcPeriod"/>
              <a:tabLst>
                <a:tab pos="711835" algn="l"/>
              </a:tabLst>
            </a:pP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Ne.</a:t>
            </a:r>
            <a:endParaRPr sz="1000">
              <a:latin typeface="Georgia"/>
              <a:cs typeface="Georgia"/>
            </a:endParaRPr>
          </a:p>
          <a:p>
            <a:pPr marL="198120" indent="-160020">
              <a:lnSpc>
                <a:spcPct val="100000"/>
              </a:lnSpc>
              <a:spcBef>
                <a:spcPts val="1090"/>
              </a:spcBef>
              <a:buAutoNum type="arabicPeriod" startAt="3"/>
              <a:tabLst>
                <a:tab pos="198120" algn="l"/>
              </a:tabLst>
            </a:pPr>
            <a:r>
              <a:rPr dirty="0" sz="1000">
                <a:latin typeface="Georgia"/>
                <a:cs typeface="Georgia"/>
              </a:rPr>
              <a:t>(5</a:t>
            </a:r>
            <a:r>
              <a:rPr dirty="0" sz="1000" spc="14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bodova)</a:t>
            </a:r>
            <a:r>
              <a:rPr dirty="0" sz="1000" spc="150">
                <a:latin typeface="Georgia"/>
                <a:cs typeface="Georgia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Varijante</a:t>
            </a:r>
            <a:r>
              <a:rPr dirty="0" sz="1000" spc="170" i="1">
                <a:latin typeface="Palatino Linotype"/>
                <a:cs typeface="Palatino Linotype"/>
              </a:rPr>
              <a:t> </a:t>
            </a:r>
            <a:r>
              <a:rPr dirty="0" sz="1000" spc="-10" i="1">
                <a:latin typeface="Palatino Linotype"/>
                <a:cs typeface="Palatino Linotype"/>
              </a:rPr>
              <a:t>naˇcina</a:t>
            </a:r>
            <a:r>
              <a:rPr dirty="0" sz="1000" spc="170" i="1">
                <a:latin typeface="Palatino Linotype"/>
                <a:cs typeface="Palatino Linotype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kriptiranja</a:t>
            </a:r>
            <a:r>
              <a:rPr dirty="0" sz="1000" spc="170" i="1">
                <a:latin typeface="Palatino Linotype"/>
                <a:cs typeface="Palatino Linotype"/>
              </a:rPr>
              <a:t> </a:t>
            </a:r>
            <a:r>
              <a:rPr dirty="0" sz="1000" spc="-20" i="1">
                <a:latin typeface="Palatino Linotype"/>
                <a:cs typeface="Palatino Linotype"/>
              </a:rPr>
              <a:t>CBC</a:t>
            </a:r>
            <a:r>
              <a:rPr dirty="0" sz="1000" spc="-2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algn="just" lvl="1" marL="474345" marR="30480" indent="-222250">
              <a:lnSpc>
                <a:spcPct val="100000"/>
              </a:lnSpc>
              <a:spcBef>
                <a:spcPts val="795"/>
              </a:spcBef>
              <a:buAutoNum type="alphaLcParenBoth"/>
              <a:tabLst>
                <a:tab pos="477520" algn="l"/>
              </a:tabLst>
            </a:pPr>
            <a:r>
              <a:rPr dirty="0" sz="1000">
                <a:latin typeface="Georgia"/>
                <a:cs typeface="Georgia"/>
              </a:rPr>
              <a:t>(2)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Jedan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problem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naˇcinom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kriptiranja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>
                <a:latin typeface="Tahoma"/>
                <a:cs typeface="Tahoma"/>
              </a:rPr>
              <a:t>CBC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da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poruke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moraju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biti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nadopunjene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kako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bi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bile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spc="-45">
                <a:latin typeface="Georgia"/>
                <a:cs typeface="Georgia"/>
              </a:rPr>
              <a:t>viˇsekratnik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duljine </a:t>
            </a:r>
            <a:r>
              <a:rPr dirty="0" sz="1000" spc="-10">
                <a:latin typeface="Georgia"/>
                <a:cs typeface="Georgia"/>
              </a:rPr>
              <a:t>	</a:t>
            </a:r>
            <a:r>
              <a:rPr dirty="0" sz="1000">
                <a:latin typeface="Georgia"/>
                <a:cs typeface="Georgia"/>
              </a:rPr>
              <a:t>bloka.</a:t>
            </a:r>
            <a:r>
              <a:rPr dirty="0" sz="1000" spc="3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Takoder,</a:t>
            </a:r>
            <a:r>
              <a:rPr dirty="0" sz="1000" spc="12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ponekad</a:t>
            </a:r>
            <a:r>
              <a:rPr dirty="0" sz="1000" spc="10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10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potrebno</a:t>
            </a:r>
            <a:r>
              <a:rPr dirty="0" sz="1000" spc="11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dodati</a:t>
            </a:r>
            <a:r>
              <a:rPr dirty="0" sz="1000" spc="10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jedan</a:t>
            </a:r>
            <a:r>
              <a:rPr dirty="0" sz="1000" spc="10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cijeli</a:t>
            </a:r>
            <a:r>
              <a:rPr dirty="0" sz="1000" spc="110">
                <a:latin typeface="Georgia"/>
                <a:cs typeface="Georgia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dummy</a:t>
            </a:r>
            <a:r>
              <a:rPr dirty="0" sz="1000" spc="145" i="1">
                <a:latin typeface="Palatino Linotype"/>
                <a:cs typeface="Palatino Linotype"/>
              </a:rPr>
              <a:t> </a:t>
            </a:r>
            <a:r>
              <a:rPr dirty="0" sz="1000">
                <a:latin typeface="Georgia"/>
                <a:cs typeface="Georgia"/>
              </a:rPr>
              <a:t>blok</a:t>
            </a:r>
            <a:r>
              <a:rPr dirty="0" sz="1000" spc="10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na</a:t>
            </a:r>
            <a:r>
              <a:rPr dirty="0" sz="1000" spc="10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kraj</a:t>
            </a:r>
            <a:r>
              <a:rPr dirty="0" sz="1000" spc="10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kako</a:t>
            </a:r>
            <a:r>
              <a:rPr dirty="0" sz="1000" spc="10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bi</a:t>
            </a:r>
            <a:r>
              <a:rPr dirty="0" sz="1000" spc="10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se</a:t>
            </a:r>
            <a:r>
              <a:rPr dirty="0" sz="1000" spc="110">
                <a:latin typeface="Georgia"/>
                <a:cs typeface="Georgia"/>
              </a:rPr>
              <a:t> </a:t>
            </a:r>
            <a:r>
              <a:rPr dirty="0" sz="1000" spc="-45">
                <a:latin typeface="Georgia"/>
                <a:cs typeface="Georgia"/>
              </a:rPr>
              <a:t>razrijeˇsila</a:t>
            </a:r>
            <a:r>
              <a:rPr dirty="0" sz="1000" spc="10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nejednoznaˇcnost </a:t>
            </a:r>
            <a:r>
              <a:rPr dirty="0" sz="1000" spc="-25">
                <a:latin typeface="Georgia"/>
                <a:cs typeface="Georgia"/>
              </a:rPr>
              <a:t>	</a:t>
            </a:r>
            <a:r>
              <a:rPr dirty="0" sz="1000" spc="-10">
                <a:latin typeface="Georgia"/>
                <a:cs typeface="Georgia"/>
              </a:rPr>
              <a:t>prilikom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dekripcije</a:t>
            </a:r>
            <a:r>
              <a:rPr dirty="0" sz="1000" spc="10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(npr.</a:t>
            </a:r>
            <a:r>
              <a:rPr dirty="0" sz="1000" spc="335">
                <a:latin typeface="Georgia"/>
                <a:cs typeface="Georgia"/>
              </a:rPr>
              <a:t> </a:t>
            </a:r>
            <a:r>
              <a:rPr dirty="0" sz="1000">
                <a:latin typeface="Tahoma"/>
                <a:cs typeface="Tahoma"/>
              </a:rPr>
              <a:t>PKCS#7</a:t>
            </a:r>
            <a:r>
              <a:rPr dirty="0" sz="1000">
                <a:latin typeface="Georgia"/>
                <a:cs typeface="Georgia"/>
              </a:rPr>
              <a:t>).</a:t>
            </a:r>
            <a:r>
              <a:rPr dirty="0" sz="1000" spc="330">
                <a:latin typeface="Georgia"/>
                <a:cs typeface="Georgia"/>
              </a:rPr>
              <a:t> </a:t>
            </a:r>
            <a:r>
              <a:rPr dirty="0" sz="1000" spc="-55">
                <a:latin typeface="Georgia"/>
                <a:cs typeface="Georgia"/>
              </a:rPr>
              <a:t>Sljede´ca</a:t>
            </a:r>
            <a:r>
              <a:rPr dirty="0" sz="1000" spc="10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slika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opisuje</a:t>
            </a:r>
            <a:r>
              <a:rPr dirty="0" sz="1000" spc="10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varijantu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naˇcina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kriptiranja</a:t>
            </a:r>
            <a:r>
              <a:rPr dirty="0" sz="1000" spc="100">
                <a:latin typeface="Georgia"/>
                <a:cs typeface="Georgia"/>
              </a:rPr>
              <a:t> </a:t>
            </a:r>
            <a:r>
              <a:rPr dirty="0" sz="1000">
                <a:latin typeface="Tahoma"/>
                <a:cs typeface="Tahoma"/>
              </a:rPr>
              <a:t>CBC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>
                <a:latin typeface="Georgia"/>
                <a:cs typeface="Georgia"/>
              </a:rPr>
              <a:t>koja</a:t>
            </a:r>
            <a:r>
              <a:rPr dirty="0" sz="1000" spc="10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uklanja</a:t>
            </a:r>
            <a:r>
              <a:rPr dirty="0" sz="1000" spc="10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potrebu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za </a:t>
            </a:r>
            <a:r>
              <a:rPr dirty="0" sz="1000" spc="-25">
                <a:latin typeface="Georgia"/>
                <a:cs typeface="Georgia"/>
              </a:rPr>
              <a:t>	</a:t>
            </a:r>
            <a:r>
              <a:rPr dirty="0" sz="1000" spc="-10">
                <a:latin typeface="Georgia"/>
                <a:cs typeface="Georgia"/>
              </a:rPr>
              <a:t>nadopunjavanjem: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7252" y="4385691"/>
            <a:ext cx="4306272" cy="152050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30897" y="6020033"/>
            <a:ext cx="6705600" cy="1354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8100" marR="304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Georgia"/>
                <a:cs typeface="Georgia"/>
              </a:rPr>
              <a:t>Ova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varijanta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zadnji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blok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nadopunjuje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nulama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ako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potrebno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(</a:t>
            </a:r>
            <a:r>
              <a:rPr dirty="0" sz="1000" i="1">
                <a:latin typeface="Palatino Linotype"/>
                <a:cs typeface="Palatino Linotype"/>
              </a:rPr>
              <a:t>dummy</a:t>
            </a:r>
            <a:r>
              <a:rPr dirty="0" sz="1000" spc="90" i="1">
                <a:latin typeface="Palatino Linotype"/>
                <a:cs typeface="Palatino Linotype"/>
              </a:rPr>
              <a:t> </a:t>
            </a:r>
            <a:r>
              <a:rPr dirty="0" sz="1000">
                <a:latin typeface="Georgia"/>
                <a:cs typeface="Georgia"/>
              </a:rPr>
              <a:t>blok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se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nikad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ne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dodaje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na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kraj),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no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skriveni </a:t>
            </a:r>
            <a:r>
              <a:rPr dirty="0" sz="1000">
                <a:latin typeface="Georgia"/>
                <a:cs typeface="Georgia"/>
              </a:rPr>
              <a:t>tekst</a:t>
            </a:r>
            <a:r>
              <a:rPr dirty="0" sz="1000" spc="110">
                <a:latin typeface="Georgia"/>
                <a:cs typeface="Georgia"/>
              </a:rPr>
              <a:t> </a:t>
            </a:r>
            <a:r>
              <a:rPr dirty="0" sz="1000" spc="-50">
                <a:latin typeface="Georgia"/>
                <a:cs typeface="Georgia"/>
              </a:rPr>
              <a:t>ukljuˇcuje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samo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osjenˇcane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dijelove:</a:t>
            </a:r>
            <a:r>
              <a:rPr dirty="0" sz="1000" spc="295">
                <a:latin typeface="Georgia"/>
                <a:cs typeface="Georgia"/>
              </a:rPr>
              <a:t> </a:t>
            </a:r>
            <a:r>
              <a:rPr dirty="0" sz="1000" spc="70" i="1">
                <a:latin typeface="Calibri"/>
                <a:cs typeface="Calibri"/>
              </a:rPr>
              <a:t>C</a:t>
            </a:r>
            <a:r>
              <a:rPr dirty="0" baseline="-11904" sz="1050" spc="104">
                <a:latin typeface="Roboto"/>
                <a:cs typeface="Roboto"/>
              </a:rPr>
              <a:t>1</a:t>
            </a:r>
            <a:r>
              <a:rPr dirty="0" sz="1000" spc="70">
                <a:latin typeface="Georgia"/>
                <a:cs typeface="Georgia"/>
              </a:rPr>
              <a:t>,</a:t>
            </a:r>
            <a:r>
              <a:rPr dirty="0" sz="1000" spc="135">
                <a:latin typeface="Georgia"/>
                <a:cs typeface="Georgia"/>
              </a:rPr>
              <a:t> </a:t>
            </a:r>
            <a:r>
              <a:rPr dirty="0" sz="1000" spc="70" i="1">
                <a:latin typeface="Calibri"/>
                <a:cs typeface="Calibri"/>
              </a:rPr>
              <a:t>C</a:t>
            </a:r>
            <a:r>
              <a:rPr dirty="0" baseline="-11904" sz="1050" spc="104">
                <a:latin typeface="Roboto"/>
                <a:cs typeface="Roboto"/>
              </a:rPr>
              <a:t>2</a:t>
            </a:r>
            <a:r>
              <a:rPr dirty="0" sz="1000" spc="70">
                <a:latin typeface="Georgia"/>
                <a:cs typeface="Georgia"/>
              </a:rPr>
              <a:t>,</a:t>
            </a:r>
            <a:r>
              <a:rPr dirty="0" sz="1000" spc="135">
                <a:latin typeface="Georgia"/>
                <a:cs typeface="Georgia"/>
              </a:rPr>
              <a:t> </a:t>
            </a:r>
            <a:r>
              <a:rPr dirty="0" sz="1000" i="1">
                <a:latin typeface="Calibri"/>
                <a:cs typeface="Calibri"/>
              </a:rPr>
              <a:t>C</a:t>
            </a:r>
            <a:r>
              <a:rPr dirty="0" baseline="-19841" sz="1050">
                <a:latin typeface="Roboto"/>
                <a:cs typeface="Roboto"/>
              </a:rPr>
              <a:t>3</a:t>
            </a:r>
            <a:r>
              <a:rPr dirty="0" baseline="27777" sz="1050">
                <a:latin typeface="Cambria"/>
                <a:cs typeface="Cambria"/>
              </a:rPr>
              <a:t>∗</a:t>
            </a:r>
            <a:r>
              <a:rPr dirty="0" baseline="27777" sz="1050" spc="359">
                <a:latin typeface="Cambria"/>
                <a:cs typeface="Cambria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 spc="70" i="1">
                <a:latin typeface="Calibri"/>
                <a:cs typeface="Calibri"/>
              </a:rPr>
              <a:t>C</a:t>
            </a:r>
            <a:r>
              <a:rPr dirty="0" baseline="-11904" sz="1050" spc="104">
                <a:latin typeface="Roboto"/>
                <a:cs typeface="Roboto"/>
              </a:rPr>
              <a:t>4</a:t>
            </a:r>
            <a:r>
              <a:rPr dirty="0" sz="1000" spc="70">
                <a:latin typeface="Georgia"/>
                <a:cs typeface="Georgia"/>
              </a:rPr>
              <a:t>.</a:t>
            </a:r>
            <a:r>
              <a:rPr dirty="0" sz="1000" spc="3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Primjetite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da,</a:t>
            </a:r>
            <a:r>
              <a:rPr dirty="0" sz="1000" spc="13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ako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izuzmemo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inicijalizacijski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vektor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(</a:t>
            </a:r>
            <a:r>
              <a:rPr dirty="0" sz="1000" spc="-10">
                <a:latin typeface="Tahoma"/>
                <a:cs typeface="Tahoma"/>
              </a:rPr>
              <a:t>IV</a:t>
            </a:r>
            <a:r>
              <a:rPr dirty="0" sz="1000" spc="-10">
                <a:latin typeface="Georgia"/>
                <a:cs typeface="Georgia"/>
              </a:rPr>
              <a:t>), </a:t>
            </a:r>
            <a:r>
              <a:rPr dirty="0" sz="1000" spc="-20">
                <a:latin typeface="Georgia"/>
                <a:cs typeface="Georgia"/>
              </a:rPr>
              <a:t>skriveni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tekst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jasni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tekst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su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jednake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duljine.</a:t>
            </a:r>
            <a:r>
              <a:rPr dirty="0" sz="1000" spc="13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Ova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tehnika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se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naziva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ciphertext</a:t>
            </a:r>
            <a:r>
              <a:rPr dirty="0" sz="1000" spc="55" i="1">
                <a:latin typeface="Palatino Linotype"/>
                <a:cs typeface="Palatino Linotype"/>
              </a:rPr>
              <a:t> </a:t>
            </a:r>
            <a:r>
              <a:rPr dirty="0" sz="1000" spc="-10" i="1">
                <a:latin typeface="Palatino Linotype"/>
                <a:cs typeface="Palatino Linotype"/>
              </a:rPr>
              <a:t>stealing</a:t>
            </a:r>
            <a:r>
              <a:rPr dirty="0" sz="1000" spc="-1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algn="just" marL="38100" marR="30480">
              <a:lnSpc>
                <a:spcPct val="100000"/>
              </a:lnSpc>
              <a:spcBef>
                <a:spcPts val="185"/>
              </a:spcBef>
            </a:pPr>
            <a:r>
              <a:rPr dirty="0" sz="1000" spc="-25">
                <a:latin typeface="Georgia"/>
                <a:cs typeface="Georgia"/>
              </a:rPr>
              <a:t>Neka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je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240" i="1">
                <a:latin typeface="Calibri"/>
                <a:cs typeface="Calibri"/>
              </a:rPr>
              <a:t>E</a:t>
            </a:r>
            <a:r>
              <a:rPr dirty="0" sz="1000" spc="105" i="1">
                <a:latin typeface="Calibri"/>
                <a:cs typeface="Calibri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15">
                <a:latin typeface="Tahoma"/>
                <a:cs typeface="Tahoma"/>
              </a:rPr>
              <a:t>AES128</a:t>
            </a:r>
            <a:r>
              <a:rPr dirty="0" sz="1000" spc="-15">
                <a:latin typeface="Georgia"/>
                <a:cs typeface="Georgia"/>
              </a:rPr>
              <a:t>,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80" i="1">
                <a:latin typeface="Calibri"/>
                <a:cs typeface="Calibri"/>
              </a:rPr>
              <a:t>n</a:t>
            </a:r>
            <a:r>
              <a:rPr dirty="0" sz="1000" spc="50" i="1">
                <a:latin typeface="Calibri"/>
                <a:cs typeface="Calibri"/>
              </a:rPr>
              <a:t> </a:t>
            </a:r>
            <a:r>
              <a:rPr dirty="0" sz="1000" spc="-140">
                <a:latin typeface="Lucida Sans Unicode"/>
                <a:cs typeface="Lucida Sans Unicode"/>
              </a:rPr>
              <a:t>∈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5">
                <a:latin typeface="Georgia"/>
                <a:cs typeface="Georgia"/>
              </a:rPr>
              <a:t>duljina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35">
                <a:latin typeface="Georgia"/>
                <a:cs typeface="Georgia"/>
              </a:rPr>
              <a:t>skrivenog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teksta,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spc="145" i="1">
                <a:latin typeface="Calibri"/>
                <a:cs typeface="Calibri"/>
              </a:rPr>
              <a:t>N</a:t>
            </a:r>
            <a:r>
              <a:rPr dirty="0" sz="1000" spc="155" i="1">
                <a:latin typeface="Calibri"/>
                <a:cs typeface="Calibri"/>
              </a:rPr>
              <a:t> </a:t>
            </a:r>
            <a:r>
              <a:rPr dirty="0" sz="1000" spc="-140">
                <a:latin typeface="Lucida Sans Unicode"/>
                <a:cs typeface="Lucida Sans Unicode"/>
              </a:rPr>
              <a:t>∈</a:t>
            </a:r>
            <a:r>
              <a:rPr dirty="0" sz="1000" spc="-40">
                <a:latin typeface="Lucida Sans Unicode"/>
                <a:cs typeface="Lucida Sans Unicode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N</a:t>
            </a:r>
            <a:r>
              <a:rPr dirty="0" sz="1000" spc="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Georgia"/>
                <a:cs typeface="Georgia"/>
              </a:rPr>
              <a:t>broj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primljenih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35">
                <a:latin typeface="Georgia"/>
                <a:cs typeface="Georgia"/>
              </a:rPr>
              <a:t>blokova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i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90" i="1">
                <a:latin typeface="Calibri"/>
                <a:cs typeface="Calibri"/>
              </a:rPr>
              <a:t>b</a:t>
            </a:r>
            <a:r>
              <a:rPr dirty="0" sz="1000" spc="50" i="1">
                <a:latin typeface="Calibri"/>
                <a:cs typeface="Calibri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35">
                <a:latin typeface="Georgia"/>
                <a:cs typeface="Georgia"/>
              </a:rPr>
              <a:t>128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duljina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bloka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u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bitovima.</a:t>
            </a:r>
            <a:r>
              <a:rPr dirty="0" sz="1000" spc="-10">
                <a:latin typeface="Georgia"/>
                <a:cs typeface="Georgia"/>
              </a:rPr>
              <a:t> </a:t>
            </a:r>
            <a:r>
              <a:rPr dirty="0" sz="1000" spc="-80">
                <a:latin typeface="Georgia"/>
                <a:cs typeface="Georgia"/>
              </a:rPr>
              <a:t>Opiˇsite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algoritam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dekriptiranja.</a:t>
            </a:r>
            <a:r>
              <a:rPr dirty="0" sz="1000" spc="185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Dakle,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kako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primatelj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90">
                <a:latin typeface="Georgia"/>
                <a:cs typeface="Georgia"/>
              </a:rPr>
              <a:t>raˇcuna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duljinu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5">
                <a:latin typeface="Georgia"/>
                <a:cs typeface="Georgia"/>
              </a:rPr>
              <a:t>“preotetog”</a:t>
            </a:r>
            <a:r>
              <a:rPr dirty="0" sz="1000" spc="20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ˇsifrata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(npr.</a:t>
            </a:r>
            <a:r>
              <a:rPr dirty="0" sz="1000" spc="190">
                <a:latin typeface="Georgia"/>
                <a:cs typeface="Georgia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C</a:t>
            </a:r>
            <a:r>
              <a:rPr dirty="0" baseline="-19841" sz="1050" spc="-15">
                <a:latin typeface="Roboto"/>
                <a:cs typeface="Roboto"/>
              </a:rPr>
              <a:t>3</a:t>
            </a:r>
            <a:r>
              <a:rPr dirty="0" baseline="27777" sz="1050" spc="-15">
                <a:latin typeface="Cambria"/>
                <a:cs typeface="Cambria"/>
              </a:rPr>
              <a:t>∗∗</a:t>
            </a:r>
            <a:r>
              <a:rPr dirty="0" baseline="27777" sz="1050" spc="307">
                <a:latin typeface="Cambria"/>
                <a:cs typeface="Cambria"/>
              </a:rPr>
              <a:t> </a:t>
            </a:r>
            <a:r>
              <a:rPr dirty="0" sz="1000" spc="-25">
                <a:latin typeface="Georgia"/>
                <a:cs typeface="Georgia"/>
              </a:rPr>
              <a:t>na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slici)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i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dekriptira</a:t>
            </a:r>
            <a:r>
              <a:rPr dirty="0" sz="1000" spc="-1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cijelu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poruku.</a:t>
            </a:r>
            <a:endParaRPr sz="1000">
              <a:latin typeface="Georgia"/>
              <a:cs typeface="Georgia"/>
            </a:endParaRPr>
          </a:p>
          <a:p>
            <a:pPr algn="just" marL="272415" indent="-131445">
              <a:lnSpc>
                <a:spcPct val="100000"/>
              </a:lnSpc>
              <a:spcBef>
                <a:spcPts val="484"/>
              </a:spcBef>
              <a:buAutoNum type="romanLcPeriod"/>
              <a:tabLst>
                <a:tab pos="272415" algn="l"/>
              </a:tabLst>
            </a:pP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Dekriptira</a:t>
            </a:r>
            <a:r>
              <a:rPr dirty="0" sz="1000" spc="-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se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prvih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45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1000" spc="4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dirty="0" sz="10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blokova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na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standardan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naˇcin.</a:t>
            </a:r>
            <a:endParaRPr sz="1000">
              <a:latin typeface="Georgia"/>
              <a:cs typeface="Georgia"/>
            </a:endParaRPr>
          </a:p>
          <a:p>
            <a:pPr algn="just" marL="271780" indent="-166370">
              <a:lnSpc>
                <a:spcPct val="100000"/>
              </a:lnSpc>
              <a:spcBef>
                <a:spcPts val="195"/>
              </a:spcBef>
              <a:buAutoNum type="romanLcPeriod"/>
              <a:tabLst>
                <a:tab pos="271780" algn="l"/>
              </a:tabLst>
            </a:pP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Izr</a:t>
            </a:r>
            <a:r>
              <a:rPr dirty="0" sz="1000" spc="-45">
                <a:solidFill>
                  <a:srgbClr val="0000FF"/>
                </a:solidFill>
                <a:latin typeface="Georgia"/>
                <a:cs typeface="Georgia"/>
              </a:rPr>
              <a:t>a</a:t>
            </a:r>
            <a:r>
              <a:rPr dirty="0" sz="1000" spc="-490">
                <a:solidFill>
                  <a:srgbClr val="0000FF"/>
                </a:solidFill>
                <a:latin typeface="Georgia"/>
                <a:cs typeface="Georgia"/>
              </a:rPr>
              <a:t>ˇ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cun</a:t>
            </a:r>
            <a:r>
              <a:rPr dirty="0" sz="1000" spc="15">
                <a:solidFill>
                  <a:srgbClr val="0000FF"/>
                </a:solidFill>
                <a:latin typeface="Georgia"/>
                <a:cs typeface="Georgia"/>
              </a:rPr>
              <a:t>a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j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duljinu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preotetog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55">
                <a:solidFill>
                  <a:srgbClr val="0000FF"/>
                </a:solidFill>
                <a:latin typeface="Georgia"/>
                <a:cs typeface="Georgia"/>
              </a:rPr>
              <a:t>ˇsifrata:</a:t>
            </a:r>
            <a:r>
              <a:rPr dirty="0" sz="1000" spc="18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dirty="0" sz="1000" spc="4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8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1000" spc="-1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dirty="0" sz="10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8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1000" spc="8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dirty="0" sz="10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1)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b</a:t>
            </a:r>
            <a:r>
              <a:rPr dirty="0" sz="1000" spc="30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>
                <a:solidFill>
                  <a:srgbClr val="0000FF"/>
                </a:solidFill>
                <a:latin typeface="Lucida Sans Unicode"/>
                <a:cs typeface="Lucida Sans Unicode"/>
              </a:rPr>
              <a:t>⇒</a:t>
            </a:r>
            <a:r>
              <a:rPr dirty="0" sz="1000" spc="21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95" i="1">
                <a:solidFill>
                  <a:srgbClr val="0000FF"/>
                </a:solidFill>
                <a:latin typeface="Calibri"/>
                <a:cs typeface="Calibri"/>
              </a:rPr>
              <a:t>b</a:t>
            </a:r>
            <a:r>
              <a:rPr dirty="0" sz="1000" spc="-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dirty="0" sz="10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r>
              <a:rPr dirty="0" sz="1000" spc="4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95" i="1">
                <a:solidFill>
                  <a:srgbClr val="0000FF"/>
                </a:solidFill>
                <a:latin typeface="Calibri"/>
                <a:cs typeface="Calibri"/>
              </a:rPr>
              <a:t>b</a:t>
            </a:r>
            <a:r>
              <a:rPr dirty="0" sz="1000" spc="-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dirty="0" sz="10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8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1000" spc="-1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+</a:t>
            </a:r>
            <a:r>
              <a:rPr dirty="0" sz="1000" spc="-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8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1000" spc="9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dirty="0" sz="10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1)</a:t>
            </a:r>
            <a:r>
              <a:rPr dirty="0" sz="1000" spc="-25" i="1">
                <a:solidFill>
                  <a:srgbClr val="0000FF"/>
                </a:solidFill>
                <a:latin typeface="Calibri"/>
                <a:cs typeface="Calibri"/>
              </a:rPr>
              <a:t>b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220"/>
              </a:spcBef>
            </a:pPr>
            <a:r>
              <a:rPr dirty="0" spc="20"/>
              <a:t>2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2493225" y="7430785"/>
            <a:ext cx="38671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3370" algn="l"/>
              </a:tabLst>
            </a:pPr>
            <a:r>
              <a:rPr dirty="0" sz="700" spc="13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700" i="1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700" spc="12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14192" y="7357684"/>
            <a:ext cx="1549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85">
                <a:solidFill>
                  <a:srgbClr val="0000FF"/>
                </a:solidFill>
                <a:latin typeface="Cambria"/>
                <a:cs typeface="Cambria"/>
              </a:rPr>
              <a:t>−</a:t>
            </a:r>
            <a:r>
              <a:rPr dirty="0" sz="700" spc="85">
                <a:solidFill>
                  <a:srgbClr val="0000FF"/>
                </a:solidFill>
                <a:latin typeface="Roboto"/>
                <a:cs typeface="Roboto"/>
              </a:rPr>
              <a:t>1</a:t>
            </a:r>
            <a:endParaRPr sz="700">
              <a:latin typeface="Roboto"/>
              <a:cs typeface="Robo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114192" y="7448997"/>
            <a:ext cx="110489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25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89050" y="7373853"/>
            <a:ext cx="24358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28189" algn="l"/>
                <a:tab pos="2372995" algn="l"/>
              </a:tabLst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iii.</a:t>
            </a:r>
            <a:r>
              <a:rPr dirty="0" sz="1000" spc="18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Dekriptiraj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zadnji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blok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8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sz="1000" spc="42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: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90" i="1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50">
                <a:solidFill>
                  <a:srgbClr val="0000FF"/>
                </a:solidFill>
                <a:latin typeface="Tahoma"/>
                <a:cs typeface="Tahoma"/>
              </a:rPr>
              <a:t>E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	</a:t>
            </a:r>
            <a:r>
              <a:rPr dirty="0" sz="1000" spc="-5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389668" y="7430785"/>
            <a:ext cx="1060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13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299243" y="7373853"/>
            <a:ext cx="26162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8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sz="1000" spc="150" i="1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dirty="0" sz="1000" spc="-5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74127" y="7607924"/>
            <a:ext cx="1060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13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89075" y="7543027"/>
            <a:ext cx="774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15">
                <a:solidFill>
                  <a:srgbClr val="0000FF"/>
                </a:solidFill>
                <a:latin typeface="Cambria"/>
                <a:cs typeface="Cambria"/>
              </a:rPr>
              <a:t>∗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480019" y="7623799"/>
            <a:ext cx="2451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18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700" spc="-8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700" spc="85">
                <a:solidFill>
                  <a:srgbClr val="0000FF"/>
                </a:solidFill>
                <a:latin typeface="Cambria"/>
                <a:cs typeface="Cambria"/>
              </a:rPr>
              <a:t>−</a:t>
            </a:r>
            <a:r>
              <a:rPr dirty="0" sz="700" spc="85">
                <a:solidFill>
                  <a:srgbClr val="0000FF"/>
                </a:solidFill>
                <a:latin typeface="Roboto"/>
                <a:cs typeface="Roboto"/>
              </a:rPr>
              <a:t>1</a:t>
            </a:r>
            <a:endParaRPr sz="700">
              <a:latin typeface="Roboto"/>
              <a:cs typeface="Roboto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702814" y="7604307"/>
            <a:ext cx="405130" cy="280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180"/>
              </a:lnSpc>
              <a:spcBef>
                <a:spcPts val="95"/>
              </a:spcBef>
            </a:pPr>
            <a:r>
              <a:rPr dirty="0" sz="1000">
                <a:solidFill>
                  <a:srgbClr val="0000FF"/>
                </a:solidFill>
                <a:latin typeface="Sitka Banner"/>
                <a:cs typeface="Sitka Banner"/>
              </a:rPr>
              <a:t>`</a:t>
            </a:r>
            <a:r>
              <a:rPr dirty="0" sz="1000" spc="355">
                <a:solidFill>
                  <a:srgbClr val="0000FF"/>
                </a:solidFill>
                <a:latin typeface="Sitka Banner"/>
                <a:cs typeface="Sitka Banner"/>
              </a:rPr>
              <a:t> </a:t>
            </a:r>
            <a:r>
              <a:rPr dirty="0" sz="1000">
                <a:solidFill>
                  <a:srgbClr val="0000FF"/>
                </a:solidFill>
                <a:latin typeface="Sitka Banner"/>
                <a:cs typeface="Sitka Banner"/>
              </a:rPr>
              <a:t>˛¸</a:t>
            </a:r>
            <a:r>
              <a:rPr dirty="0" sz="1000" spc="360">
                <a:solidFill>
                  <a:srgbClr val="0000FF"/>
                </a:solidFill>
                <a:latin typeface="Sitka Banner"/>
                <a:cs typeface="Sitka Banner"/>
              </a:rPr>
              <a:t> </a:t>
            </a:r>
            <a:r>
              <a:rPr dirty="0" sz="1000" spc="-50">
                <a:solidFill>
                  <a:srgbClr val="0000FF"/>
                </a:solidFill>
                <a:latin typeface="Sitka Banner"/>
                <a:cs typeface="Sitka Banner"/>
              </a:rPr>
              <a:t>x</a:t>
            </a:r>
            <a:endParaRPr sz="1000">
              <a:latin typeface="Sitka Banner"/>
              <a:cs typeface="Sitka Banner"/>
            </a:endParaRPr>
          </a:p>
          <a:p>
            <a:pPr algn="ctr">
              <a:lnSpc>
                <a:spcPts val="819"/>
              </a:lnSpc>
            </a:pPr>
            <a:r>
              <a:rPr dirty="0" sz="700" spc="60" i="1">
                <a:solidFill>
                  <a:srgbClr val="0000FF"/>
                </a:solidFill>
                <a:latin typeface="Calibri"/>
                <a:cs typeface="Calibri"/>
              </a:rPr>
              <a:t>b</a:t>
            </a:r>
            <a:r>
              <a:rPr dirty="0" sz="700" spc="60">
                <a:solidFill>
                  <a:srgbClr val="0000FF"/>
                </a:solidFill>
                <a:latin typeface="Cambria"/>
                <a:cs typeface="Cambria"/>
              </a:rPr>
              <a:t>−</a:t>
            </a:r>
            <a:r>
              <a:rPr dirty="0" sz="700" spc="60" i="1">
                <a:solidFill>
                  <a:srgbClr val="0000FF"/>
                </a:solidFill>
                <a:latin typeface="Calibri"/>
                <a:cs typeface="Calibri"/>
              </a:rPr>
              <a:t>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867168" y="7550993"/>
            <a:ext cx="23158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885825" algn="l"/>
              </a:tabLst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iv.</a:t>
            </a:r>
            <a:r>
              <a:rPr dirty="0" sz="1000" spc="2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20" i="1">
                <a:solidFill>
                  <a:srgbClr val="0000FF"/>
                </a:solidFill>
                <a:latin typeface="Calibri"/>
                <a:cs typeface="Calibri"/>
              </a:rPr>
              <a:t>P</a:t>
            </a:r>
            <a:r>
              <a:rPr dirty="0" sz="1000" spc="265" i="1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dirty="0" sz="1000" spc="-90">
                <a:solidFill>
                  <a:srgbClr val="0000FF"/>
                </a:solidFill>
                <a:latin typeface="Lucida Sans Unicode"/>
                <a:cs typeface="Lucida Sans Unicode"/>
              </a:rPr>
              <a:t>∥</a:t>
            </a:r>
            <a:r>
              <a:rPr dirty="0" sz="1000" spc="-9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13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210" i="1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dirty="0" baseline="-11904" sz="1050" spc="315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baseline="-11904" sz="1050" spc="307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8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12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12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 spc="179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baseline="-11904" sz="1050" spc="-127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baseline="-11904" sz="1050" spc="165">
                <a:solidFill>
                  <a:srgbClr val="0000FF"/>
                </a:solidFill>
                <a:latin typeface="Cambria"/>
                <a:cs typeface="Cambria"/>
              </a:rPr>
              <a:t>−</a:t>
            </a:r>
            <a:r>
              <a:rPr dirty="0" baseline="-11904" sz="1050" spc="165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baseline="-11904" sz="1050" spc="165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90">
                <a:solidFill>
                  <a:srgbClr val="0000FF"/>
                </a:solidFill>
                <a:latin typeface="Lucida Sans Unicode"/>
                <a:cs typeface="Lucida Sans Unicode"/>
              </a:rPr>
              <a:t>∥</a:t>
            </a:r>
            <a:r>
              <a:rPr dirty="0" sz="1000" spc="-8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25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dirty="0" u="heavy" sz="1000" spc="-1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Georgia"/>
                <a:cs typeface="Georgia"/>
              </a:rPr>
              <a:t>0</a:t>
            </a:r>
            <a:r>
              <a:rPr dirty="0" sz="1000" spc="-7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r>
              <a:rPr dirty="0" sz="1000" spc="-5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85" i="1">
                <a:solidFill>
                  <a:srgbClr val="0000FF"/>
                </a:solidFill>
                <a:latin typeface="Calibri"/>
                <a:cs typeface="Calibri"/>
              </a:rPr>
              <a:t>.</a:t>
            </a:r>
            <a:r>
              <a:rPr dirty="0" u="heavy" sz="1000" spc="-120" i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1000" i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.</a:t>
            </a:r>
            <a:r>
              <a:rPr dirty="0" sz="1000" spc="-5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0)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830311" y="7943420"/>
            <a:ext cx="2451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18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700" spc="-8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700" spc="85">
                <a:solidFill>
                  <a:srgbClr val="0000FF"/>
                </a:solidFill>
                <a:latin typeface="Cambria"/>
                <a:cs typeface="Cambria"/>
              </a:rPr>
              <a:t>−</a:t>
            </a:r>
            <a:r>
              <a:rPr dirty="0" sz="700" spc="85">
                <a:solidFill>
                  <a:srgbClr val="0000FF"/>
                </a:solidFill>
                <a:latin typeface="Roboto"/>
                <a:cs typeface="Roboto"/>
              </a:rPr>
              <a:t>1</a:t>
            </a:r>
            <a:endParaRPr sz="70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300046" y="7870319"/>
            <a:ext cx="15494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85">
                <a:solidFill>
                  <a:srgbClr val="0000FF"/>
                </a:solidFill>
                <a:latin typeface="Cambria"/>
                <a:cs typeface="Cambria"/>
              </a:rPr>
              <a:t>−</a:t>
            </a:r>
            <a:r>
              <a:rPr dirty="0" sz="700" spc="85">
                <a:solidFill>
                  <a:srgbClr val="0000FF"/>
                </a:solidFill>
                <a:latin typeface="Roboto"/>
                <a:cs typeface="Roboto"/>
              </a:rPr>
              <a:t>1</a:t>
            </a:r>
            <a:endParaRPr sz="7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27709" y="7886489"/>
            <a:ext cx="15830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75385" algn="l"/>
                <a:tab pos="1520190" algn="l"/>
              </a:tabLst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v.</a:t>
            </a:r>
            <a:r>
              <a:rPr dirty="0" sz="1000" spc="2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Dekriptiraj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70" i="1">
                <a:solidFill>
                  <a:srgbClr val="0000FF"/>
                </a:solidFill>
                <a:latin typeface="Calibri"/>
                <a:cs typeface="Calibri"/>
              </a:rPr>
              <a:t>P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50">
                <a:solidFill>
                  <a:srgbClr val="0000FF"/>
                </a:solidFill>
                <a:latin typeface="Tahoma"/>
                <a:cs typeface="Tahoma"/>
              </a:rPr>
              <a:t>E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	</a:t>
            </a:r>
            <a:r>
              <a:rPr dirty="0" sz="1000" spc="-5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575521" y="7943420"/>
            <a:ext cx="24511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18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700" spc="-8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700" spc="85">
                <a:solidFill>
                  <a:srgbClr val="0000FF"/>
                </a:solidFill>
                <a:latin typeface="Cambria"/>
                <a:cs typeface="Cambria"/>
              </a:rPr>
              <a:t>−</a:t>
            </a:r>
            <a:r>
              <a:rPr dirty="0" sz="700" spc="85">
                <a:solidFill>
                  <a:srgbClr val="0000FF"/>
                </a:solidFill>
                <a:latin typeface="Roboto"/>
                <a:cs typeface="Roboto"/>
              </a:rPr>
              <a:t>1</a:t>
            </a:r>
            <a:endParaRPr sz="700">
              <a:latin typeface="Roboto"/>
              <a:cs typeface="Roboto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485085" y="7886489"/>
            <a:ext cx="5518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6235" algn="l"/>
              </a:tabLst>
            </a:pPr>
            <a:r>
              <a:rPr dirty="0" sz="1000" spc="13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1000" spc="-90">
                <a:solidFill>
                  <a:srgbClr val="0000FF"/>
                </a:solidFill>
                <a:latin typeface="Lucida Sans Unicode"/>
                <a:cs typeface="Lucida Sans Unicode"/>
              </a:rPr>
              <a:t>∥ </a:t>
            </a:r>
            <a:r>
              <a:rPr dirty="0" sz="1000" spc="13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019971" y="7878536"/>
            <a:ext cx="774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15">
                <a:solidFill>
                  <a:srgbClr val="0000FF"/>
                </a:solidFill>
                <a:latin typeface="Cambria"/>
                <a:cs typeface="Cambria"/>
              </a:rPr>
              <a:t>∗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300046" y="7961632"/>
            <a:ext cx="95567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3265" algn="l"/>
              </a:tabLst>
            </a:pPr>
            <a:r>
              <a:rPr dirty="0" sz="700" spc="25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700" i="1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700" spc="18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700" spc="-9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700" spc="85">
                <a:solidFill>
                  <a:srgbClr val="0000FF"/>
                </a:solidFill>
                <a:latin typeface="Cambria"/>
                <a:cs typeface="Cambria"/>
              </a:rPr>
              <a:t>−</a:t>
            </a:r>
            <a:r>
              <a:rPr dirty="0" sz="700" spc="85">
                <a:solidFill>
                  <a:srgbClr val="0000FF"/>
                </a:solidFill>
                <a:latin typeface="Roboto"/>
                <a:cs typeface="Roboto"/>
              </a:rPr>
              <a:t>1</a:t>
            </a:r>
            <a:endParaRPr sz="70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211004" y="7886489"/>
            <a:ext cx="5899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9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175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 spc="262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baseline="-11904" sz="1050" spc="-12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baseline="-11904" sz="1050" spc="127">
                <a:solidFill>
                  <a:srgbClr val="0000FF"/>
                </a:solidFill>
                <a:latin typeface="Cambria"/>
                <a:cs typeface="Cambria"/>
              </a:rPr>
              <a:t>−</a:t>
            </a:r>
            <a:r>
              <a:rPr dirty="0" baseline="-11904" sz="1050" spc="127">
                <a:solidFill>
                  <a:srgbClr val="0000FF"/>
                </a:solidFill>
                <a:latin typeface="Roboto"/>
                <a:cs typeface="Roboto"/>
              </a:rPr>
              <a:t>2</a:t>
            </a:r>
            <a:endParaRPr baseline="-11904" sz="105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624331" y="8126887"/>
            <a:ext cx="688784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44475" marR="5080" indent="-23241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Georgia"/>
                <a:cs typeface="Georgia"/>
              </a:rPr>
              <a:t>(b)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(3)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Drugi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problem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</a:t>
            </a:r>
            <a:r>
              <a:rPr dirty="0" sz="1000" spc="120">
                <a:latin typeface="Georgia"/>
                <a:cs typeface="Georgia"/>
              </a:rPr>
              <a:t> </a:t>
            </a:r>
            <a:r>
              <a:rPr dirty="0" sz="1000" spc="-60">
                <a:latin typeface="Georgia"/>
                <a:cs typeface="Georgia"/>
              </a:rPr>
              <a:t>naˇcinom</a:t>
            </a:r>
            <a:r>
              <a:rPr dirty="0" sz="1000" spc="12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kriptiranja</a:t>
            </a:r>
            <a:r>
              <a:rPr dirty="0" sz="1000" spc="120">
                <a:latin typeface="Georgia"/>
                <a:cs typeface="Georgia"/>
              </a:rPr>
              <a:t> </a:t>
            </a:r>
            <a:r>
              <a:rPr dirty="0" sz="1000">
                <a:latin typeface="Tahoma"/>
                <a:cs typeface="Tahoma"/>
              </a:rPr>
              <a:t>CBC</a:t>
            </a:r>
            <a:r>
              <a:rPr dirty="0" sz="1000" spc="45">
                <a:latin typeface="Tahoma"/>
                <a:cs typeface="Tahom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12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da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se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ne</a:t>
            </a:r>
            <a:r>
              <a:rPr dirty="0" sz="1000" spc="120">
                <a:latin typeface="Georgia"/>
                <a:cs typeface="Georgia"/>
              </a:rPr>
              <a:t> </a:t>
            </a:r>
            <a:r>
              <a:rPr dirty="0" sz="1000" spc="-95">
                <a:latin typeface="Georgia"/>
                <a:cs typeface="Georgia"/>
              </a:rPr>
              <a:t>moˇze</a:t>
            </a:r>
            <a:r>
              <a:rPr dirty="0" sz="1000" spc="12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ubrzati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paralelnom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obradom.</a:t>
            </a:r>
            <a:r>
              <a:rPr dirty="0" sz="1000" spc="409">
                <a:latin typeface="Georgia"/>
                <a:cs typeface="Georgia"/>
              </a:rPr>
              <a:t> </a:t>
            </a:r>
            <a:r>
              <a:rPr dirty="0" sz="1000" spc="-50">
                <a:latin typeface="Georgia"/>
                <a:cs typeface="Georgia"/>
              </a:rPr>
              <a:t>Sljede´ca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slika</a:t>
            </a:r>
            <a:r>
              <a:rPr dirty="0" sz="1000" spc="114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prika- </a:t>
            </a:r>
            <a:r>
              <a:rPr dirty="0" sz="1000">
                <a:latin typeface="Georgia"/>
                <a:cs typeface="Georgia"/>
              </a:rPr>
              <a:t>zuje</a:t>
            </a:r>
            <a:r>
              <a:rPr dirty="0" sz="1000" spc="2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varijantu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80">
                <a:latin typeface="Georgia"/>
                <a:cs typeface="Georgia"/>
              </a:rPr>
              <a:t>naˇcina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kriptiranja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Tahoma"/>
                <a:cs typeface="Tahoma"/>
              </a:rPr>
              <a:t>CBC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Georgia"/>
                <a:cs typeface="Georgia"/>
              </a:rPr>
              <a:t>koja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20">
                <a:latin typeface="Georgia"/>
                <a:cs typeface="Georgia"/>
              </a:rPr>
              <a:t>po</a:t>
            </a:r>
            <a:r>
              <a:rPr dirty="0" sz="1000" spc="-15">
                <a:latin typeface="Georgia"/>
                <a:cs typeface="Georgia"/>
              </a:rPr>
              <a:t>d</a:t>
            </a:r>
            <a:r>
              <a:rPr dirty="0" sz="1000" spc="-40">
                <a:latin typeface="Georgia"/>
                <a:cs typeface="Georgia"/>
              </a:rPr>
              <a:t>r</a:t>
            </a:r>
            <a:r>
              <a:rPr dirty="0" sz="1000" spc="-484">
                <a:latin typeface="Georgia"/>
                <a:cs typeface="Georgia"/>
              </a:rPr>
              <a:t>ˇ</a:t>
            </a:r>
            <a:r>
              <a:rPr dirty="0" sz="1000" spc="-5">
                <a:latin typeface="Georgia"/>
                <a:cs typeface="Georgia"/>
              </a:rPr>
              <a:t>z</a:t>
            </a:r>
            <a:r>
              <a:rPr dirty="0" sz="1000" spc="-40">
                <a:latin typeface="Georgia"/>
                <a:cs typeface="Georgia"/>
              </a:rPr>
              <a:t>a</a:t>
            </a:r>
            <a:r>
              <a:rPr dirty="0" sz="1000" spc="-60">
                <a:latin typeface="Georgia"/>
                <a:cs typeface="Georgia"/>
              </a:rPr>
              <a:t>v</a:t>
            </a:r>
            <a:r>
              <a:rPr dirty="0" sz="1000" spc="-5">
                <a:latin typeface="Georgia"/>
                <a:cs typeface="Georgia"/>
              </a:rPr>
              <a:t>a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dvostruku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paralelizaciju:</a:t>
            </a:r>
            <a:r>
              <a:rPr dirty="0" sz="1000" spc="160">
                <a:latin typeface="Georgia"/>
                <a:cs typeface="Georgia"/>
              </a:rPr>
              <a:t> </a:t>
            </a:r>
            <a:r>
              <a:rPr dirty="0" sz="1000" spc="-120">
                <a:latin typeface="Georgia"/>
                <a:cs typeface="Georgia"/>
              </a:rPr>
              <a:t>moˇze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ubrzati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dvostruko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60">
                <a:latin typeface="Georgia"/>
                <a:cs typeface="Georgia"/>
              </a:rPr>
              <a:t>koriste´ci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dva </a:t>
            </a:r>
            <a:r>
              <a:rPr dirty="0" sz="1000" spc="-10">
                <a:latin typeface="Georgia"/>
                <a:cs typeface="Georgia"/>
              </a:rPr>
              <a:t>procesora.</a:t>
            </a:r>
            <a:endParaRPr sz="1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529" y="274332"/>
            <a:ext cx="4319848" cy="1567433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2671698" y="336066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4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90867" y="1937644"/>
            <a:ext cx="7145655" cy="7459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7520" marR="304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Georgia"/>
                <a:cs typeface="Georgia"/>
              </a:rPr>
              <a:t>Ovdje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opet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pretpostavljamo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da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Tahoma"/>
                <a:cs typeface="Tahoma"/>
              </a:rPr>
              <a:t>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Georgia"/>
                <a:cs typeface="Georgia"/>
              </a:rPr>
              <a:t>neka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b="1">
                <a:latin typeface="Cambria"/>
                <a:cs typeface="Cambria"/>
              </a:rPr>
              <a:t>sigurna</a:t>
            </a:r>
            <a:r>
              <a:rPr dirty="0" sz="1000" spc="105" b="1">
                <a:latin typeface="Cambria"/>
                <a:cs typeface="Cambria"/>
              </a:rPr>
              <a:t> </a:t>
            </a:r>
            <a:r>
              <a:rPr dirty="0" sz="1000">
                <a:latin typeface="Georgia"/>
                <a:cs typeface="Georgia"/>
              </a:rPr>
              <a:t>blok</a:t>
            </a:r>
            <a:r>
              <a:rPr dirty="0" sz="1000" spc="15">
                <a:latin typeface="Georgia"/>
                <a:cs typeface="Georgia"/>
              </a:rPr>
              <a:t> </a:t>
            </a:r>
            <a:r>
              <a:rPr dirty="0" sz="1000" spc="-90">
                <a:latin typeface="Georgia"/>
                <a:cs typeface="Georgia"/>
              </a:rPr>
              <a:t>ˇsifra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poput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20">
                <a:latin typeface="Tahoma"/>
                <a:cs typeface="Tahoma"/>
              </a:rPr>
              <a:t>AES128</a:t>
            </a:r>
            <a:r>
              <a:rPr dirty="0" sz="1000" spc="-20">
                <a:latin typeface="Georgia"/>
                <a:cs typeface="Georgia"/>
              </a:rPr>
              <a:t>-</a:t>
            </a:r>
            <a:r>
              <a:rPr dirty="0" sz="1000">
                <a:latin typeface="Georgia"/>
                <a:cs typeface="Georgia"/>
              </a:rPr>
              <a:t>a.</a:t>
            </a:r>
            <a:r>
              <a:rPr dirty="0" sz="1000" spc="17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Pretpostavimo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da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se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>
                <a:latin typeface="Tahoma"/>
                <a:cs typeface="Tahoma"/>
              </a:rPr>
              <a:t>IV</a:t>
            </a:r>
            <a:r>
              <a:rPr dirty="0" baseline="-11904" sz="1050">
                <a:latin typeface="Roboto"/>
                <a:cs typeface="Roboto"/>
              </a:rPr>
              <a:t>0</a:t>
            </a:r>
            <a:r>
              <a:rPr dirty="0" baseline="-11904" sz="1050" spc="270">
                <a:latin typeface="Roboto"/>
                <a:cs typeface="Roboto"/>
              </a:rPr>
              <a:t> </a:t>
            </a:r>
            <a:r>
              <a:rPr dirty="0" sz="1000">
                <a:latin typeface="Georgia"/>
                <a:cs typeface="Georgia"/>
              </a:rPr>
              <a:t>bira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45">
                <a:latin typeface="Georgia"/>
                <a:cs typeface="Georgia"/>
              </a:rPr>
              <a:t>nasumiˇcno</a:t>
            </a:r>
            <a:r>
              <a:rPr dirty="0" sz="1000">
                <a:latin typeface="Georgia"/>
                <a:cs typeface="Georgia"/>
              </a:rPr>
              <a:t> i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da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Tahoma"/>
                <a:cs typeface="Tahoma"/>
              </a:rPr>
              <a:t>IV</a:t>
            </a:r>
            <a:r>
              <a:rPr dirty="0" baseline="-11904" sz="1050">
                <a:latin typeface="Roboto"/>
                <a:cs typeface="Roboto"/>
              </a:rPr>
              <a:t>1</a:t>
            </a:r>
            <a:r>
              <a:rPr dirty="0" baseline="-11904" sz="1050" spc="195">
                <a:latin typeface="Roboto"/>
                <a:cs typeface="Roboto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15">
                <a:latin typeface="Georgia"/>
                <a:cs typeface="Georgia"/>
              </a:rPr>
              <a:t> </a:t>
            </a:r>
            <a:r>
              <a:rPr dirty="0" sz="1000">
                <a:latin typeface="Tahoma"/>
                <a:cs typeface="Tahoma"/>
              </a:rPr>
              <a:t>IV</a:t>
            </a:r>
            <a:r>
              <a:rPr dirty="0" baseline="-11904" sz="1050">
                <a:latin typeface="Roboto"/>
                <a:cs typeface="Roboto"/>
              </a:rPr>
              <a:t>0</a:t>
            </a:r>
            <a:r>
              <a:rPr dirty="0" baseline="-11904" sz="1050" spc="120">
                <a:latin typeface="Roboto"/>
                <a:cs typeface="Roboto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⊕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B</a:t>
            </a:r>
            <a:r>
              <a:rPr dirty="0" sz="1000">
                <a:latin typeface="Georgia"/>
                <a:cs typeface="Georgia"/>
              </a:rPr>
              <a:t>,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gdje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75">
                <a:latin typeface="Tahoma"/>
                <a:cs typeface="Tahoma"/>
              </a:rPr>
              <a:t>B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>
                <a:latin typeface="Georgia"/>
                <a:cs typeface="Georgia"/>
              </a:rPr>
              <a:t>neka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b="1">
                <a:latin typeface="Cambria"/>
                <a:cs typeface="Cambria"/>
              </a:rPr>
              <a:t>javna</a:t>
            </a:r>
            <a:r>
              <a:rPr dirty="0" sz="1000" spc="114" b="1">
                <a:latin typeface="Cambria"/>
                <a:cs typeface="Cambria"/>
              </a:rPr>
              <a:t> </a:t>
            </a:r>
            <a:r>
              <a:rPr dirty="0" sz="1000" spc="-10">
                <a:latin typeface="Georgia"/>
                <a:cs typeface="Georgia"/>
              </a:rPr>
              <a:t>konstanta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poznata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napadaˇcu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(npr.</a:t>
            </a:r>
            <a:r>
              <a:rPr dirty="0" sz="1000" spc="170">
                <a:latin typeface="Georgia"/>
                <a:cs typeface="Georgia"/>
              </a:rPr>
              <a:t> </a:t>
            </a:r>
            <a:r>
              <a:rPr dirty="0" sz="1000" spc="75">
                <a:latin typeface="Tahoma"/>
                <a:cs typeface="Tahoma"/>
              </a:rPr>
              <a:t>B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15">
                <a:latin typeface="Georgia"/>
                <a:cs typeface="Georgia"/>
              </a:rPr>
              <a:t> </a:t>
            </a:r>
            <a:r>
              <a:rPr dirty="0" sz="1000" spc="40">
                <a:latin typeface="Georgia"/>
                <a:cs typeface="Georgia"/>
              </a:rPr>
              <a:t>1</a:t>
            </a:r>
            <a:r>
              <a:rPr dirty="0" baseline="27777" sz="1050" spc="60" i="1">
                <a:latin typeface="Calibri"/>
                <a:cs typeface="Calibri"/>
              </a:rPr>
              <a:t>n</a:t>
            </a:r>
            <a:r>
              <a:rPr dirty="0" sz="1000" spc="40">
                <a:latin typeface="Georgia"/>
                <a:cs typeface="Georgia"/>
              </a:rPr>
              <a:t>).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00">
              <a:latin typeface="Georgia"/>
              <a:cs typeface="Georgia"/>
            </a:endParaRPr>
          </a:p>
          <a:p>
            <a:pPr marL="477520" marR="31115">
              <a:lnSpc>
                <a:spcPts val="1180"/>
              </a:lnSpc>
            </a:pPr>
            <a:r>
              <a:rPr dirty="0" sz="1000" spc="-55">
                <a:latin typeface="Georgia"/>
                <a:cs typeface="Georgia"/>
              </a:rPr>
              <a:t>Pokaˇzite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da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ova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varijanta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naˇcina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kriptiranja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70">
                <a:latin typeface="Georgia"/>
                <a:cs typeface="Georgia"/>
              </a:rPr>
              <a:t>CBC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b="1">
                <a:latin typeface="Cambria"/>
                <a:cs typeface="Cambria"/>
              </a:rPr>
              <a:t>ne</a:t>
            </a:r>
            <a:r>
              <a:rPr dirty="0" sz="1000" spc="140" b="1">
                <a:latin typeface="Cambria"/>
                <a:cs typeface="Cambria"/>
              </a:rPr>
              <a:t> </a:t>
            </a:r>
            <a:r>
              <a:rPr dirty="0" sz="1000" spc="-10" b="1">
                <a:latin typeface="Cambria"/>
                <a:cs typeface="Cambria"/>
              </a:rPr>
              <a:t>pruˇza</a:t>
            </a:r>
            <a:r>
              <a:rPr dirty="0" sz="1000" spc="110" b="1">
                <a:latin typeface="Cambria"/>
                <a:cs typeface="Cambria"/>
              </a:rPr>
              <a:t> </a:t>
            </a:r>
            <a:r>
              <a:rPr dirty="0" sz="1000" spc="-65">
                <a:latin typeface="Georgia"/>
                <a:cs typeface="Georgia"/>
              </a:rPr>
              <a:t>semantiˇcku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sigurnost.</a:t>
            </a:r>
            <a:r>
              <a:rPr dirty="0" sz="1000" spc="229">
                <a:latin typeface="Georgia"/>
                <a:cs typeface="Georgia"/>
              </a:rPr>
              <a:t> </a:t>
            </a:r>
            <a:r>
              <a:rPr dirty="0" sz="1000" spc="-65">
                <a:latin typeface="Georgia"/>
                <a:cs typeface="Georgia"/>
              </a:rPr>
              <a:t>Toˇcnije,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opiˇsite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60">
                <a:latin typeface="Georgia"/>
                <a:cs typeface="Georgia"/>
              </a:rPr>
              <a:t>napadaˇca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koji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50">
                <a:latin typeface="Georgia"/>
                <a:cs typeface="Georgia"/>
              </a:rPr>
              <a:t>s</a:t>
            </a:r>
            <a:r>
              <a:rPr dirty="0" sz="1000" spc="-20">
                <a:latin typeface="Georgia"/>
                <a:cs typeface="Georgia"/>
              </a:rPr>
              <a:t> velikom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vjer</a:t>
            </a:r>
            <a:r>
              <a:rPr dirty="0" sz="1000" spc="15">
                <a:latin typeface="Georgia"/>
                <a:cs typeface="Georgia"/>
              </a:rPr>
              <a:t>o</a:t>
            </a:r>
            <a:r>
              <a:rPr dirty="0" sz="1000" spc="-10">
                <a:latin typeface="Georgia"/>
                <a:cs typeface="Georgia"/>
              </a:rPr>
              <a:t>jatn</a:t>
            </a:r>
            <a:r>
              <a:rPr dirty="0" sz="1000" spc="-70">
                <a:latin typeface="Georgia"/>
                <a:cs typeface="Georgia"/>
              </a:rPr>
              <a:t>o</a:t>
            </a:r>
            <a:r>
              <a:rPr dirty="0" sz="1000" spc="-465">
                <a:latin typeface="Georgia"/>
                <a:cs typeface="Georgia"/>
              </a:rPr>
              <a:t>ˇ</a:t>
            </a:r>
            <a:r>
              <a:rPr dirty="0" sz="1000" spc="-45">
                <a:latin typeface="Georgia"/>
                <a:cs typeface="Georgia"/>
              </a:rPr>
              <a:t>s</a:t>
            </a:r>
            <a:r>
              <a:rPr dirty="0" sz="1000" spc="-490">
                <a:latin typeface="Georgia"/>
                <a:cs typeface="Georgia"/>
              </a:rPr>
              <a:t>´</a:t>
            </a:r>
            <a:r>
              <a:rPr dirty="0" sz="1000" spc="-20">
                <a:latin typeface="Georgia"/>
                <a:cs typeface="Georgia"/>
              </a:rPr>
              <a:t>c</a:t>
            </a:r>
            <a:r>
              <a:rPr dirty="0" sz="1000" spc="-10">
                <a:latin typeface="Georgia"/>
                <a:cs typeface="Georgia"/>
              </a:rPr>
              <a:t>u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 spc="-130">
                <a:latin typeface="Georgia"/>
                <a:cs typeface="Georgia"/>
              </a:rPr>
              <a:t>moˇze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pobijediti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-60">
                <a:latin typeface="Georgia"/>
                <a:cs typeface="Georgia"/>
              </a:rPr>
              <a:t>izazivaˇca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u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 spc="-15">
                <a:latin typeface="Georgia"/>
                <a:cs typeface="Georgia"/>
              </a:rPr>
              <a:t>sljed</a:t>
            </a:r>
            <a:r>
              <a:rPr dirty="0" sz="1000" spc="-50">
                <a:latin typeface="Georgia"/>
                <a:cs typeface="Georgia"/>
              </a:rPr>
              <a:t>e</a:t>
            </a:r>
            <a:r>
              <a:rPr dirty="0" sz="1000" spc="-495">
                <a:latin typeface="Georgia"/>
                <a:cs typeface="Georgia"/>
              </a:rPr>
              <a:t>´</a:t>
            </a:r>
            <a:r>
              <a:rPr dirty="0" sz="1000" spc="-15">
                <a:latin typeface="Georgia"/>
                <a:cs typeface="Georgia"/>
              </a:rPr>
              <a:t>c</a:t>
            </a:r>
            <a:r>
              <a:rPr dirty="0" sz="1000" spc="10">
                <a:latin typeface="Georgia"/>
                <a:cs typeface="Georgia"/>
              </a:rPr>
              <a:t>o</a:t>
            </a:r>
            <a:r>
              <a:rPr dirty="0" sz="1000" spc="-15">
                <a:latin typeface="Georgia"/>
                <a:cs typeface="Georgia"/>
              </a:rPr>
              <a:t>j</a:t>
            </a:r>
            <a:r>
              <a:rPr dirty="0" sz="1000" spc="6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igri:</a:t>
            </a:r>
            <a:endParaRPr sz="1000">
              <a:latin typeface="Georgia"/>
              <a:cs typeface="Georgia"/>
            </a:endParaRPr>
          </a:p>
          <a:p>
            <a:pPr marL="712470" indent="-131445">
              <a:lnSpc>
                <a:spcPct val="100000"/>
              </a:lnSpc>
              <a:spcBef>
                <a:spcPts val="320"/>
              </a:spcBef>
              <a:buAutoNum type="romanLcPeriod"/>
              <a:tabLst>
                <a:tab pos="712470" algn="l"/>
              </a:tabLst>
            </a:pPr>
            <a:r>
              <a:rPr dirty="0" sz="1000" spc="-70">
                <a:latin typeface="Georgia"/>
                <a:cs typeface="Georgia"/>
              </a:rPr>
              <a:t>Izazivaˇc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izabere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nasumiˇcni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-85">
                <a:latin typeface="Georgia"/>
                <a:cs typeface="Georgia"/>
              </a:rPr>
              <a:t>kljuˇc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 spc="65" i="1">
                <a:latin typeface="Calibri"/>
                <a:cs typeface="Calibri"/>
              </a:rPr>
              <a:t>k</a:t>
            </a:r>
            <a:r>
              <a:rPr dirty="0" sz="1000" spc="95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nasumiˇcni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bit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 spc="-50" i="1">
                <a:latin typeface="Calibri"/>
                <a:cs typeface="Calibri"/>
              </a:rPr>
              <a:t>b</a:t>
            </a:r>
            <a:endParaRPr sz="1000">
              <a:latin typeface="Calibri"/>
              <a:cs typeface="Calibri"/>
            </a:endParaRPr>
          </a:p>
          <a:p>
            <a:pPr marL="711835" indent="-166370">
              <a:lnSpc>
                <a:spcPct val="100000"/>
              </a:lnSpc>
              <a:spcBef>
                <a:spcPts val="150"/>
              </a:spcBef>
              <a:buAutoNum type="romanLcPeriod"/>
              <a:tabLst>
                <a:tab pos="711835" algn="l"/>
              </a:tabLst>
            </a:pPr>
            <a:r>
              <a:rPr dirty="0" sz="1000" spc="-65">
                <a:latin typeface="Georgia"/>
                <a:cs typeface="Georgia"/>
              </a:rPr>
              <a:t>Napadaˇc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odabere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dvije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proizvoljne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poruke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i="1">
                <a:latin typeface="Calibri"/>
                <a:cs typeface="Calibri"/>
              </a:rPr>
              <a:t>p</a:t>
            </a:r>
            <a:r>
              <a:rPr dirty="0" baseline="-11904" sz="1050">
                <a:latin typeface="Roboto"/>
                <a:cs typeface="Roboto"/>
              </a:rPr>
              <a:t>0</a:t>
            </a:r>
            <a:r>
              <a:rPr dirty="0" baseline="-11904" sz="1050" spc="225">
                <a:latin typeface="Roboto"/>
                <a:cs typeface="Roboto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i="1">
                <a:latin typeface="Calibri"/>
                <a:cs typeface="Calibri"/>
              </a:rPr>
              <a:t>p</a:t>
            </a:r>
            <a:r>
              <a:rPr dirty="0" baseline="-11904" sz="1050">
                <a:latin typeface="Roboto"/>
                <a:cs typeface="Roboto"/>
              </a:rPr>
              <a:t>1</a:t>
            </a:r>
            <a:r>
              <a:rPr dirty="0" sz="1000">
                <a:latin typeface="Georgia"/>
                <a:cs typeface="Georgia"/>
              </a:rPr>
              <a:t>,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obje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duljine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32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bajta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(dakle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dva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bloka),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poˇsalje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ih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izazivaˇcu</a:t>
            </a:r>
            <a:endParaRPr sz="1000">
              <a:latin typeface="Georgia"/>
              <a:cs typeface="Georgia"/>
            </a:endParaRPr>
          </a:p>
          <a:p>
            <a:pPr marL="711200" indent="-200660">
              <a:lnSpc>
                <a:spcPct val="100000"/>
              </a:lnSpc>
              <a:spcBef>
                <a:spcPts val="145"/>
              </a:spcBef>
              <a:buAutoNum type="romanLcPeriod"/>
              <a:tabLst>
                <a:tab pos="711200" algn="l"/>
              </a:tabLst>
            </a:pPr>
            <a:r>
              <a:rPr dirty="0" sz="1000" spc="-70">
                <a:latin typeface="Georgia"/>
                <a:cs typeface="Georgia"/>
              </a:rPr>
              <a:t>Izazivaˇc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65">
                <a:latin typeface="Georgia"/>
                <a:cs typeface="Georgia"/>
              </a:rPr>
              <a:t>izraˇcuna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i="1">
                <a:latin typeface="Calibri"/>
                <a:cs typeface="Calibri"/>
              </a:rPr>
              <a:t>c</a:t>
            </a:r>
            <a:r>
              <a:rPr dirty="0" sz="1000" spc="40" i="1">
                <a:latin typeface="Calibri"/>
                <a:cs typeface="Calibri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105" i="1">
                <a:latin typeface="Calibri"/>
                <a:cs typeface="Calibri"/>
              </a:rPr>
              <a:t>E</a:t>
            </a:r>
            <a:r>
              <a:rPr dirty="0" sz="1000" spc="105">
                <a:latin typeface="Georgia"/>
                <a:cs typeface="Georgia"/>
              </a:rPr>
              <a:t>(</a:t>
            </a:r>
            <a:r>
              <a:rPr dirty="0" sz="1000" spc="105" i="1">
                <a:latin typeface="Calibri"/>
                <a:cs typeface="Calibri"/>
              </a:rPr>
              <a:t>k,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p</a:t>
            </a:r>
            <a:r>
              <a:rPr dirty="0" baseline="-11904" sz="1050" i="1">
                <a:latin typeface="Calibri"/>
                <a:cs typeface="Calibri"/>
              </a:rPr>
              <a:t>b</a:t>
            </a:r>
            <a:r>
              <a:rPr dirty="0" sz="1000">
                <a:latin typeface="Georgia"/>
                <a:cs typeface="Georgia"/>
              </a:rPr>
              <a:t>)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poˇsalje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napadaˇcu</a:t>
            </a:r>
            <a:endParaRPr sz="1000">
              <a:latin typeface="Georgia"/>
              <a:cs typeface="Georgia"/>
            </a:endParaRPr>
          </a:p>
          <a:p>
            <a:pPr marL="477520" marR="3622040" indent="233679">
              <a:lnSpc>
                <a:spcPct val="120800"/>
              </a:lnSpc>
              <a:buAutoNum type="romanLcPeriod"/>
              <a:tabLst>
                <a:tab pos="711200" algn="l"/>
              </a:tabLst>
            </a:pPr>
            <a:r>
              <a:rPr dirty="0" sz="1000" spc="-65">
                <a:latin typeface="Georgia"/>
                <a:cs typeface="Georgia"/>
              </a:rPr>
              <a:t>Napadaˇc</a:t>
            </a:r>
            <a:r>
              <a:rPr dirty="0" sz="1000" spc="5">
                <a:latin typeface="Georgia"/>
                <a:cs typeface="Georgia"/>
              </a:rPr>
              <a:t> </a:t>
            </a:r>
            <a:r>
              <a:rPr dirty="0" sz="1000" spc="-95">
                <a:latin typeface="Georgia"/>
                <a:cs typeface="Georgia"/>
              </a:rPr>
              <a:t>ispiˇse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bit</a:t>
            </a:r>
            <a:r>
              <a:rPr dirty="0" sz="1000" spc="15">
                <a:latin typeface="Georgia"/>
                <a:cs typeface="Georgia"/>
              </a:rPr>
              <a:t> </a:t>
            </a:r>
            <a:r>
              <a:rPr dirty="0" baseline="13888" sz="1500" spc="-419">
                <a:latin typeface="Georgia"/>
                <a:cs typeface="Georgia"/>
              </a:rPr>
              <a:t>ˆ</a:t>
            </a:r>
            <a:r>
              <a:rPr dirty="0" sz="1000" spc="-280" i="1">
                <a:latin typeface="Calibri"/>
                <a:cs typeface="Calibri"/>
              </a:rPr>
              <a:t>b</a:t>
            </a:r>
            <a:r>
              <a:rPr dirty="0" sz="1000" spc="105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pobjeduje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u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igri</a:t>
            </a:r>
            <a:r>
              <a:rPr dirty="0" sz="1000" spc="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ako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i="1">
                <a:latin typeface="Calibri"/>
                <a:cs typeface="Calibri"/>
              </a:rPr>
              <a:t>b</a:t>
            </a:r>
            <a:r>
              <a:rPr dirty="0" sz="1000" spc="15" i="1">
                <a:latin typeface="Calibri"/>
                <a:cs typeface="Calibri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-30">
                <a:latin typeface="Georgia"/>
                <a:cs typeface="Georgia"/>
              </a:rPr>
              <a:t> </a:t>
            </a:r>
            <a:r>
              <a:rPr dirty="0" baseline="13888" sz="1500" spc="-457">
                <a:latin typeface="Georgia"/>
                <a:cs typeface="Georgia"/>
              </a:rPr>
              <a:t>ˆ</a:t>
            </a:r>
            <a:r>
              <a:rPr dirty="0" sz="1000" spc="-305" i="1">
                <a:latin typeface="Calibri"/>
                <a:cs typeface="Calibri"/>
              </a:rPr>
              <a:t>b</a:t>
            </a:r>
            <a:r>
              <a:rPr dirty="0" sz="1000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Koliku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prednost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ima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napadaˇc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u</a:t>
            </a:r>
            <a:r>
              <a:rPr dirty="0" sz="1000" spc="2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navedenoj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igri?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Uzmimo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proizvoljne</a:t>
            </a:r>
            <a:r>
              <a:rPr dirty="0" sz="1000" spc="9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5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75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sz="1000" spc="5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000" spc="-6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baseline="-11904" sz="1050" spc="217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145">
                <a:solidFill>
                  <a:srgbClr val="0000FF"/>
                </a:solidFill>
                <a:latin typeface="Lucida Sans Unicode"/>
                <a:cs typeface="Lucida Sans Unicode"/>
              </a:rPr>
              <a:t>∈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160">
                <a:solidFill>
                  <a:srgbClr val="0000FF"/>
                </a:solidFill>
                <a:latin typeface="Lucida Sans Unicode"/>
                <a:cs typeface="Lucida Sans Unicode"/>
              </a:rPr>
              <a:t>M</a:t>
            </a:r>
            <a:r>
              <a:rPr dirty="0" sz="1000" spc="160">
                <a:solidFill>
                  <a:srgbClr val="0000FF"/>
                </a:solidFill>
                <a:latin typeface="Georgia"/>
                <a:cs typeface="Georgia"/>
              </a:rPr>
              <a:t>,</a:t>
            </a:r>
            <a:r>
              <a:rPr dirty="0" sz="1000" spc="9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takve</a:t>
            </a:r>
            <a:r>
              <a:rPr dirty="0" sz="1000" spc="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da</a:t>
            </a:r>
            <a:r>
              <a:rPr dirty="0" sz="1000" spc="9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1904" sz="1050" spc="217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65">
                <a:solidFill>
                  <a:srgbClr val="0000FF"/>
                </a:solidFill>
                <a:latin typeface="Lucida Sans Unicode"/>
                <a:cs typeface="Lucida Sans Unicode"/>
              </a:rPr>
              <a:t≯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-37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algn="just" marL="477520" marR="5588635">
              <a:lnSpc>
                <a:spcPts val="1200"/>
              </a:lnSpc>
              <a:spcBef>
                <a:spcPts val="35"/>
              </a:spcBef>
            </a:pPr>
            <a:r>
              <a:rPr dirty="0" sz="1000" spc="-20">
                <a:solidFill>
                  <a:srgbClr val="0000FF"/>
                </a:solidFill>
                <a:latin typeface="Tahoma"/>
                <a:cs typeface="Tahoma"/>
              </a:rPr>
              <a:t>m</a:t>
            </a:r>
            <a:r>
              <a:rPr dirty="0" baseline="-11904" sz="1050" spc="-30">
                <a:solidFill>
                  <a:srgbClr val="0000FF"/>
                </a:solidFill>
                <a:latin typeface="Roboto"/>
                <a:cs typeface="Roboto"/>
              </a:rPr>
              <a:t>00</a:t>
            </a:r>
            <a:r>
              <a:rPr dirty="0" baseline="-11904" sz="1050" spc="225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4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6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1904" sz="1050" spc="142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85">
                <a:solidFill>
                  <a:srgbClr val="0000FF"/>
                </a:solidFill>
                <a:latin typeface="Lucida Sans Unicode"/>
                <a:cs typeface="Lucida Sans Unicode"/>
              </a:rPr>
              <a:t>∥</a:t>
            </a:r>
            <a:r>
              <a:rPr dirty="0" sz="1000" spc="-9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4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6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1904" sz="1050" spc="142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35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75">
                <a:solidFill>
                  <a:srgbClr val="0000FF"/>
                </a:solidFill>
                <a:latin typeface="Tahoma"/>
                <a:cs typeface="Tahoma"/>
              </a:rPr>
              <a:t>B</a:t>
            </a:r>
            <a:r>
              <a:rPr dirty="0" sz="1000" spc="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Tahoma"/>
                <a:cs typeface="Tahoma"/>
              </a:rPr>
              <a:t>m</a:t>
            </a:r>
            <a:r>
              <a:rPr dirty="0" baseline="-11904" sz="1050" spc="-30">
                <a:solidFill>
                  <a:srgbClr val="0000FF"/>
                </a:solidFill>
                <a:latin typeface="Roboto"/>
                <a:cs typeface="Roboto"/>
              </a:rPr>
              <a:t>01</a:t>
            </a:r>
            <a:r>
              <a:rPr dirty="0" baseline="-11904" sz="1050" spc="225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4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6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1904" sz="1050" spc="142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85">
                <a:solidFill>
                  <a:srgbClr val="0000FF"/>
                </a:solidFill>
                <a:latin typeface="Lucida Sans Unicode"/>
                <a:cs typeface="Lucida Sans Unicode"/>
              </a:rPr>
              <a:t>∥</a:t>
            </a:r>
            <a:r>
              <a:rPr dirty="0" sz="1000" spc="-9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4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60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baseline="-11904" sz="1050" spc="142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35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75">
                <a:solidFill>
                  <a:srgbClr val="0000FF"/>
                </a:solidFill>
                <a:latin typeface="Tahoma"/>
                <a:cs typeface="Tahoma"/>
              </a:rPr>
              <a:t>B</a:t>
            </a:r>
            <a:r>
              <a:rPr dirty="0" sz="1000" spc="4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U</a:t>
            </a:r>
            <a:r>
              <a:rPr dirty="0" sz="1000" spc="9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35">
                <a:solidFill>
                  <a:srgbClr val="0000FF"/>
                </a:solidFill>
                <a:latin typeface="Georgia"/>
                <a:cs typeface="Georgia"/>
              </a:rPr>
              <a:t>eksperimentu</a:t>
            </a:r>
            <a:r>
              <a:rPr dirty="0" sz="1000" spc="9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85">
                <a:solidFill>
                  <a:srgbClr val="0000FF"/>
                </a:solidFill>
                <a:latin typeface="Georgia"/>
                <a:cs typeface="Georgia"/>
              </a:rPr>
              <a:t>0:</a:t>
            </a:r>
            <a:endParaRPr sz="1000">
              <a:latin typeface="Georgia"/>
              <a:cs typeface="Georgia"/>
            </a:endParaRPr>
          </a:p>
          <a:p>
            <a:pPr algn="just" marL="477520">
              <a:lnSpc>
                <a:spcPts val="1145"/>
              </a:lnSpc>
            </a:pP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1904" sz="1050" spc="284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00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000" spc="-4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2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 spc="-30">
                <a:solidFill>
                  <a:srgbClr val="0000FF"/>
                </a:solidFill>
                <a:latin typeface="Roboto"/>
                <a:cs typeface="Roboto"/>
              </a:rPr>
              <a:t>01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  <a:p>
            <a:pPr marL="477520">
              <a:lnSpc>
                <a:spcPts val="1195"/>
              </a:lnSpc>
            </a:pP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00</a:t>
            </a:r>
            <a:r>
              <a:rPr dirty="0" baseline="-11904" sz="1050" spc="300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E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k,</a:t>
            </a:r>
            <a:r>
              <a:rPr dirty="0" sz="1000" spc="-3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1904" sz="1050" spc="209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6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IV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),</a:t>
            </a:r>
            <a:r>
              <a:rPr dirty="0" sz="1000" spc="1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01</a:t>
            </a:r>
            <a:r>
              <a:rPr dirty="0" baseline="-11904" sz="1050" spc="300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E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k,</a:t>
            </a:r>
            <a:r>
              <a:rPr dirty="0" sz="1000" spc="-3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1904" sz="1050" spc="209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6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75">
                <a:solidFill>
                  <a:srgbClr val="0000FF"/>
                </a:solidFill>
                <a:latin typeface="Tahoma"/>
                <a:cs typeface="Tahoma"/>
              </a:rPr>
              <a:t>B</a:t>
            </a:r>
            <a:r>
              <a:rPr dirty="0" sz="1000" spc="-6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6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IV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1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1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E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k,</a:t>
            </a:r>
            <a:r>
              <a:rPr dirty="0" sz="1000" spc="-3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1904" sz="1050" spc="202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6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IV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 spc="-37">
                <a:solidFill>
                  <a:srgbClr val="0000FF"/>
                </a:solidFill>
                <a:latin typeface="Roboto"/>
                <a:cs typeface="Roboto"/>
              </a:rPr>
              <a:t>00</a:t>
            </a:r>
            <a:endParaRPr baseline="-11904" sz="1050">
              <a:latin typeface="Roboto"/>
              <a:cs typeface="Roboto"/>
            </a:endParaRPr>
          </a:p>
          <a:p>
            <a:pPr algn="just" marL="477520">
              <a:lnSpc>
                <a:spcPts val="1195"/>
              </a:lnSpc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U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30">
                <a:solidFill>
                  <a:srgbClr val="0000FF"/>
                </a:solidFill>
                <a:latin typeface="Georgia"/>
                <a:cs typeface="Georgia"/>
              </a:rPr>
              <a:t>eksperimentu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1:</a:t>
            </a:r>
            <a:endParaRPr sz="1000">
              <a:latin typeface="Georgia"/>
              <a:cs typeface="Georgia"/>
            </a:endParaRPr>
          </a:p>
          <a:p>
            <a:pPr algn="just" marL="477520">
              <a:lnSpc>
                <a:spcPts val="1195"/>
              </a:lnSpc>
            </a:pP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1904" sz="1050" spc="284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00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000" spc="-4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2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 spc="-30">
                <a:solidFill>
                  <a:srgbClr val="0000FF"/>
                </a:solidFill>
                <a:latin typeface="Roboto"/>
                <a:cs typeface="Roboto"/>
              </a:rPr>
              <a:t>01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  <a:p>
            <a:pPr marL="477520">
              <a:lnSpc>
                <a:spcPts val="1200"/>
              </a:lnSpc>
            </a:pP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00</a:t>
            </a:r>
            <a:r>
              <a:rPr dirty="0" baseline="-11904" sz="1050" spc="292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7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E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k,</a:t>
            </a:r>
            <a:r>
              <a:rPr dirty="0" sz="1000" spc="-4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1904" sz="1050" spc="195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6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IV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),</a:t>
            </a:r>
            <a:r>
              <a:rPr dirty="0" sz="1000" spc="1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01</a:t>
            </a:r>
            <a:r>
              <a:rPr dirty="0" baseline="-11904" sz="1050" spc="300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7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E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k,</a:t>
            </a:r>
            <a:r>
              <a:rPr dirty="0" sz="1000" spc="-4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baseline="-11904" sz="1050" spc="202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7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75">
                <a:solidFill>
                  <a:srgbClr val="0000FF"/>
                </a:solidFill>
                <a:latin typeface="Tahoma"/>
                <a:cs typeface="Tahoma"/>
              </a:rPr>
              <a:t>B</a:t>
            </a:r>
            <a:r>
              <a:rPr dirty="0" sz="1000" spc="-6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7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IV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1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1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E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k,</a:t>
            </a:r>
            <a:r>
              <a:rPr dirty="0" sz="1000" spc="-4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baseline="-11904" sz="1050" spc="202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7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IV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7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65">
                <a:solidFill>
                  <a:srgbClr val="0000FF"/>
                </a:solidFill>
                <a:latin typeface="Lucida Sans Unicode"/>
                <a:cs typeface="Lucida Sans Unicode"/>
              </a:rPr>
              <a:t≯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7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00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,</a:t>
            </a:r>
            <a:r>
              <a:rPr dirty="0" sz="1000" spc="1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zbog</a:t>
            </a:r>
            <a:r>
              <a:rPr dirty="0" sz="1000" spc="1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1904" sz="1050" spc="292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65">
                <a:solidFill>
                  <a:srgbClr val="0000FF"/>
                </a:solidFill>
                <a:latin typeface="Lucida Sans Unicode"/>
                <a:cs typeface="Lucida Sans Unicode"/>
              </a:rPr>
              <a:t≯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7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-37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000">
              <a:latin typeface="Georgia"/>
              <a:cs typeface="Georgia"/>
            </a:endParaRPr>
          </a:p>
          <a:p>
            <a:pPr marL="477520">
              <a:lnSpc>
                <a:spcPts val="1200"/>
              </a:lnSpc>
              <a:spcBef>
                <a:spcPts val="5"/>
              </a:spcBef>
            </a:pP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Program</a:t>
            </a:r>
            <a:r>
              <a:rPr dirty="0" sz="1000" spc="9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60">
                <a:solidFill>
                  <a:srgbClr val="0000FF"/>
                </a:solidFill>
                <a:latin typeface="Georgia"/>
                <a:cs typeface="Georgia"/>
              </a:rPr>
              <a:t>napadaˇca:</a:t>
            </a:r>
            <a:r>
              <a:rPr dirty="0" sz="1000" spc="19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229">
                <a:solidFill>
                  <a:srgbClr val="0000FF"/>
                </a:solidFill>
                <a:latin typeface="Cambria"/>
                <a:cs typeface="Cambria"/>
              </a:rPr>
              <a:t>if</a:t>
            </a:r>
            <a:r>
              <a:rPr dirty="0" sz="1000" spc="12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c</a:t>
            </a:r>
            <a:r>
              <a:rPr dirty="0" baseline="-11904" sz="1050">
                <a:solidFill>
                  <a:srgbClr val="0000FF"/>
                </a:solidFill>
                <a:latin typeface="Trebuchet MS"/>
                <a:cs typeface="Trebuchet MS"/>
              </a:rPr>
              <a:t>00</a:t>
            </a:r>
            <a:r>
              <a:rPr dirty="0" baseline="-11904" sz="1050" spc="172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c</a:t>
            </a:r>
            <a:r>
              <a:rPr dirty="0" baseline="-11904" sz="1050">
                <a:solidFill>
                  <a:srgbClr val="0000FF"/>
                </a:solidFill>
                <a:latin typeface="Trebuchet MS"/>
                <a:cs typeface="Trebuchet MS"/>
              </a:rPr>
              <a:t>01</a:t>
            </a:r>
            <a:r>
              <a:rPr dirty="0" baseline="-11904" sz="1050" spc="-7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:</a:t>
            </a:r>
            <a:r>
              <a:rPr dirty="0" sz="1000" spc="4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440">
                <a:solidFill>
                  <a:srgbClr val="0000FF"/>
                </a:solidFill>
                <a:latin typeface="Cambria"/>
                <a:cs typeface="Cambria"/>
              </a:rPr>
              <a:t>b</a:t>
            </a:r>
            <a:r>
              <a:rPr dirty="0" baseline="8333" sz="1500" spc="172">
                <a:solidFill>
                  <a:srgbClr val="0000FF"/>
                </a:solidFill>
                <a:latin typeface="Cambria"/>
                <a:cs typeface="Cambria"/>
              </a:rPr>
              <a:t>ˆ</a:t>
            </a:r>
            <a:r>
              <a:rPr dirty="0" baseline="8333" sz="1500" spc="89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Cambria"/>
                <a:cs typeface="Cambria"/>
              </a:rPr>
              <a:t>1</a:t>
            </a:r>
            <a:r>
              <a:rPr dirty="0" sz="1000" spc="12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100">
                <a:solidFill>
                  <a:srgbClr val="0000FF"/>
                </a:solidFill>
                <a:latin typeface="Cambria"/>
                <a:cs typeface="Cambria"/>
              </a:rPr>
              <a:t>else</a:t>
            </a:r>
            <a:r>
              <a:rPr dirty="0" sz="1000" spc="12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baseline="8333" sz="1500" spc="-240">
                <a:solidFill>
                  <a:srgbClr val="0000FF"/>
                </a:solidFill>
                <a:latin typeface="Cambria"/>
                <a:cs typeface="Cambria"/>
              </a:rPr>
              <a:t>ˆ</a:t>
            </a:r>
            <a:r>
              <a:rPr dirty="0" sz="1000" spc="-160">
                <a:solidFill>
                  <a:srgbClr val="0000FF"/>
                </a:solidFill>
                <a:latin typeface="Cambria"/>
                <a:cs typeface="Cambria"/>
              </a:rPr>
              <a:t>b</a:t>
            </a:r>
            <a:r>
              <a:rPr dirty="0" sz="1000" spc="5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50">
                <a:solidFill>
                  <a:srgbClr val="0000FF"/>
                </a:solidFill>
                <a:latin typeface="Cambria"/>
                <a:cs typeface="Cambria"/>
              </a:rPr>
              <a:t>0</a:t>
            </a:r>
            <a:endParaRPr sz="1000">
              <a:latin typeface="Cambria"/>
              <a:cs typeface="Cambria"/>
            </a:endParaRPr>
          </a:p>
          <a:p>
            <a:pPr marL="477520">
              <a:lnSpc>
                <a:spcPts val="1200"/>
              </a:lnSpc>
            </a:pP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Prednost</a:t>
            </a:r>
            <a:r>
              <a:rPr dirty="0" sz="1000" spc="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60">
                <a:solidFill>
                  <a:srgbClr val="0000FF"/>
                </a:solidFill>
                <a:latin typeface="Georgia"/>
                <a:cs typeface="Georgia"/>
              </a:rPr>
              <a:t>napadaˇca:</a:t>
            </a:r>
            <a:r>
              <a:rPr dirty="0" sz="1000" spc="19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Lucida Sans Unicode"/>
                <a:cs typeface="Lucida Sans Unicode"/>
              </a:rPr>
              <a:t>|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P</a:t>
            </a:r>
            <a:r>
              <a:rPr dirty="0" sz="1000" spc="-9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W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dirty="0" sz="10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120" i="1">
                <a:solidFill>
                  <a:srgbClr val="0000FF"/>
                </a:solidFill>
                <a:latin typeface="Calibri"/>
                <a:cs typeface="Calibri"/>
              </a:rPr>
              <a:t>P</a:t>
            </a:r>
            <a:r>
              <a:rPr dirty="0" sz="1000" spc="-9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W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>
                <a:solidFill>
                  <a:srgbClr val="0000FF"/>
                </a:solidFill>
                <a:latin typeface="Lucida Sans Unicode"/>
                <a:cs typeface="Lucida Sans Unicode"/>
              </a:rPr>
              <a:t>|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Lucida Sans Unicode"/>
                <a:cs typeface="Lucida Sans Unicode"/>
              </a:rPr>
              <a:t>|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−</a:t>
            </a:r>
            <a:r>
              <a:rPr dirty="0" sz="10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14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dirty="0" sz="1000" spc="-114">
                <a:solidFill>
                  <a:srgbClr val="0000FF"/>
                </a:solidFill>
                <a:latin typeface="Lucida Sans Unicode"/>
                <a:cs typeface="Lucida Sans Unicode"/>
              </a:rPr>
              <a:t>|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endParaRPr sz="1000">
              <a:latin typeface="Georgia"/>
              <a:cs typeface="Georgia"/>
            </a:endParaRPr>
          </a:p>
          <a:p>
            <a:pPr marL="198120" indent="-160020">
              <a:lnSpc>
                <a:spcPts val="1200"/>
              </a:lnSpc>
              <a:spcBef>
                <a:spcPts val="695"/>
              </a:spcBef>
              <a:buAutoNum type="arabicPeriod" startAt="4"/>
              <a:tabLst>
                <a:tab pos="198120" algn="l"/>
              </a:tabLst>
            </a:pPr>
            <a:r>
              <a:rPr dirty="0" sz="1000">
                <a:latin typeface="Georgia"/>
                <a:cs typeface="Georgia"/>
              </a:rPr>
              <a:t>(5</a:t>
            </a:r>
            <a:r>
              <a:rPr dirty="0" sz="1000" spc="15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bodova)</a:t>
            </a:r>
            <a:r>
              <a:rPr dirty="0" sz="1000" spc="155">
                <a:latin typeface="Georgia"/>
                <a:cs typeface="Georgia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Funkcije</a:t>
            </a:r>
            <a:r>
              <a:rPr dirty="0" sz="1000" spc="175" i="1">
                <a:latin typeface="Palatino Linotype"/>
                <a:cs typeface="Palatino Linotype"/>
              </a:rPr>
              <a:t> </a:t>
            </a:r>
            <a:r>
              <a:rPr dirty="0" sz="1000" spc="-10" i="1">
                <a:latin typeface="Palatino Linotype"/>
                <a:cs typeface="Palatino Linotype"/>
              </a:rPr>
              <a:t>saˇzetka</a:t>
            </a:r>
            <a:r>
              <a:rPr dirty="0" sz="1000" spc="175" i="1">
                <a:latin typeface="Palatino Linotype"/>
                <a:cs typeface="Palatino Linotype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(hash</a:t>
            </a:r>
            <a:r>
              <a:rPr dirty="0" sz="1000" spc="175" i="1">
                <a:latin typeface="Palatino Linotype"/>
                <a:cs typeface="Palatino Linotype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funkcije)</a:t>
            </a:r>
            <a:r>
              <a:rPr dirty="0" sz="1000" spc="175" i="1">
                <a:latin typeface="Palatino Linotype"/>
                <a:cs typeface="Palatino Linotype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i</a:t>
            </a:r>
            <a:r>
              <a:rPr dirty="0" sz="1000" spc="175" i="1">
                <a:latin typeface="Palatino Linotype"/>
                <a:cs typeface="Palatino Linotype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autenti</a:t>
            </a:r>
            <a:r>
              <a:rPr dirty="0" cap="small" sz="1000" i="1">
                <a:latin typeface="Palatino Linotype"/>
                <a:cs typeface="Palatino Linotype"/>
              </a:rPr>
              <a:t>fi</a:t>
            </a:r>
            <a:r>
              <a:rPr dirty="0" sz="1000" i="1">
                <a:latin typeface="Palatino Linotype"/>
                <a:cs typeface="Palatino Linotype"/>
              </a:rPr>
              <a:t>kacijske</a:t>
            </a:r>
            <a:r>
              <a:rPr dirty="0" sz="1000" spc="175" i="1">
                <a:latin typeface="Palatino Linotype"/>
                <a:cs typeface="Palatino Linotype"/>
              </a:rPr>
              <a:t> </a:t>
            </a:r>
            <a:r>
              <a:rPr dirty="0" sz="1000" spc="-20" i="1">
                <a:latin typeface="Palatino Linotype"/>
                <a:cs typeface="Palatino Linotype"/>
              </a:rPr>
              <a:t>znaˇcke</a:t>
            </a:r>
            <a:r>
              <a:rPr dirty="0" sz="1000" spc="170" i="1">
                <a:latin typeface="Palatino Linotype"/>
                <a:cs typeface="Palatino Linotype"/>
              </a:rPr>
              <a:t> </a:t>
            </a:r>
            <a:r>
              <a:rPr dirty="0" sz="1000" spc="-10" i="1">
                <a:latin typeface="Palatino Linotype"/>
                <a:cs typeface="Palatino Linotype"/>
              </a:rPr>
              <a:t>(MAC)</a:t>
            </a:r>
            <a:r>
              <a:rPr dirty="0" sz="1000" spc="-1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marL="199390">
              <a:lnSpc>
                <a:spcPts val="1200"/>
              </a:lnSpc>
            </a:pPr>
            <a:r>
              <a:rPr dirty="0" sz="1000">
                <a:latin typeface="Georgia"/>
                <a:cs typeface="Georgia"/>
              </a:rPr>
              <a:t>Neka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175" i="1">
                <a:latin typeface="Calibri"/>
                <a:cs typeface="Calibri"/>
              </a:rPr>
              <a:t>F</a:t>
            </a:r>
            <a:r>
              <a:rPr dirty="0" sz="1000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: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110" i="1">
                <a:latin typeface="Calibri"/>
                <a:cs typeface="Calibri"/>
              </a:rPr>
              <a:t>M</a:t>
            </a:r>
            <a:r>
              <a:rPr dirty="0" sz="1000" spc="125" i="1">
                <a:latin typeface="Calibri"/>
                <a:cs typeface="Calibri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-60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{</a:t>
            </a:r>
            <a:r>
              <a:rPr dirty="0" sz="1000">
                <a:latin typeface="Georgia"/>
                <a:cs typeface="Georgia"/>
              </a:rPr>
              <a:t>0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65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1</a:t>
            </a:r>
            <a:r>
              <a:rPr dirty="0" sz="1000">
                <a:latin typeface="Lucida Sans Unicode"/>
                <a:cs typeface="Lucida Sans Unicode"/>
              </a:rPr>
              <a:t>}</a:t>
            </a:r>
            <a:r>
              <a:rPr dirty="0" baseline="27777" sz="1050">
                <a:latin typeface="Roboto"/>
                <a:cs typeface="Roboto"/>
              </a:rPr>
              <a:t>128</a:t>
            </a:r>
            <a:r>
              <a:rPr dirty="0" baseline="27777" sz="1050" spc="270">
                <a:latin typeface="Roboto"/>
                <a:cs typeface="Roboto"/>
              </a:rPr>
              <a:t> </a:t>
            </a:r>
            <a:r>
              <a:rPr dirty="0" sz="1000" spc="-10">
                <a:latin typeface="Georgia"/>
                <a:cs typeface="Georgia"/>
              </a:rPr>
              <a:t>funkcija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koja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otporna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na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kolizije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poznata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55">
                <a:latin typeface="Georgia"/>
                <a:cs typeface="Georgia"/>
              </a:rPr>
              <a:t>napadaˇcu.</a:t>
            </a:r>
            <a:r>
              <a:rPr dirty="0" sz="1000" spc="165">
                <a:latin typeface="Georgia"/>
                <a:cs typeface="Georgia"/>
              </a:rPr>
              <a:t> </a:t>
            </a:r>
            <a:r>
              <a:rPr dirty="0" sz="1000" spc="-50">
                <a:latin typeface="Georgia"/>
                <a:cs typeface="Georgia"/>
              </a:rPr>
              <a:t>Obrazloˇzite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sljede´ce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tvrdnje.</a:t>
            </a:r>
            <a:endParaRPr sz="1000">
              <a:latin typeface="Georgia"/>
              <a:cs typeface="Georgia"/>
            </a:endParaRPr>
          </a:p>
          <a:p>
            <a:pPr lvl="1" marL="474980" indent="-222250">
              <a:lnSpc>
                <a:spcPct val="100000"/>
              </a:lnSpc>
              <a:spcBef>
                <a:spcPts val="700"/>
              </a:spcBef>
              <a:buAutoNum type="alphaLcParenBoth"/>
              <a:tabLst>
                <a:tab pos="474980" algn="l"/>
              </a:tabLst>
            </a:pPr>
            <a:r>
              <a:rPr dirty="0" sz="1000">
                <a:latin typeface="Georgia"/>
                <a:cs typeface="Georgia"/>
              </a:rPr>
              <a:t>(2)</a:t>
            </a:r>
            <a:r>
              <a:rPr dirty="0" sz="1000" spc="-2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3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li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sljede´ca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funkcija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otporna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na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kolizije:</a:t>
            </a:r>
            <a:r>
              <a:rPr dirty="0" sz="1000" spc="135">
                <a:latin typeface="Georgia"/>
                <a:cs typeface="Georgia"/>
              </a:rPr>
              <a:t> </a:t>
            </a:r>
            <a:r>
              <a:rPr dirty="0" sz="1000" spc="75" i="1">
                <a:latin typeface="Calibri"/>
                <a:cs typeface="Calibri"/>
              </a:rPr>
              <a:t>G</a:t>
            </a:r>
            <a:r>
              <a:rPr dirty="0" sz="1000" spc="75">
                <a:latin typeface="Georgia"/>
                <a:cs typeface="Georgia"/>
              </a:rPr>
              <a:t>(</a:t>
            </a:r>
            <a:r>
              <a:rPr dirty="0" sz="1000" spc="75" i="1">
                <a:latin typeface="Calibri"/>
                <a:cs typeface="Calibri"/>
              </a:rPr>
              <a:t>x</a:t>
            </a:r>
            <a:r>
              <a:rPr dirty="0" sz="1000" spc="75">
                <a:latin typeface="Georgia"/>
                <a:cs typeface="Georgia"/>
              </a:rPr>
              <a:t>)</a:t>
            </a:r>
            <a:r>
              <a:rPr dirty="0" sz="1000" spc="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5">
                <a:latin typeface="Georgia"/>
                <a:cs typeface="Georgia"/>
              </a:rPr>
              <a:t> </a:t>
            </a:r>
            <a:r>
              <a:rPr dirty="0" sz="1000" spc="175" i="1">
                <a:latin typeface="Calibri"/>
                <a:cs typeface="Calibri"/>
              </a:rPr>
              <a:t>F</a:t>
            </a:r>
            <a:r>
              <a:rPr dirty="0" sz="1000" spc="-90" i="1">
                <a:latin typeface="Calibri"/>
                <a:cs typeface="Calibri"/>
              </a:rPr>
              <a:t> </a:t>
            </a:r>
            <a:r>
              <a:rPr dirty="0" sz="1000" spc="-20">
                <a:latin typeface="Georgia"/>
                <a:cs typeface="Georgia"/>
              </a:rPr>
              <a:t>(</a:t>
            </a:r>
            <a:r>
              <a:rPr dirty="0" sz="1000" spc="-20" i="1">
                <a:latin typeface="Calibri"/>
                <a:cs typeface="Calibri"/>
              </a:rPr>
              <a:t>x</a:t>
            </a:r>
            <a:r>
              <a:rPr dirty="0" sz="1000" spc="-20">
                <a:latin typeface="Georgia"/>
                <a:cs typeface="Georgia"/>
              </a:rPr>
              <a:t>)[0</a:t>
            </a:r>
            <a:r>
              <a:rPr dirty="0" sz="1000" spc="-75">
                <a:latin typeface="Georgia"/>
                <a:cs typeface="Georgia"/>
              </a:rPr>
              <a:t> </a:t>
            </a:r>
            <a:r>
              <a:rPr dirty="0" sz="1000" i="1">
                <a:latin typeface="Calibri"/>
                <a:cs typeface="Calibri"/>
              </a:rPr>
              <a:t>.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.</a:t>
            </a:r>
            <a:r>
              <a:rPr dirty="0" sz="1000" spc="-6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.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31]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(tj.</a:t>
            </a:r>
            <a:r>
              <a:rPr dirty="0" sz="1000" spc="1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uzmi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prva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32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 spc="-5">
                <a:latin typeface="Georgia"/>
                <a:cs typeface="Georgia"/>
              </a:rPr>
              <a:t>n</a:t>
            </a:r>
            <a:r>
              <a:rPr dirty="0" sz="1000" spc="20">
                <a:latin typeface="Georgia"/>
                <a:cs typeface="Georgia"/>
              </a:rPr>
              <a:t>a</a:t>
            </a:r>
            <a:r>
              <a:rPr dirty="0" sz="1000" spc="-5">
                <a:latin typeface="Georgia"/>
                <a:cs typeface="Georgia"/>
              </a:rPr>
              <a:t>jzn</a:t>
            </a:r>
            <a:r>
              <a:rPr dirty="0" sz="1000" spc="-40">
                <a:latin typeface="Georgia"/>
                <a:cs typeface="Georgia"/>
              </a:rPr>
              <a:t>a</a:t>
            </a:r>
            <a:r>
              <a:rPr dirty="0" sz="1000" spc="-484">
                <a:latin typeface="Georgia"/>
                <a:cs typeface="Georgia"/>
              </a:rPr>
              <a:t>ˇ</a:t>
            </a:r>
            <a:r>
              <a:rPr dirty="0" sz="1000" spc="-5">
                <a:latin typeface="Georgia"/>
                <a:cs typeface="Georgia"/>
              </a:rPr>
              <a:t>c</a:t>
            </a:r>
            <a:r>
              <a:rPr dirty="0" sz="1000" spc="20">
                <a:latin typeface="Georgia"/>
                <a:cs typeface="Georgia"/>
              </a:rPr>
              <a:t>a</a:t>
            </a:r>
            <a:r>
              <a:rPr dirty="0" sz="1000" spc="-5">
                <a:latin typeface="Georgia"/>
                <a:cs typeface="Georgia"/>
              </a:rPr>
              <a:t>jnija</a:t>
            </a:r>
            <a:r>
              <a:rPr dirty="0" sz="1000" spc="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bita</a:t>
            </a:r>
            <a:r>
              <a:rPr dirty="0" sz="1000" spc="5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izlaza)?</a:t>
            </a:r>
            <a:endParaRPr sz="1000">
              <a:latin typeface="Georgia"/>
              <a:cs typeface="Georgia"/>
            </a:endParaRPr>
          </a:p>
          <a:p>
            <a:pPr marL="477520">
              <a:lnSpc>
                <a:spcPct val="100000"/>
              </a:lnSpc>
              <a:spcBef>
                <a:spcPts val="150"/>
              </a:spcBef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Ne,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napadac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mora</a:t>
            </a:r>
            <a:r>
              <a:rPr dirty="0" sz="1000" spc="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samo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iterirati</a:t>
            </a:r>
            <a:r>
              <a:rPr dirty="0" sz="1000" spc="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dirty="0" baseline="27777" sz="1050">
                <a:solidFill>
                  <a:srgbClr val="0000FF"/>
                </a:solidFill>
                <a:latin typeface="Roboto"/>
                <a:cs typeface="Roboto"/>
              </a:rPr>
              <a:t>32</a:t>
            </a:r>
            <a:r>
              <a:rPr dirty="0" baseline="27777" sz="1050" spc="172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puta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sigurno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ce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za</a:t>
            </a:r>
            <a:r>
              <a:rPr dirty="0" sz="1000" spc="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dvije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razlicite</a:t>
            </a:r>
            <a:r>
              <a:rPr dirty="0" sz="1000" spc="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poruke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dobiti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isti</a:t>
            </a:r>
            <a:r>
              <a:rPr dirty="0" sz="1000" spc="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sazatek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(pigeonhole</a:t>
            </a:r>
            <a:r>
              <a:rPr dirty="0" sz="1000" spc="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principle).</a:t>
            </a:r>
            <a:endParaRPr sz="1000">
              <a:latin typeface="Georgia"/>
              <a:cs typeface="Georgia"/>
            </a:endParaRPr>
          </a:p>
          <a:p>
            <a:pPr lvl="1" marL="474980" indent="-229235">
              <a:lnSpc>
                <a:spcPct val="100000"/>
              </a:lnSpc>
              <a:spcBef>
                <a:spcPts val="300"/>
              </a:spcBef>
              <a:buAutoNum type="alphaLcParenBoth" startAt="2"/>
              <a:tabLst>
                <a:tab pos="474980" algn="l"/>
              </a:tabLst>
            </a:pPr>
            <a:r>
              <a:rPr dirty="0" sz="1000">
                <a:latin typeface="Georgia"/>
                <a:cs typeface="Georgia"/>
              </a:rPr>
              <a:t>(1)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Definira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li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sljede´ca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funkcija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siguran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MAC: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105" i="1">
                <a:latin typeface="Calibri"/>
                <a:cs typeface="Calibri"/>
              </a:rPr>
              <a:t>H</a:t>
            </a:r>
            <a:r>
              <a:rPr dirty="0" sz="1000" spc="105">
                <a:latin typeface="Georgia"/>
                <a:cs typeface="Georgia"/>
              </a:rPr>
              <a:t>(</a:t>
            </a:r>
            <a:r>
              <a:rPr dirty="0" sz="1000" spc="105" i="1">
                <a:latin typeface="Calibri"/>
                <a:cs typeface="Calibri"/>
              </a:rPr>
              <a:t>x,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spc="50" i="1">
                <a:latin typeface="Calibri"/>
                <a:cs typeface="Calibri"/>
              </a:rPr>
              <a:t>k</a:t>
            </a:r>
            <a:r>
              <a:rPr dirty="0" sz="1000" spc="50">
                <a:latin typeface="Georgia"/>
                <a:cs typeface="Georgia"/>
              </a:rPr>
              <a:t>)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baseline="2777" sz="1500">
                <a:latin typeface="Georgia"/>
                <a:cs typeface="Georgia"/>
              </a:rPr>
              <a:t>:</a:t>
            </a:r>
            <a:r>
              <a:rPr dirty="0" sz="1000">
                <a:latin typeface="Georgia"/>
                <a:cs typeface="Georgia"/>
              </a:rPr>
              <a:t>=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175" i="1">
                <a:latin typeface="Calibri"/>
                <a:cs typeface="Calibri"/>
              </a:rPr>
              <a:t>F</a:t>
            </a:r>
            <a:r>
              <a:rPr dirty="0" sz="1000" spc="-90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(</a:t>
            </a:r>
            <a:r>
              <a:rPr dirty="0" sz="1000" i="1">
                <a:latin typeface="Calibri"/>
                <a:cs typeface="Calibri"/>
              </a:rPr>
              <a:t>x</a:t>
            </a:r>
            <a:r>
              <a:rPr dirty="0" sz="1000">
                <a:latin typeface="Georgia"/>
                <a:cs typeface="Georgia"/>
              </a:rPr>
              <a:t>)</a:t>
            </a:r>
            <a:r>
              <a:rPr dirty="0" sz="1000" spc="-15">
                <a:latin typeface="Georgia"/>
                <a:cs typeface="Georgi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⊕</a:t>
            </a:r>
            <a:r>
              <a:rPr dirty="0" sz="1000" spc="-100">
                <a:latin typeface="Lucida Sans Unicode"/>
                <a:cs typeface="Lucida Sans Unicode"/>
              </a:rPr>
              <a:t> </a:t>
            </a:r>
            <a:r>
              <a:rPr dirty="0" sz="1000" spc="-25" i="1">
                <a:latin typeface="Calibri"/>
                <a:cs typeface="Calibri"/>
              </a:rPr>
              <a:t>k</a:t>
            </a:r>
            <a:r>
              <a:rPr dirty="0" sz="1000" spc="-25">
                <a:latin typeface="Georgia"/>
                <a:cs typeface="Georgia"/>
              </a:rPr>
              <a:t>?</a:t>
            </a:r>
            <a:endParaRPr sz="1000">
              <a:latin typeface="Georgia"/>
              <a:cs typeface="Georgia"/>
            </a:endParaRPr>
          </a:p>
          <a:p>
            <a:pPr marL="477520">
              <a:lnSpc>
                <a:spcPct val="100000"/>
              </a:lnSpc>
              <a:spcBef>
                <a:spcPts val="145"/>
              </a:spcBef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Ne.</a:t>
            </a:r>
            <a:r>
              <a:rPr dirty="0" sz="1000" spc="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Ako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65">
                <a:solidFill>
                  <a:srgbClr val="0000FF"/>
                </a:solidFill>
                <a:latin typeface="Georgia"/>
                <a:cs typeface="Georgia"/>
              </a:rPr>
              <a:t>napadaˇcu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poznata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poruka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,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lagano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dolazi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do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65">
                <a:solidFill>
                  <a:srgbClr val="0000FF"/>
                </a:solidFill>
                <a:latin typeface="Georgia"/>
                <a:cs typeface="Georgia"/>
              </a:rPr>
              <a:t>kljuˇca:</a:t>
            </a:r>
            <a:r>
              <a:rPr dirty="0" sz="1000" spc="1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6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000" spc="5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75" i="1">
                <a:solidFill>
                  <a:srgbClr val="0000FF"/>
                </a:solidFill>
                <a:latin typeface="Calibri"/>
                <a:cs typeface="Calibri"/>
              </a:rPr>
              <a:t>F</a:t>
            </a:r>
            <a:r>
              <a:rPr dirty="0" sz="1000" spc="-9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50" i="1">
                <a:solidFill>
                  <a:srgbClr val="0000FF"/>
                </a:solidFill>
                <a:latin typeface="Calibri"/>
                <a:cs typeface="Calibri"/>
              </a:rPr>
              <a:t>x,</a:t>
            </a:r>
            <a:r>
              <a:rPr dirty="0" sz="1000" spc="-6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-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10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85" i="1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dirty="0" sz="1000" spc="85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85" i="1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dirty="0" sz="1000" spc="85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endParaRPr sz="1000">
              <a:latin typeface="Georgia"/>
              <a:cs typeface="Georgia"/>
            </a:endParaRPr>
          </a:p>
          <a:p>
            <a:pPr lvl="1" marL="474980" indent="-215265">
              <a:lnSpc>
                <a:spcPts val="1200"/>
              </a:lnSpc>
              <a:spcBef>
                <a:spcPts val="300"/>
              </a:spcBef>
              <a:buAutoNum type="alphaLcParenBoth" startAt="3"/>
              <a:tabLst>
                <a:tab pos="474980" algn="l"/>
              </a:tabLst>
            </a:pPr>
            <a:r>
              <a:rPr dirty="0" sz="1000">
                <a:latin typeface="Georgia"/>
                <a:cs typeface="Georgia"/>
              </a:rPr>
              <a:t>(2)</a:t>
            </a:r>
            <a:r>
              <a:rPr dirty="0" sz="1000" spc="1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15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li</a:t>
            </a:r>
            <a:r>
              <a:rPr dirty="0" sz="1000" spc="15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funkcija</a:t>
            </a:r>
            <a:r>
              <a:rPr dirty="0" sz="1000" spc="155">
                <a:latin typeface="Georgia"/>
                <a:cs typeface="Georgia"/>
              </a:rPr>
              <a:t> </a:t>
            </a:r>
            <a:r>
              <a:rPr dirty="0" sz="1000" spc="185" i="1">
                <a:latin typeface="Calibri"/>
                <a:cs typeface="Calibri"/>
              </a:rPr>
              <a:t>f</a:t>
            </a:r>
            <a:r>
              <a:rPr dirty="0" sz="1000" spc="35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:</a:t>
            </a:r>
            <a:r>
              <a:rPr dirty="0" sz="1000" spc="160">
                <a:latin typeface="Georgia"/>
                <a:cs typeface="Georgia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{</a:t>
            </a:r>
            <a:r>
              <a:rPr dirty="0" sz="1000">
                <a:latin typeface="Georgia"/>
                <a:cs typeface="Georgia"/>
              </a:rPr>
              <a:t>0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30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1</a:t>
            </a:r>
            <a:r>
              <a:rPr dirty="0" sz="1000">
                <a:latin typeface="Lucida Sans Unicode"/>
                <a:cs typeface="Lucida Sans Unicode"/>
              </a:rPr>
              <a:t>}</a:t>
            </a:r>
            <a:r>
              <a:rPr dirty="0" baseline="27777" sz="1050">
                <a:latin typeface="Roboto"/>
                <a:cs typeface="Roboto"/>
              </a:rPr>
              <a:t>128</a:t>
            </a:r>
            <a:r>
              <a:rPr dirty="0" baseline="27777" sz="1050" spc="225">
                <a:latin typeface="Roboto"/>
                <a:cs typeface="Roboto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×</a:t>
            </a:r>
            <a:r>
              <a:rPr dirty="0" sz="1000" spc="-60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{</a:t>
            </a:r>
            <a:r>
              <a:rPr dirty="0" sz="1000">
                <a:latin typeface="Georgia"/>
                <a:cs typeface="Georgia"/>
              </a:rPr>
              <a:t>0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30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1</a:t>
            </a:r>
            <a:r>
              <a:rPr dirty="0" sz="1000">
                <a:latin typeface="Lucida Sans Unicode"/>
                <a:cs typeface="Lucida Sans Unicode"/>
              </a:rPr>
              <a:t>}</a:t>
            </a:r>
            <a:r>
              <a:rPr dirty="0" baseline="27777" sz="1050">
                <a:latin typeface="Roboto"/>
                <a:cs typeface="Roboto"/>
              </a:rPr>
              <a:t>128</a:t>
            </a:r>
            <a:r>
              <a:rPr dirty="0" baseline="27777" sz="1050" spc="217">
                <a:latin typeface="Roboto"/>
                <a:cs typeface="Roboto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×</a:t>
            </a:r>
            <a:r>
              <a:rPr dirty="0" sz="1000" spc="-55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{</a:t>
            </a:r>
            <a:r>
              <a:rPr dirty="0" sz="1000">
                <a:latin typeface="Georgia"/>
                <a:cs typeface="Georgia"/>
              </a:rPr>
              <a:t>0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30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1</a:t>
            </a:r>
            <a:r>
              <a:rPr dirty="0" sz="1000">
                <a:latin typeface="Lucida Sans Unicode"/>
                <a:cs typeface="Lucida Sans Unicode"/>
              </a:rPr>
              <a:t>}</a:t>
            </a:r>
            <a:r>
              <a:rPr dirty="0" baseline="27777" sz="1050">
                <a:latin typeface="Roboto"/>
                <a:cs typeface="Roboto"/>
              </a:rPr>
              <a:t>128</a:t>
            </a:r>
            <a:r>
              <a:rPr dirty="0" baseline="27777" sz="1050" spc="330">
                <a:latin typeface="Roboto"/>
                <a:cs typeface="Roboto"/>
              </a:rPr>
              <a:t> </a:t>
            </a:r>
            <a:r>
              <a:rPr dirty="0" sz="1000" spc="55">
                <a:latin typeface="Lucida Sans Unicode"/>
                <a:cs typeface="Lucida Sans Unicode"/>
              </a:rPr>
              <a:t>→</a:t>
            </a:r>
            <a:r>
              <a:rPr dirty="0" sz="1000" spc="20">
                <a:latin typeface="Lucida Sans Unicode"/>
                <a:cs typeface="Lucida Sans Unicode"/>
              </a:rPr>
              <a:t> </a:t>
            </a:r>
            <a:r>
              <a:rPr dirty="0" sz="1000">
                <a:latin typeface="Lucida Sans Unicode"/>
                <a:cs typeface="Lucida Sans Unicode"/>
              </a:rPr>
              <a:t>{</a:t>
            </a:r>
            <a:r>
              <a:rPr dirty="0" sz="1000">
                <a:latin typeface="Georgia"/>
                <a:cs typeface="Georgia"/>
              </a:rPr>
              <a:t>0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30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1</a:t>
            </a:r>
            <a:r>
              <a:rPr dirty="0" sz="1000">
                <a:latin typeface="Lucida Sans Unicode"/>
                <a:cs typeface="Lucida Sans Unicode"/>
              </a:rPr>
              <a:t>}</a:t>
            </a:r>
            <a:r>
              <a:rPr dirty="0" baseline="27777" sz="1050">
                <a:latin typeface="Roboto"/>
                <a:cs typeface="Roboto"/>
              </a:rPr>
              <a:t>128</a:t>
            </a:r>
            <a:r>
              <a:rPr dirty="0" sz="1000">
                <a:latin typeface="Georgia"/>
                <a:cs typeface="Georgia"/>
              </a:rPr>
              <a:t>,</a:t>
            </a:r>
            <a:r>
              <a:rPr dirty="0" sz="1000" spc="155">
                <a:latin typeface="Georgia"/>
                <a:cs typeface="Georgia"/>
              </a:rPr>
              <a:t> </a:t>
            </a:r>
            <a:r>
              <a:rPr dirty="0" sz="1000" spc="185" i="1">
                <a:latin typeface="Calibri"/>
                <a:cs typeface="Calibri"/>
              </a:rPr>
              <a:t>f</a:t>
            </a:r>
            <a:r>
              <a:rPr dirty="0" sz="1000" spc="-100" i="1">
                <a:latin typeface="Calibri"/>
                <a:cs typeface="Calibri"/>
              </a:rPr>
              <a:t> </a:t>
            </a:r>
            <a:r>
              <a:rPr dirty="0" sz="1000">
                <a:latin typeface="Georgia"/>
                <a:cs typeface="Georgia"/>
              </a:rPr>
              <a:t>(</a:t>
            </a:r>
            <a:r>
              <a:rPr dirty="0" sz="1000" i="1">
                <a:latin typeface="Calibri"/>
                <a:cs typeface="Calibri"/>
              </a:rPr>
              <a:t>k,</a:t>
            </a:r>
            <a:r>
              <a:rPr dirty="0" sz="1000" spc="-30" i="1">
                <a:latin typeface="Calibri"/>
                <a:cs typeface="Calibri"/>
              </a:rPr>
              <a:t> </a:t>
            </a:r>
            <a:r>
              <a:rPr dirty="0" sz="1000" spc="65" i="1">
                <a:latin typeface="Calibri"/>
                <a:cs typeface="Calibri"/>
              </a:rPr>
              <a:t>x</a:t>
            </a:r>
            <a:r>
              <a:rPr dirty="0" baseline="-11904" sz="1050" spc="97">
                <a:latin typeface="Roboto"/>
                <a:cs typeface="Roboto"/>
              </a:rPr>
              <a:t>0</a:t>
            </a:r>
            <a:r>
              <a:rPr dirty="0" sz="1000" spc="65" i="1">
                <a:latin typeface="Calibri"/>
                <a:cs typeface="Calibri"/>
              </a:rPr>
              <a:t>,</a:t>
            </a:r>
            <a:r>
              <a:rPr dirty="0" sz="1000" spc="-25" i="1">
                <a:latin typeface="Calibri"/>
                <a:cs typeface="Calibri"/>
              </a:rPr>
              <a:t> </a:t>
            </a:r>
            <a:r>
              <a:rPr dirty="0" sz="1000" spc="60" i="1">
                <a:latin typeface="Calibri"/>
                <a:cs typeface="Calibri"/>
              </a:rPr>
              <a:t>x</a:t>
            </a:r>
            <a:r>
              <a:rPr dirty="0" baseline="-11904" sz="1050" spc="89">
                <a:latin typeface="Roboto"/>
                <a:cs typeface="Roboto"/>
              </a:rPr>
              <a:t>1</a:t>
            </a:r>
            <a:r>
              <a:rPr dirty="0" sz="1000" spc="60">
                <a:latin typeface="Georgia"/>
                <a:cs typeface="Georgia"/>
              </a:rPr>
              <a:t>)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baseline="2777" sz="1500">
                <a:latin typeface="Georgia"/>
                <a:cs typeface="Georgia"/>
              </a:rPr>
              <a:t>:</a:t>
            </a:r>
            <a:r>
              <a:rPr dirty="0" sz="1000">
                <a:latin typeface="Georgia"/>
                <a:cs typeface="Georgia"/>
              </a:rPr>
              <a:t>=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>
                <a:latin typeface="Tahoma"/>
                <a:cs typeface="Tahoma"/>
              </a:rPr>
              <a:t>AES128</a:t>
            </a:r>
            <a:r>
              <a:rPr dirty="0" sz="1000">
                <a:latin typeface="Georgia"/>
                <a:cs typeface="Georgia"/>
              </a:rPr>
              <a:t>(</a:t>
            </a:r>
            <a:r>
              <a:rPr dirty="0" sz="1000">
                <a:latin typeface="Tahoma"/>
                <a:cs typeface="Tahoma"/>
              </a:rPr>
              <a:t>AES128</a:t>
            </a:r>
            <a:r>
              <a:rPr dirty="0" sz="1000">
                <a:latin typeface="Georgia"/>
                <a:cs typeface="Georgia"/>
              </a:rPr>
              <a:t>(</a:t>
            </a:r>
            <a:r>
              <a:rPr dirty="0" sz="1000" i="1">
                <a:latin typeface="Calibri"/>
                <a:cs typeface="Calibri"/>
              </a:rPr>
              <a:t>x</a:t>
            </a:r>
            <a:r>
              <a:rPr dirty="0" baseline="-11904" sz="1050">
                <a:latin typeface="Roboto"/>
                <a:cs typeface="Roboto"/>
              </a:rPr>
              <a:t>0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25" i="1">
                <a:latin typeface="Calibri"/>
                <a:cs typeface="Calibri"/>
              </a:rPr>
              <a:t> </a:t>
            </a:r>
            <a:r>
              <a:rPr dirty="0" sz="1000" spc="50" i="1">
                <a:latin typeface="Calibri"/>
                <a:cs typeface="Calibri"/>
              </a:rPr>
              <a:t>k</a:t>
            </a:r>
            <a:r>
              <a:rPr dirty="0" sz="1000" spc="50">
                <a:latin typeface="Georgia"/>
                <a:cs typeface="Georgia"/>
              </a:rPr>
              <a:t>)</a:t>
            </a:r>
            <a:r>
              <a:rPr dirty="0" sz="1000" spc="15">
                <a:latin typeface="Georgia"/>
                <a:cs typeface="Georgia"/>
              </a:rPr>
              <a:t> </a:t>
            </a:r>
            <a:r>
              <a:rPr dirty="0" sz="1000" spc="-40">
                <a:latin typeface="Lucida Sans Unicode"/>
                <a:cs typeface="Lucida Sans Unicode"/>
              </a:rPr>
              <a:t>⊕</a:t>
            </a:r>
            <a:r>
              <a:rPr dirty="0" sz="1000" spc="-60">
                <a:latin typeface="Lucida Sans Unicode"/>
                <a:cs typeface="Lucida Sans Unicode"/>
              </a:rPr>
              <a:t> </a:t>
            </a:r>
            <a:r>
              <a:rPr dirty="0" sz="1000" spc="65" i="1">
                <a:latin typeface="Calibri"/>
                <a:cs typeface="Calibri"/>
              </a:rPr>
              <a:t>x</a:t>
            </a:r>
            <a:r>
              <a:rPr dirty="0" baseline="-11904" sz="1050" spc="97">
                <a:latin typeface="Roboto"/>
                <a:cs typeface="Roboto"/>
              </a:rPr>
              <a:t>1</a:t>
            </a:r>
            <a:r>
              <a:rPr dirty="0" sz="1000" spc="65" i="1">
                <a:latin typeface="Calibri"/>
                <a:cs typeface="Calibri"/>
              </a:rPr>
              <a:t>,</a:t>
            </a:r>
            <a:r>
              <a:rPr dirty="0" sz="1000" spc="-2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k</a:t>
            </a:r>
            <a:r>
              <a:rPr dirty="0" sz="1000">
                <a:latin typeface="Georgia"/>
                <a:cs typeface="Georgia"/>
              </a:rPr>
              <a:t>)?</a:t>
            </a:r>
            <a:r>
              <a:rPr dirty="0" sz="1000" spc="28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otporna</a:t>
            </a:r>
            <a:endParaRPr sz="1000">
              <a:latin typeface="Georgia"/>
              <a:cs typeface="Georgia"/>
            </a:endParaRPr>
          </a:p>
          <a:p>
            <a:pPr marL="477520">
              <a:lnSpc>
                <a:spcPts val="1200"/>
              </a:lnSpc>
            </a:pPr>
            <a:r>
              <a:rPr dirty="0" sz="1000">
                <a:latin typeface="Georgia"/>
                <a:cs typeface="Georgia"/>
              </a:rPr>
              <a:t>na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kolizije?</a:t>
            </a:r>
            <a:r>
              <a:rPr dirty="0" sz="1000" spc="130">
                <a:latin typeface="Georgia"/>
                <a:cs typeface="Georgia"/>
              </a:rPr>
              <a:t> </a:t>
            </a:r>
            <a:r>
              <a:rPr dirty="0" sz="1000" spc="-65">
                <a:latin typeface="Georgia"/>
                <a:cs typeface="Georgia"/>
              </a:rPr>
              <a:t>Napadaˇcu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poznat</a:t>
            </a:r>
            <a:r>
              <a:rPr dirty="0" sz="1000" spc="35">
                <a:latin typeface="Georgia"/>
                <a:cs typeface="Georgia"/>
              </a:rPr>
              <a:t> </a:t>
            </a:r>
            <a:r>
              <a:rPr dirty="0" sz="1000" spc="-85">
                <a:latin typeface="Georgia"/>
                <a:cs typeface="Georgia"/>
              </a:rPr>
              <a:t>kljuˇc</a:t>
            </a:r>
            <a:r>
              <a:rPr dirty="0" sz="1000" spc="40">
                <a:latin typeface="Georgia"/>
                <a:cs typeface="Georgia"/>
              </a:rPr>
              <a:t> </a:t>
            </a:r>
            <a:r>
              <a:rPr dirty="0" sz="1000" spc="-25" i="1">
                <a:latin typeface="Calibri"/>
                <a:cs typeface="Calibri"/>
              </a:rPr>
              <a:t>k</a:t>
            </a:r>
            <a:r>
              <a:rPr dirty="0" sz="1000" spc="-25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marL="477520" marR="30480">
              <a:lnSpc>
                <a:spcPct val="100000"/>
              </a:lnSpc>
              <a:spcBef>
                <a:spcPts val="150"/>
              </a:spcBef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Nije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otporna</a:t>
            </a:r>
            <a:r>
              <a:rPr dirty="0" sz="1000" spc="1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na</a:t>
            </a:r>
            <a:r>
              <a:rPr dirty="0" sz="1000" spc="1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kolizije.</a:t>
            </a:r>
            <a:r>
              <a:rPr dirty="0" sz="1000" spc="2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Uzmimo</a:t>
            </a:r>
            <a:r>
              <a:rPr dirty="0" sz="1000" spc="1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60" i="1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dirty="0" baseline="-11904" sz="1050" spc="89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1904" sz="1050" spc="284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65">
                <a:solidFill>
                  <a:srgbClr val="0000FF"/>
                </a:solidFill>
                <a:latin typeface="Lucida Sans Unicode"/>
                <a:cs typeface="Lucida Sans Unicode"/>
              </a:rPr>
              <a:t≯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60" i="1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dirty="0" baseline="-11904" sz="1050" spc="89">
                <a:solidFill>
                  <a:srgbClr val="0000FF"/>
                </a:solidFill>
                <a:latin typeface="Roboto"/>
                <a:cs typeface="Roboto"/>
              </a:rPr>
              <a:t>2</a:t>
            </a:r>
            <a:r>
              <a:rPr dirty="0" baseline="-11904" sz="1050" spc="337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proizvoljne</a:t>
            </a:r>
            <a:r>
              <a:rPr dirty="0" sz="1000" spc="1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1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definirajmo</a:t>
            </a:r>
            <a:r>
              <a:rPr dirty="0" sz="1000" spc="10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60" i="1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dirty="0" baseline="-11904" sz="1050" spc="89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baseline="-11904" sz="1050" spc="277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AES128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000" spc="-6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1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1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60" i="1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dirty="0" baseline="-11904" sz="1050" spc="89">
                <a:solidFill>
                  <a:srgbClr val="0000FF"/>
                </a:solidFill>
                <a:latin typeface="Roboto"/>
                <a:cs typeface="Roboto"/>
              </a:rPr>
              <a:t>3</a:t>
            </a:r>
            <a:r>
              <a:rPr dirty="0" baseline="-11904" sz="1050" spc="284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AES128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x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2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000" spc="-6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).</a:t>
            </a:r>
            <a:r>
              <a:rPr dirty="0" sz="1000" spc="2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Tada</a:t>
            </a:r>
            <a:r>
              <a:rPr dirty="0" sz="1000" spc="1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ce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za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obje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vrijediti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AES128(0,k).</a:t>
            </a:r>
            <a:r>
              <a:rPr dirty="0" sz="1000" spc="1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Drugi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nacin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da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jednostavno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iskoristimo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komutativnost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od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XOR</a:t>
            </a:r>
            <a:endParaRPr sz="1000">
              <a:latin typeface="Georgia"/>
              <a:cs typeface="Georgia"/>
            </a:endParaRPr>
          </a:p>
          <a:p>
            <a:pPr marL="198120" indent="-160020">
              <a:lnSpc>
                <a:spcPct val="100000"/>
              </a:lnSpc>
              <a:spcBef>
                <a:spcPts val="690"/>
              </a:spcBef>
              <a:buAutoNum type="arabicPeriod" startAt="5"/>
              <a:tabLst>
                <a:tab pos="198120" algn="l"/>
              </a:tabLst>
            </a:pPr>
            <a:r>
              <a:rPr dirty="0" sz="1000">
                <a:latin typeface="Georgia"/>
                <a:cs typeface="Georgia"/>
              </a:rPr>
              <a:t>(9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bodova)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Razna</a:t>
            </a:r>
            <a:r>
              <a:rPr dirty="0" sz="1000" spc="90" i="1">
                <a:latin typeface="Palatino Linotype"/>
                <a:cs typeface="Palatino Linotype"/>
              </a:rPr>
              <a:t> </a:t>
            </a:r>
            <a:r>
              <a:rPr dirty="0" sz="1000" spc="-10" i="1">
                <a:latin typeface="Palatino Linotype"/>
                <a:cs typeface="Palatino Linotype"/>
              </a:rPr>
              <a:t>pitanja</a:t>
            </a:r>
            <a:r>
              <a:rPr dirty="0" sz="1000" spc="-10"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lvl="1" marL="474980" indent="-222250">
              <a:lnSpc>
                <a:spcPct val="100000"/>
              </a:lnSpc>
              <a:spcBef>
                <a:spcPts val="700"/>
              </a:spcBef>
              <a:buAutoNum type="alphaLcParenBoth"/>
              <a:tabLst>
                <a:tab pos="474980" algn="l"/>
              </a:tabLst>
            </a:pPr>
            <a:r>
              <a:rPr dirty="0" sz="1000">
                <a:latin typeface="Georgia"/>
                <a:cs typeface="Georgia"/>
              </a:rPr>
              <a:t>(1)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Kako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izgleda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85">
                <a:latin typeface="Georgia"/>
                <a:cs typeface="Georgia"/>
              </a:rPr>
              <a:t>kljuˇc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u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Playfairovoj</a:t>
            </a:r>
            <a:r>
              <a:rPr dirty="0" sz="1000" spc="15">
                <a:latin typeface="Georgia"/>
                <a:cs typeface="Georgia"/>
              </a:rPr>
              <a:t> </a:t>
            </a:r>
            <a:r>
              <a:rPr dirty="0" sz="1000" spc="-70">
                <a:latin typeface="Georgia"/>
                <a:cs typeface="Georgia"/>
              </a:rPr>
              <a:t>ˇsifri?</a:t>
            </a:r>
            <a:r>
              <a:rPr dirty="0" sz="1000" spc="17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Obrazloˇzite.</a:t>
            </a:r>
            <a:endParaRPr sz="1000">
              <a:latin typeface="Georgia"/>
              <a:cs typeface="Georgia"/>
            </a:endParaRPr>
          </a:p>
          <a:p>
            <a:pPr marL="477520" marR="30480">
              <a:lnSpc>
                <a:spcPct val="100000"/>
              </a:lnSpc>
              <a:spcBef>
                <a:spcPts val="145"/>
              </a:spcBef>
            </a:pPr>
            <a:r>
              <a:rPr dirty="0" sz="1000" spc="-80">
                <a:solidFill>
                  <a:srgbClr val="0000FF"/>
                </a:solidFill>
                <a:latin typeface="Georgia"/>
                <a:cs typeface="Georgia"/>
              </a:rPr>
              <a:t>kljuˇc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niz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30">
                <a:solidFill>
                  <a:srgbClr val="0000FF"/>
                </a:solidFill>
                <a:latin typeface="Georgia"/>
                <a:cs typeface="Georgia"/>
              </a:rPr>
              <a:t>slova/znakova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koji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se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transformira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u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matricu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5</a:t>
            </a:r>
            <a:r>
              <a:rPr dirty="0" sz="1000" spc="-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×</a:t>
            </a:r>
            <a:r>
              <a:rPr dirty="0" sz="1000" spc="-70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5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slova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tako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da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se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svako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slovo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pojavljuje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samo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jednom,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50">
                <a:solidFill>
                  <a:srgbClr val="0000FF"/>
                </a:solidFill>
                <a:latin typeface="Georgia"/>
                <a:cs typeface="Georgia"/>
              </a:rPr>
              <a:t>a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 matrica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se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popunjava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po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retcima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prco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sa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slovima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iz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inicijalnog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65">
                <a:solidFill>
                  <a:srgbClr val="0000FF"/>
                </a:solidFill>
                <a:latin typeface="Georgia"/>
                <a:cs typeface="Georgia"/>
              </a:rPr>
              <a:t>kljuˇca,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a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zatim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preostalim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slovima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redom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iz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alfabeta.</a:t>
            </a:r>
            <a:endParaRPr sz="1000">
              <a:latin typeface="Georgia"/>
              <a:cs typeface="Georgia"/>
            </a:endParaRPr>
          </a:p>
          <a:p>
            <a:pPr lvl="1" marL="474980" indent="-229235">
              <a:lnSpc>
                <a:spcPct val="100000"/>
              </a:lnSpc>
              <a:spcBef>
                <a:spcPts val="300"/>
              </a:spcBef>
              <a:buAutoNum type="alphaLcParenBoth" startAt="2"/>
              <a:tabLst>
                <a:tab pos="474980" algn="l"/>
              </a:tabLst>
            </a:pPr>
            <a:r>
              <a:rPr dirty="0" sz="1000">
                <a:latin typeface="Georgia"/>
                <a:cs typeface="Georgia"/>
              </a:rPr>
              <a:t>(1)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Koji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</a:t>
            </a:r>
            <a:r>
              <a:rPr dirty="0" sz="1000" spc="25">
                <a:latin typeface="Georgia"/>
                <a:cs typeface="Georgia"/>
              </a:rPr>
              <a:t>a</a:t>
            </a:r>
            <a:r>
              <a:rPr dirty="0" sz="1000" spc="-5">
                <a:latin typeface="Georgia"/>
                <a:cs typeface="Georgia"/>
              </a:rPr>
              <a:t>j</a:t>
            </a:r>
            <a:r>
              <a:rPr dirty="0" sz="1000" spc="-30">
                <a:latin typeface="Georgia"/>
                <a:cs typeface="Georgia"/>
              </a:rPr>
              <a:t>v</a:t>
            </a:r>
            <a:r>
              <a:rPr dirty="0" sz="1000" spc="-35">
                <a:latin typeface="Georgia"/>
                <a:cs typeface="Georgia"/>
              </a:rPr>
              <a:t>e</a:t>
            </a:r>
            <a:r>
              <a:rPr dirty="0" sz="1000" spc="-480">
                <a:latin typeface="Georgia"/>
                <a:cs typeface="Georgia"/>
              </a:rPr>
              <a:t>´</a:t>
            </a:r>
            <a:r>
              <a:rPr dirty="0" sz="1000" spc="-10">
                <a:latin typeface="Georgia"/>
                <a:cs typeface="Georgia"/>
              </a:rPr>
              <a:t>c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nedostatak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30">
                <a:latin typeface="Georgia"/>
                <a:cs typeface="Georgia"/>
              </a:rPr>
              <a:t>Hillove</a:t>
            </a:r>
            <a:r>
              <a:rPr dirty="0" sz="1000" spc="15">
                <a:latin typeface="Georgia"/>
                <a:cs typeface="Georgia"/>
              </a:rPr>
              <a:t> </a:t>
            </a:r>
            <a:r>
              <a:rPr dirty="0" sz="1000" spc="-100">
                <a:latin typeface="Georgia"/>
                <a:cs typeface="Georgia"/>
              </a:rPr>
              <a:t>ˇsifre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sa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65">
                <a:latin typeface="Georgia"/>
                <a:cs typeface="Georgia"/>
              </a:rPr>
              <a:t>simetriˇcnim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kljuˇcem?</a:t>
            </a:r>
            <a:endParaRPr sz="1000">
              <a:latin typeface="Georgia"/>
              <a:cs typeface="Georgia"/>
            </a:endParaRPr>
          </a:p>
          <a:p>
            <a:pPr marL="477520">
              <a:lnSpc>
                <a:spcPct val="100000"/>
              </a:lnSpc>
              <a:spcBef>
                <a:spcPts val="145"/>
              </a:spcBef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Premali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prostor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75">
                <a:solidFill>
                  <a:srgbClr val="0000FF"/>
                </a:solidFill>
                <a:latin typeface="Georgia"/>
                <a:cs typeface="Georgia"/>
              </a:rPr>
              <a:t>kljuˇca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jer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mali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broj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matrica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zadovoljava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32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000" spc="7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5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baseline="27777" sz="1050" spc="232">
                <a:solidFill>
                  <a:srgbClr val="0000FF"/>
                </a:solidFill>
                <a:latin typeface="Cambria"/>
                <a:cs typeface="Cambria"/>
              </a:rPr>
              <a:t>−</a:t>
            </a:r>
            <a:r>
              <a:rPr dirty="0" baseline="27777" sz="1050" spc="232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;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dovoljno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20">
                <a:solidFill>
                  <a:srgbClr val="0000FF"/>
                </a:solidFill>
                <a:latin typeface="Georgia"/>
                <a:cs typeface="Georgia"/>
              </a:rPr>
              <a:t>re´ci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samo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premali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prostor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kljuˇca</a:t>
            </a:r>
            <a:endParaRPr sz="1000">
              <a:latin typeface="Georgia"/>
              <a:cs typeface="Georgia"/>
            </a:endParaRPr>
          </a:p>
          <a:p>
            <a:pPr lvl="1" marL="474980" indent="-215265">
              <a:lnSpc>
                <a:spcPct val="100000"/>
              </a:lnSpc>
              <a:spcBef>
                <a:spcPts val="300"/>
              </a:spcBef>
              <a:buAutoNum type="alphaLcParenBoth" startAt="3"/>
              <a:tabLst>
                <a:tab pos="474980" algn="l"/>
              </a:tabLst>
            </a:pPr>
            <a:r>
              <a:rPr dirty="0" sz="1000">
                <a:latin typeface="Georgia"/>
                <a:cs typeface="Georgia"/>
              </a:rPr>
              <a:t>(1)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Navedite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Kerckhoffov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princip.</a:t>
            </a:r>
            <a:endParaRPr sz="1000">
              <a:latin typeface="Georgia"/>
              <a:cs typeface="Georgia"/>
            </a:endParaRPr>
          </a:p>
          <a:p>
            <a:pPr marL="477520">
              <a:lnSpc>
                <a:spcPct val="100000"/>
              </a:lnSpc>
              <a:spcBef>
                <a:spcPts val="150"/>
              </a:spcBef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Kriptosustav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mora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biti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siguran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onda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kada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su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sve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informacije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o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kriptosustavu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javno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dostupne,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osim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tajnog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kljuˇca.</a:t>
            </a:r>
            <a:endParaRPr sz="1000">
              <a:latin typeface="Georgia"/>
              <a:cs typeface="Georgia"/>
            </a:endParaRPr>
          </a:p>
          <a:p>
            <a:pPr lvl="1" marL="474980" indent="-229235">
              <a:lnSpc>
                <a:spcPct val="100000"/>
              </a:lnSpc>
              <a:spcBef>
                <a:spcPts val="300"/>
              </a:spcBef>
              <a:buAutoNum type="alphaLcParenBoth" startAt="4"/>
              <a:tabLst>
                <a:tab pos="474980" algn="l"/>
              </a:tabLst>
            </a:pPr>
            <a:r>
              <a:rPr dirty="0" sz="1000">
                <a:latin typeface="Georgia"/>
                <a:cs typeface="Georgia"/>
              </a:rPr>
              <a:t>(1)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545">
                <a:latin typeface="Georgia"/>
                <a:cs typeface="Georgia"/>
              </a:rPr>
              <a:t>S</a:t>
            </a:r>
            <a:r>
              <a:rPr dirty="0" baseline="13888" sz="1500" spc="37">
                <a:latin typeface="Georgia"/>
                <a:cs typeface="Georgia"/>
              </a:rPr>
              <a:t>ˇ</a:t>
            </a:r>
            <a:r>
              <a:rPr dirty="0" sz="1000">
                <a:latin typeface="Georgia"/>
                <a:cs typeface="Georgia"/>
              </a:rPr>
              <a:t>to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95">
                <a:latin typeface="Georgia"/>
                <a:cs typeface="Georgia"/>
              </a:rPr>
              <a:t>znaˇci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jednokratna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55">
                <a:latin typeface="Georgia"/>
                <a:cs typeface="Georgia"/>
              </a:rPr>
              <a:t>biljeˇznica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100">
                <a:latin typeface="Georgia"/>
                <a:cs typeface="Georgia"/>
              </a:rPr>
              <a:t>pruˇza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80">
                <a:latin typeface="Georgia"/>
                <a:cs typeface="Georgia"/>
              </a:rPr>
              <a:t>savrˇsenu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povjerljivost?</a:t>
            </a:r>
            <a:endParaRPr sz="1000">
              <a:latin typeface="Georgia"/>
              <a:cs typeface="Georgia"/>
            </a:endParaRPr>
          </a:p>
          <a:p>
            <a:pPr marL="477520">
              <a:lnSpc>
                <a:spcPts val="1200"/>
              </a:lnSpc>
              <a:spcBef>
                <a:spcPts val="145"/>
              </a:spcBef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Ako</a:t>
            </a:r>
            <a:r>
              <a:rPr dirty="0" sz="1000" spc="1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6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000" spc="21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Lucida Sans Unicode"/>
                <a:cs typeface="Lucida Sans Unicode"/>
              </a:rPr>
              <a:t>∈</a:t>
            </a:r>
            <a:r>
              <a:rPr dirty="0" sz="1000" spc="9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Lucida Sans Unicode"/>
                <a:cs typeface="Lucida Sans Unicode"/>
              </a:rPr>
              <a:t>{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000" spc="-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12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dirty="0" sz="1000" spc="120">
                <a:solidFill>
                  <a:srgbClr val="0000FF"/>
                </a:solidFill>
                <a:latin typeface="Lucida Sans Unicode"/>
                <a:cs typeface="Lucida Sans Unicode"/>
              </a:rPr>
              <a:t>}</a:t>
            </a:r>
            <a:r>
              <a:rPr dirty="0" baseline="27777" sz="1050" spc="179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baseline="27777" sz="1050" spc="442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odabran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5">
                <a:solidFill>
                  <a:srgbClr val="0000FF"/>
                </a:solidFill>
                <a:latin typeface="Georgia"/>
                <a:cs typeface="Georgia"/>
              </a:rPr>
              <a:t>sl</a:t>
            </a:r>
            <a:r>
              <a:rPr dirty="0" sz="1000" spc="-40">
                <a:solidFill>
                  <a:srgbClr val="0000FF"/>
                </a:solidFill>
                <a:latin typeface="Georgia"/>
                <a:cs typeface="Georgia"/>
              </a:rPr>
              <a:t>u</a:t>
            </a:r>
            <a:r>
              <a:rPr dirty="0" sz="1000" spc="-484">
                <a:solidFill>
                  <a:srgbClr val="0000FF"/>
                </a:solidFill>
                <a:latin typeface="Georgia"/>
                <a:cs typeface="Georgia"/>
              </a:rPr>
              <a:t>ˇ</a:t>
            </a:r>
            <a:r>
              <a:rPr dirty="0" sz="1000" spc="-5">
                <a:solidFill>
                  <a:srgbClr val="0000FF"/>
                </a:solidFill>
                <a:latin typeface="Georgia"/>
                <a:cs typeface="Georgia"/>
              </a:rPr>
              <a:t>c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a</a:t>
            </a:r>
            <a:r>
              <a:rPr dirty="0" sz="1000" spc="-5">
                <a:solidFill>
                  <a:srgbClr val="0000FF"/>
                </a:solidFill>
                <a:latin typeface="Georgia"/>
                <a:cs typeface="Georgia"/>
              </a:rPr>
              <a:t>jno</a:t>
            </a:r>
            <a:r>
              <a:rPr dirty="0" sz="1000" spc="1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uniformno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000" spc="21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0000FF"/>
                </a:solidFill>
                <a:latin typeface="Lucida Sans Unicode"/>
                <a:cs typeface="Lucida Sans Unicode"/>
              </a:rPr>
              <a:t>←</a:t>
            </a:r>
            <a:r>
              <a:rPr dirty="0" sz="1000" spc="9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Lucida Sans Unicode"/>
                <a:cs typeface="Lucida Sans Unicode"/>
              </a:rPr>
              <a:t>{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000" spc="-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dirty="0" sz="1000" spc="80">
                <a:solidFill>
                  <a:srgbClr val="0000FF"/>
                </a:solidFill>
                <a:latin typeface="Lucida Sans Unicode"/>
                <a:cs typeface="Lucida Sans Unicode"/>
              </a:rPr>
              <a:t>}</a:t>
            </a:r>
            <a:r>
              <a:rPr dirty="0" baseline="27777" sz="1050" spc="120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),</a:t>
            </a:r>
            <a:r>
              <a:rPr dirty="0" sz="1000" spc="18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tada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za</a:t>
            </a:r>
            <a:r>
              <a:rPr dirty="0" sz="1000" spc="1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svaku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poruku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8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000" spc="18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Lucida Sans Unicode"/>
                <a:cs typeface="Lucida Sans Unicode"/>
              </a:rPr>
              <a:t>∈</a:t>
            </a:r>
            <a:r>
              <a:rPr dirty="0" sz="1000" spc="9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Lucida Sans Unicode"/>
                <a:cs typeface="Lucida Sans Unicode"/>
              </a:rPr>
              <a:t>{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000" spc="-6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12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dirty="0" sz="1000" spc="120">
                <a:solidFill>
                  <a:srgbClr val="0000FF"/>
                </a:solidFill>
                <a:latin typeface="Lucida Sans Unicode"/>
                <a:cs typeface="Lucida Sans Unicode"/>
              </a:rPr>
              <a:t>}</a:t>
            </a:r>
            <a:r>
              <a:rPr dirty="0" baseline="27777" sz="1050" spc="179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baseline="27777" sz="1050" spc="442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za</a:t>
            </a:r>
            <a:r>
              <a:rPr dirty="0" sz="1000" spc="1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svaki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ˇsifrat</a:t>
            </a:r>
            <a:endParaRPr sz="1000">
              <a:latin typeface="Georgia"/>
              <a:cs typeface="Georgia"/>
            </a:endParaRPr>
          </a:p>
          <a:p>
            <a:pPr marL="477520">
              <a:lnSpc>
                <a:spcPts val="1200"/>
              </a:lnSpc>
            </a:pP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sz="1000" spc="5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145">
                <a:solidFill>
                  <a:srgbClr val="0000FF"/>
                </a:solidFill>
                <a:latin typeface="Lucida Sans Unicode"/>
                <a:cs typeface="Lucida Sans Unicode"/>
              </a:rPr>
              <a:t>∈</a:t>
            </a:r>
            <a:r>
              <a:rPr dirty="0" sz="1000" spc="-3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0000FF"/>
                </a:solidFill>
                <a:latin typeface="Lucida Sans Unicode"/>
                <a:cs typeface="Lucida Sans Unicode"/>
              </a:rPr>
              <a:t>{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0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000" spc="-6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120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dirty="0" sz="1000" spc="120">
                <a:solidFill>
                  <a:srgbClr val="0000FF"/>
                </a:solidFill>
                <a:latin typeface="Lucida Sans Unicode"/>
                <a:cs typeface="Lucida Sans Unicode"/>
              </a:rPr>
              <a:t>}</a:t>
            </a:r>
            <a:r>
              <a:rPr dirty="0" baseline="27777" sz="1050" spc="179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baseline="27777" sz="1050" spc="34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vrijedi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70">
                <a:solidFill>
                  <a:srgbClr val="0000FF"/>
                </a:solidFill>
                <a:latin typeface="Georgia"/>
                <a:cs typeface="Georgia"/>
              </a:rPr>
              <a:t>sljede´ce:</a:t>
            </a:r>
            <a:r>
              <a:rPr dirty="0" sz="1000" spc="2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95" i="1">
                <a:solidFill>
                  <a:srgbClr val="0000FF"/>
                </a:solidFill>
                <a:latin typeface="Calibri"/>
                <a:cs typeface="Calibri"/>
              </a:rPr>
              <a:t>P</a:t>
            </a:r>
            <a:r>
              <a:rPr dirty="0" baseline="-15873" sz="1050" spc="142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baseline="-15873" sz="1050" spc="142">
                <a:solidFill>
                  <a:srgbClr val="0000FF"/>
                </a:solidFill>
                <a:latin typeface="Cambria"/>
                <a:cs typeface="Cambria"/>
              </a:rPr>
              <a:t>←{</a:t>
            </a:r>
            <a:r>
              <a:rPr dirty="0" baseline="-15873" sz="1050" spc="142">
                <a:solidFill>
                  <a:srgbClr val="0000FF"/>
                </a:solidFill>
                <a:latin typeface="Roboto"/>
                <a:cs typeface="Roboto"/>
              </a:rPr>
              <a:t>0</a:t>
            </a:r>
            <a:r>
              <a:rPr dirty="0" baseline="-15873" sz="1050" spc="142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baseline="-15873" sz="1050" spc="142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baseline="-15873" sz="1050" spc="142">
                <a:solidFill>
                  <a:srgbClr val="0000FF"/>
                </a:solidFill>
                <a:latin typeface="Cambria"/>
                <a:cs typeface="Cambria"/>
              </a:rPr>
              <a:t>}</a:t>
            </a:r>
            <a:r>
              <a:rPr dirty="0" sz="500" spc="95" i="1">
                <a:solidFill>
                  <a:srgbClr val="0000FF"/>
                </a:solidFill>
                <a:latin typeface="Verdana"/>
                <a:cs typeface="Verdana"/>
              </a:rPr>
              <a:t>n</a:t>
            </a:r>
            <a:r>
              <a:rPr dirty="0" sz="500" spc="-80" i="1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dirty="0" sz="1000" spc="85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85" i="1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dirty="0" sz="1000" spc="85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85" i="1">
                <a:solidFill>
                  <a:srgbClr val="0000FF"/>
                </a:solidFill>
                <a:latin typeface="Calibri"/>
                <a:cs typeface="Calibri"/>
              </a:rPr>
              <a:t>m,</a:t>
            </a:r>
            <a:r>
              <a:rPr dirty="0" sz="1000" spc="-5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5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1</a:t>
            </a:r>
            <a:r>
              <a:rPr dirty="0" sz="1000" spc="35" i="1">
                <a:solidFill>
                  <a:srgbClr val="0000FF"/>
                </a:solidFill>
                <a:latin typeface="Calibri"/>
                <a:cs typeface="Calibri"/>
              </a:rPr>
              <a:t>/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dirty="0" baseline="27777" sz="1050" spc="52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endParaRPr baseline="27777" sz="10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220"/>
              </a:spcBef>
            </a:pPr>
            <a:r>
              <a:rPr dirty="0" spc="20"/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2978" y="261624"/>
            <a:ext cx="6924675" cy="1113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55904" marR="31115" indent="-21844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Georgia"/>
                <a:cs typeface="Georgia"/>
              </a:rPr>
              <a:t>(e)</a:t>
            </a:r>
            <a:r>
              <a:rPr dirty="0" sz="1000" spc="1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(2)</a:t>
            </a:r>
            <a:r>
              <a:rPr dirty="0" sz="1000" spc="20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Kolika</a:t>
            </a:r>
            <a:r>
              <a:rPr dirty="0" sz="1000" spc="20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</a:t>
            </a:r>
            <a:r>
              <a:rPr dirty="0" sz="1000" spc="204">
                <a:latin typeface="Georgia"/>
                <a:cs typeface="Georgia"/>
              </a:rPr>
              <a:t> </a:t>
            </a:r>
            <a:r>
              <a:rPr dirty="0" sz="1000" spc="-60">
                <a:latin typeface="Georgia"/>
                <a:cs typeface="Georgia"/>
              </a:rPr>
              <a:t>sloˇzenost</a:t>
            </a:r>
            <a:r>
              <a:rPr dirty="0" sz="1000" spc="20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napada</a:t>
            </a:r>
            <a:r>
              <a:rPr dirty="0" sz="1000" spc="20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grubom</a:t>
            </a:r>
            <a:r>
              <a:rPr dirty="0" sz="1000" spc="20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silom</a:t>
            </a:r>
            <a:r>
              <a:rPr dirty="0" sz="1000" spc="20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na</a:t>
            </a:r>
            <a:r>
              <a:rPr dirty="0" sz="1000" spc="20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kriptosustav</a:t>
            </a:r>
            <a:r>
              <a:rPr dirty="0" sz="1000" spc="200">
                <a:latin typeface="Georgia"/>
                <a:cs typeface="Georgia"/>
              </a:rPr>
              <a:t> </a:t>
            </a:r>
            <a:r>
              <a:rPr dirty="0" sz="1000">
                <a:latin typeface="Tahoma"/>
                <a:cs typeface="Tahoma"/>
              </a:rPr>
              <a:t>2DES</a:t>
            </a:r>
            <a:r>
              <a:rPr dirty="0" sz="1000">
                <a:latin typeface="Georgia"/>
                <a:cs typeface="Georgia"/>
              </a:rPr>
              <a:t>(</a:t>
            </a:r>
            <a:r>
              <a:rPr dirty="0" sz="1000" i="1">
                <a:latin typeface="Calibri"/>
                <a:cs typeface="Calibri"/>
              </a:rPr>
              <a:t>m,</a:t>
            </a:r>
            <a:r>
              <a:rPr dirty="0" sz="1000" spc="-5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k</a:t>
            </a:r>
            <a:r>
              <a:rPr dirty="0" baseline="-11904" sz="1050">
                <a:latin typeface="Roboto"/>
                <a:cs typeface="Roboto"/>
              </a:rPr>
              <a:t>1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5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k</a:t>
            </a:r>
            <a:r>
              <a:rPr dirty="0" baseline="-11904" sz="1050">
                <a:latin typeface="Roboto"/>
                <a:cs typeface="Roboto"/>
              </a:rPr>
              <a:t>2</a:t>
            </a:r>
            <a:r>
              <a:rPr dirty="0" sz="1000">
                <a:latin typeface="Georgia"/>
                <a:cs typeface="Georgia"/>
              </a:rPr>
              <a:t>)</a:t>
            </a:r>
            <a:r>
              <a:rPr dirty="0" sz="1000" spc="235">
                <a:latin typeface="Georgia"/>
                <a:cs typeface="Georgia"/>
              </a:rPr>
              <a:t> </a:t>
            </a:r>
            <a:r>
              <a:rPr dirty="0" sz="1000" spc="130">
                <a:latin typeface="Georgia"/>
                <a:cs typeface="Georgia"/>
              </a:rPr>
              <a:t>=</a:t>
            </a:r>
            <a:r>
              <a:rPr dirty="0" sz="1000" spc="245">
                <a:latin typeface="Georgia"/>
                <a:cs typeface="Georgia"/>
              </a:rPr>
              <a:t> </a:t>
            </a:r>
            <a:r>
              <a:rPr dirty="0" sz="1000">
                <a:latin typeface="Tahoma"/>
                <a:cs typeface="Tahoma"/>
              </a:rPr>
              <a:t>DES</a:t>
            </a:r>
            <a:r>
              <a:rPr dirty="0" sz="1000">
                <a:latin typeface="Georgia"/>
                <a:cs typeface="Georgia"/>
              </a:rPr>
              <a:t>(</a:t>
            </a:r>
            <a:r>
              <a:rPr dirty="0" sz="1000">
                <a:latin typeface="Tahoma"/>
                <a:cs typeface="Tahoma"/>
              </a:rPr>
              <a:t>DES</a:t>
            </a:r>
            <a:r>
              <a:rPr dirty="0" sz="1000">
                <a:latin typeface="Georgia"/>
                <a:cs typeface="Georgia"/>
              </a:rPr>
              <a:t>(</a:t>
            </a:r>
            <a:r>
              <a:rPr dirty="0" sz="1000" i="1">
                <a:latin typeface="Calibri"/>
                <a:cs typeface="Calibri"/>
              </a:rPr>
              <a:t>m,</a:t>
            </a:r>
            <a:r>
              <a:rPr dirty="0" sz="1000" spc="-5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k</a:t>
            </a:r>
            <a:r>
              <a:rPr dirty="0" baseline="-11904" sz="1050">
                <a:latin typeface="Roboto"/>
                <a:cs typeface="Roboto"/>
              </a:rPr>
              <a:t>1</a:t>
            </a:r>
            <a:r>
              <a:rPr dirty="0" sz="1000">
                <a:latin typeface="Georgia"/>
                <a:cs typeface="Georgia"/>
              </a:rPr>
              <a:t>)</a:t>
            </a:r>
            <a:r>
              <a:rPr dirty="0" sz="1000" i="1">
                <a:latin typeface="Calibri"/>
                <a:cs typeface="Calibri"/>
              </a:rPr>
              <a:t>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k</a:t>
            </a:r>
            <a:r>
              <a:rPr dirty="0" baseline="-11904" sz="1050">
                <a:latin typeface="Roboto"/>
                <a:cs typeface="Roboto"/>
              </a:rPr>
              <a:t>2</a:t>
            </a:r>
            <a:r>
              <a:rPr dirty="0" sz="1000">
                <a:latin typeface="Georgia"/>
                <a:cs typeface="Georgia"/>
              </a:rPr>
              <a:t>)</a:t>
            </a:r>
            <a:r>
              <a:rPr dirty="0" sz="1000" spc="21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ako</a:t>
            </a:r>
            <a:r>
              <a:rPr dirty="0" sz="1000" spc="204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se</a:t>
            </a:r>
            <a:r>
              <a:rPr dirty="0" sz="1000" spc="204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primi- </a:t>
            </a:r>
            <a:r>
              <a:rPr dirty="0" sz="1000">
                <a:latin typeface="Georgia"/>
                <a:cs typeface="Georgia"/>
              </a:rPr>
              <a:t>jeni</a:t>
            </a:r>
            <a:r>
              <a:rPr dirty="0" sz="1000" spc="12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napad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susret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u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sredini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(</a:t>
            </a:r>
            <a:r>
              <a:rPr dirty="0" sz="1000" i="1">
                <a:latin typeface="Palatino Linotype"/>
                <a:cs typeface="Palatino Linotype"/>
              </a:rPr>
              <a:t>Meet-in-the-middle</a:t>
            </a:r>
            <a:r>
              <a:rPr dirty="0" sz="1000" spc="155" i="1">
                <a:latin typeface="Palatino Linotype"/>
                <a:cs typeface="Palatino Linotype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attack</a:t>
            </a:r>
            <a:r>
              <a:rPr dirty="0" sz="1000">
                <a:latin typeface="Georgia"/>
                <a:cs typeface="Georgia"/>
              </a:rPr>
              <a:t>)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za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poznati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jedan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par</a:t>
            </a:r>
            <a:r>
              <a:rPr dirty="0" sz="1000" spc="14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(</a:t>
            </a:r>
            <a:r>
              <a:rPr dirty="0" sz="1000" i="1">
                <a:latin typeface="Calibri"/>
                <a:cs typeface="Calibri"/>
              </a:rPr>
              <a:t>m,</a:t>
            </a:r>
            <a:r>
              <a:rPr dirty="0" sz="1000" spc="-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c</a:t>
            </a:r>
            <a:r>
              <a:rPr dirty="0" sz="1000">
                <a:latin typeface="Georgia"/>
                <a:cs typeface="Georgia"/>
              </a:rPr>
              <a:t>)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tj.</a:t>
            </a:r>
            <a:r>
              <a:rPr dirty="0" sz="1000" spc="409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jedan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jasni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kriptirani</a:t>
            </a:r>
            <a:r>
              <a:rPr dirty="0" sz="1000" spc="14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tekst? Obrazloˇzite.</a:t>
            </a:r>
            <a:endParaRPr sz="1000">
              <a:latin typeface="Georgia"/>
              <a:cs typeface="Georgia"/>
            </a:endParaRPr>
          </a:p>
          <a:p>
            <a:pPr algn="just" marL="255904" marR="30480">
              <a:lnSpc>
                <a:spcPct val="100000"/>
              </a:lnSpc>
              <a:spcBef>
                <a:spcPts val="185"/>
              </a:spcBef>
            </a:pPr>
            <a:r>
              <a:rPr dirty="0" sz="1000" spc="-85">
                <a:solidFill>
                  <a:srgbClr val="0000FF"/>
                </a:solidFill>
                <a:latin typeface="Georgia"/>
                <a:cs typeface="Georgia"/>
              </a:rPr>
              <a:t>Sloˇzenost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napada</a:t>
            </a:r>
            <a:r>
              <a:rPr dirty="0" sz="1000" spc="-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grubom</a:t>
            </a:r>
            <a:r>
              <a:rPr dirty="0" sz="1000" spc="-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30">
                <a:solidFill>
                  <a:srgbClr val="0000FF"/>
                </a:solidFill>
                <a:latin typeface="Georgia"/>
                <a:cs typeface="Georgia"/>
              </a:rPr>
              <a:t>silom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svodi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30">
                <a:solidFill>
                  <a:srgbClr val="0000FF"/>
                </a:solidFill>
                <a:latin typeface="Georgia"/>
                <a:cs typeface="Georgia"/>
              </a:rPr>
              <a:t>se</a:t>
            </a:r>
            <a:r>
              <a:rPr dirty="0" sz="1000" spc="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na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90">
                <a:solidFill>
                  <a:srgbClr val="0000FF"/>
                </a:solidFill>
                <a:latin typeface="Georgia"/>
                <a:cs typeface="Georgia"/>
              </a:rPr>
              <a:t>sloˇzenost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dirty="0" baseline="27777" sz="1050">
                <a:solidFill>
                  <a:srgbClr val="0000FF"/>
                </a:solidFill>
                <a:latin typeface="Roboto"/>
                <a:cs typeface="Roboto"/>
              </a:rPr>
              <a:t>57</a:t>
            </a:r>
            <a:r>
              <a:rPr dirty="0" baseline="27777" sz="1050" spc="195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zato</a:t>
            </a:r>
            <a:r>
              <a:rPr dirty="0" sz="1000" spc="-4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55">
                <a:solidFill>
                  <a:srgbClr val="0000FF"/>
                </a:solidFill>
                <a:latin typeface="Georgia"/>
                <a:cs typeface="Georgia"/>
              </a:rPr>
              <a:t>ˇsto</a:t>
            </a:r>
            <a:r>
              <a:rPr dirty="0" sz="1000" spc="9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potrebno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60">
                <a:solidFill>
                  <a:srgbClr val="0000FF"/>
                </a:solidFill>
                <a:latin typeface="Georgia"/>
                <a:cs typeface="Georgia"/>
              </a:rPr>
              <a:t>izraˇcunati</a:t>
            </a:r>
            <a:r>
              <a:rPr dirty="0" sz="1000" spc="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popamtiti</a:t>
            </a:r>
            <a:r>
              <a:rPr dirty="0" sz="1000" spc="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sve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10">
                <a:solidFill>
                  <a:srgbClr val="0000FF"/>
                </a:solidFill>
                <a:latin typeface="Georgia"/>
                <a:cs typeface="Georgia"/>
              </a:rPr>
              <a:t>mogu´ce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kriptirane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tekstove</a:t>
            </a:r>
            <a:r>
              <a:rPr dirty="0" sz="1000" spc="1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27777" sz="1050">
                <a:solidFill>
                  <a:srgbClr val="0000FF"/>
                </a:solidFill>
                <a:latin typeface="Cambria"/>
                <a:cs typeface="Cambria"/>
              </a:rPr>
              <a:t>′</a:t>
            </a:r>
            <a:r>
              <a:rPr dirty="0" baseline="27777" sz="1050" spc="419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koji</a:t>
            </a:r>
            <a:r>
              <a:rPr dirty="0" sz="1000" spc="1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se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dobivaju</a:t>
            </a:r>
            <a:r>
              <a:rPr dirty="0" sz="1000" spc="1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kriptiranjem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jasnog</a:t>
            </a:r>
            <a:r>
              <a:rPr dirty="0" sz="1000" spc="1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teksta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8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000" spc="17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sa</a:t>
            </a:r>
            <a:r>
              <a:rPr dirty="0" sz="1000" spc="1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svim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70">
                <a:solidFill>
                  <a:srgbClr val="0000FF"/>
                </a:solidFill>
                <a:latin typeface="Georgia"/>
                <a:cs typeface="Georgia"/>
              </a:rPr>
              <a:t>mogu´cim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Georgia"/>
                <a:cs typeface="Georgia"/>
              </a:rPr>
              <a:t>kljuˇcevima</a:t>
            </a:r>
            <a:r>
              <a:rPr dirty="0" sz="1000" spc="1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27777" sz="1050">
                <a:solidFill>
                  <a:srgbClr val="0000FF"/>
                </a:solidFill>
                <a:latin typeface="Cambria"/>
                <a:cs typeface="Cambria"/>
              </a:rPr>
              <a:t>′</a:t>
            </a:r>
            <a:r>
              <a:rPr dirty="0" baseline="27777" sz="1050" spc="465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1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Tahoma"/>
                <a:cs typeface="Tahoma"/>
              </a:rPr>
              <a:t>DES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m,</a:t>
            </a:r>
            <a:r>
              <a:rPr dirty="0" sz="1000" spc="-5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baseline="-11904" sz="1050" spc="82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baseline="-11904" sz="1050" spc="82" i="1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1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kojih</a:t>
            </a:r>
            <a:r>
              <a:rPr dirty="0" sz="1000" spc="15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ima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dirty="0" baseline="27777" sz="1050">
                <a:solidFill>
                  <a:srgbClr val="0000FF"/>
                </a:solidFill>
                <a:latin typeface="Roboto"/>
                <a:cs typeface="Roboto"/>
              </a:rPr>
              <a:t>56</a:t>
            </a:r>
            <a:r>
              <a:rPr dirty="0" baseline="27777" sz="1050" spc="254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potrebno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45">
                <a:solidFill>
                  <a:srgbClr val="0000FF"/>
                </a:solidFill>
                <a:latin typeface="Georgia"/>
                <a:cs typeface="Georgia"/>
              </a:rPr>
              <a:t>izraˇcunati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popamtiti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sve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85">
                <a:solidFill>
                  <a:srgbClr val="0000FF"/>
                </a:solidFill>
                <a:latin typeface="Georgia"/>
                <a:cs typeface="Georgia"/>
              </a:rPr>
              <a:t>mogu´ce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jasne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tekstove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koji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se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dobivaju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dekriptiranjem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kriptiranog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teksta</a:t>
            </a:r>
            <a:r>
              <a:rPr dirty="0" sz="1000" spc="5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sz="1000" spc="25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: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7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27777" sz="1050" spc="104">
                <a:solidFill>
                  <a:srgbClr val="0000FF"/>
                </a:solidFill>
                <a:latin typeface="Cambria"/>
                <a:cs typeface="Cambria"/>
              </a:rPr>
              <a:t>′</a:t>
            </a:r>
            <a:r>
              <a:rPr dirty="0" baseline="27777" sz="1050" spc="24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45">
                <a:solidFill>
                  <a:srgbClr val="0000FF"/>
                </a:solidFill>
                <a:latin typeface="Tahoma"/>
                <a:cs typeface="Tahoma"/>
              </a:rPr>
              <a:t>DES</a:t>
            </a:r>
            <a:r>
              <a:rPr dirty="0" baseline="35714" sz="1050" spc="67">
                <a:solidFill>
                  <a:srgbClr val="0000FF"/>
                </a:solidFill>
                <a:latin typeface="Cambria"/>
                <a:cs typeface="Cambria"/>
              </a:rPr>
              <a:t>−</a:t>
            </a:r>
            <a:r>
              <a:rPr dirty="0" baseline="35714" sz="1050" spc="67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sz="1000" spc="45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45" i="1">
                <a:solidFill>
                  <a:srgbClr val="0000FF"/>
                </a:solidFill>
                <a:latin typeface="Calibri"/>
                <a:cs typeface="Calibri"/>
              </a:rPr>
              <a:t>c,</a:t>
            </a:r>
            <a:r>
              <a:rPr dirty="0" sz="1000" spc="-6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5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baseline="-11904" sz="1050" spc="82">
                <a:solidFill>
                  <a:srgbClr val="0000FF"/>
                </a:solidFill>
                <a:latin typeface="Roboto"/>
                <a:cs typeface="Roboto"/>
              </a:rPr>
              <a:t>2</a:t>
            </a:r>
            <a:r>
              <a:rPr dirty="0" baseline="-11904" sz="1050" spc="82" i="1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za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sve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0">
                <a:solidFill>
                  <a:srgbClr val="0000FF"/>
                </a:solidFill>
                <a:latin typeface="Georgia"/>
                <a:cs typeface="Georgia"/>
              </a:rPr>
              <a:t>mogu´ce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70">
                <a:solidFill>
                  <a:srgbClr val="0000FF"/>
                </a:solidFill>
                <a:latin typeface="Georgia"/>
                <a:cs typeface="Georgia"/>
              </a:rPr>
              <a:t>kljuˇceve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kojih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ima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jednako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kao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u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prethodnom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5">
                <a:solidFill>
                  <a:srgbClr val="0000FF"/>
                </a:solidFill>
                <a:latin typeface="Georgia"/>
                <a:cs typeface="Georgia"/>
              </a:rPr>
              <a:t>sl</a:t>
            </a:r>
            <a:r>
              <a:rPr dirty="0" sz="1000" spc="-40">
                <a:solidFill>
                  <a:srgbClr val="0000FF"/>
                </a:solidFill>
                <a:latin typeface="Georgia"/>
                <a:cs typeface="Georgia"/>
              </a:rPr>
              <a:t>u</a:t>
            </a:r>
            <a:r>
              <a:rPr dirty="0" sz="1000" spc="-484">
                <a:solidFill>
                  <a:srgbClr val="0000FF"/>
                </a:solidFill>
                <a:latin typeface="Georgia"/>
                <a:cs typeface="Georgia"/>
              </a:rPr>
              <a:t>ˇ</a:t>
            </a:r>
            <a:r>
              <a:rPr dirty="0" sz="1000" spc="-5">
                <a:solidFill>
                  <a:srgbClr val="0000FF"/>
                </a:solidFill>
                <a:latin typeface="Georgia"/>
                <a:cs typeface="Georgia"/>
              </a:rPr>
              <a:t>c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a</a:t>
            </a:r>
            <a:r>
              <a:rPr dirty="0" sz="1000" spc="-15">
                <a:solidFill>
                  <a:srgbClr val="0000FF"/>
                </a:solidFill>
                <a:latin typeface="Georgia"/>
                <a:cs typeface="Georgia"/>
              </a:rPr>
              <a:t>j</a:t>
            </a:r>
            <a:r>
              <a:rPr dirty="0" sz="1000" spc="-5">
                <a:solidFill>
                  <a:srgbClr val="0000FF"/>
                </a:solidFill>
                <a:latin typeface="Georgia"/>
                <a:cs typeface="Georgia"/>
              </a:rPr>
              <a:t>u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dirty="0" baseline="27777" sz="1050">
                <a:solidFill>
                  <a:srgbClr val="0000FF"/>
                </a:solidFill>
                <a:latin typeface="Roboto"/>
                <a:cs typeface="Roboto"/>
              </a:rPr>
              <a:t>56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.</a:t>
            </a:r>
            <a:r>
              <a:rPr dirty="0" sz="1000" spc="19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Potom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treba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prona´ci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97672" y="1341782"/>
            <a:ext cx="416687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8725" algn="l"/>
                <a:tab pos="3818890" algn="l"/>
                <a:tab pos="4124325" algn="l"/>
              </a:tabLst>
            </a:pPr>
            <a:r>
              <a:rPr dirty="0" sz="700">
                <a:solidFill>
                  <a:srgbClr val="0000FF"/>
                </a:solidFill>
                <a:latin typeface="Cambria"/>
                <a:cs typeface="Cambria"/>
              </a:rPr>
              <a:t>′	′	′	′</a:t>
            </a:r>
            <a:endParaRPr sz="7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97672" y="1423532"/>
            <a:ext cx="41700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98725" algn="l"/>
                <a:tab pos="3818890" algn="l"/>
                <a:tab pos="4124325" algn="l"/>
              </a:tabLst>
            </a:pPr>
            <a:r>
              <a:rPr dirty="0" sz="700" spc="114" i="1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dirty="0" sz="700" i="1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700" spc="35" i="1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r>
              <a:rPr dirty="0" sz="700" i="1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700" spc="114" i="1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dirty="0" sz="700" i="1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700" spc="35" i="1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186777" y="1406680"/>
            <a:ext cx="23304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7960" algn="l"/>
              </a:tabLst>
            </a:pPr>
            <a:r>
              <a:rPr dirty="0" sz="700" spc="114" i="1">
                <a:solidFill>
                  <a:srgbClr val="0000FF"/>
                </a:solidFill>
                <a:latin typeface="Calibri"/>
                <a:cs typeface="Calibri"/>
              </a:rPr>
              <a:t>j</a:t>
            </a:r>
            <a:r>
              <a:rPr dirty="0" sz="700" i="1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dirty="0" sz="700" spc="25" i="1">
                <a:solidFill>
                  <a:srgbClr val="0000FF"/>
                </a:solidFill>
                <a:latin typeface="Calibri"/>
                <a:cs typeface="Calibri"/>
              </a:rPr>
              <a:t>l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56297" y="1349748"/>
            <a:ext cx="66548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jasni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tekst</a:t>
            </a:r>
            <a:r>
              <a:rPr dirty="0" sz="1000" spc="114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8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000" spc="145" i="1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koji</a:t>
            </a:r>
            <a:r>
              <a:rPr dirty="0" sz="1000" spc="114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114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jednak</a:t>
            </a:r>
            <a:r>
              <a:rPr dirty="0" sz="1000" spc="114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nekom</a:t>
            </a:r>
            <a:r>
              <a:rPr dirty="0" sz="1000" spc="114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kriptiranom</a:t>
            </a:r>
            <a:r>
              <a:rPr dirty="0" sz="1000" spc="114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tekstu</a:t>
            </a:r>
            <a:r>
              <a:rPr dirty="0" sz="1000" spc="1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sz="1000" spc="5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,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tj.</a:t>
            </a:r>
            <a:r>
              <a:rPr dirty="0" sz="1000" spc="3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tako</a:t>
            </a:r>
            <a:r>
              <a:rPr dirty="0" sz="1000" spc="1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da</a:t>
            </a:r>
            <a:r>
              <a:rPr dirty="0" sz="1000" spc="114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vrijedi</a:t>
            </a:r>
            <a:r>
              <a:rPr dirty="0" sz="1000" spc="114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8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sz="1000" spc="140" i="1">
                <a:solidFill>
                  <a:srgbClr val="0000FF"/>
                </a:solidFill>
                <a:latin typeface="Calibri"/>
                <a:cs typeface="Calibri"/>
              </a:rPr>
              <a:t> 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10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sz="1000" spc="39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100">
                <a:solidFill>
                  <a:srgbClr val="0000FF"/>
                </a:solidFill>
                <a:latin typeface="Georgia"/>
                <a:cs typeface="Georgia"/>
              </a:rPr>
              <a:t>ˇcime</a:t>
            </a:r>
            <a:r>
              <a:rPr dirty="0" sz="1000" spc="114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114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otkriven</a:t>
            </a:r>
            <a:r>
              <a:rPr dirty="0" sz="1000" spc="114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0000FF"/>
                </a:solidFill>
                <a:latin typeface="Georgia"/>
                <a:cs typeface="Georgia"/>
              </a:rPr>
              <a:t>kljuˇc</a:t>
            </a:r>
            <a:r>
              <a:rPr dirty="0" sz="1000" spc="1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000" spc="15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,</a:t>
            </a:r>
            <a:r>
              <a:rPr dirty="0" sz="1000" spc="-6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65" i="1">
                <a:solidFill>
                  <a:srgbClr val="0000FF"/>
                </a:solidFill>
                <a:latin typeface="Calibri"/>
                <a:cs typeface="Calibri"/>
              </a:rPr>
              <a:t>k</a:t>
            </a:r>
            <a:r>
              <a:rPr dirty="0" sz="1000" spc="50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).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339547" y="3511499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448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86231" y="1490249"/>
            <a:ext cx="6964045" cy="227774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282575">
              <a:lnSpc>
                <a:spcPct val="100000"/>
              </a:lnSpc>
              <a:spcBef>
                <a:spcPts val="295"/>
              </a:spcBef>
            </a:pPr>
            <a:r>
              <a:rPr dirty="0" sz="1000" spc="-70">
                <a:solidFill>
                  <a:srgbClr val="0000FF"/>
                </a:solidFill>
                <a:latin typeface="Georgia"/>
                <a:cs typeface="Georgia"/>
              </a:rPr>
              <a:t>Sloˇzenost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tog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napada</a:t>
            </a:r>
            <a:r>
              <a:rPr dirty="0" sz="1000" spc="3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2</a:t>
            </a:r>
            <a:r>
              <a:rPr dirty="0" baseline="27777" sz="1050" spc="-30">
                <a:solidFill>
                  <a:srgbClr val="0000FF"/>
                </a:solidFill>
                <a:latin typeface="Roboto"/>
                <a:cs typeface="Roboto"/>
              </a:rPr>
              <a:t>57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.</a:t>
            </a:r>
            <a:endParaRPr sz="1000">
              <a:latin typeface="Georgia"/>
              <a:cs typeface="Georgia"/>
            </a:endParaRPr>
          </a:p>
          <a:p>
            <a:pPr marL="282575">
              <a:lnSpc>
                <a:spcPct val="100000"/>
              </a:lnSpc>
              <a:spcBef>
                <a:spcPts val="195"/>
              </a:spcBef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3DES</a:t>
            </a:r>
            <a:r>
              <a:rPr dirty="0" sz="1000" spc="7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ranjim</a:t>
            </a:r>
            <a:r>
              <a:rPr dirty="0" sz="1000" spc="7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na</a:t>
            </a:r>
            <a:r>
              <a:rPr dirty="0" sz="1000" spc="7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Palatino Linotype"/>
                <a:cs typeface="Palatino Linotype"/>
              </a:rPr>
              <a:t>meet-in-the-middle</a:t>
            </a:r>
            <a:r>
              <a:rPr dirty="0" sz="1000" spc="100" i="1">
                <a:solidFill>
                  <a:srgbClr val="0000FF"/>
                </a:solidFill>
                <a:latin typeface="Palatino Linotype"/>
                <a:cs typeface="Palatino Linotype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napad.</a:t>
            </a:r>
            <a:r>
              <a:rPr dirty="0" sz="1000" spc="17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Potreban</a:t>
            </a:r>
            <a:r>
              <a:rPr dirty="0" sz="1000" spc="7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donekle</a:t>
            </a:r>
            <a:r>
              <a:rPr dirty="0" sz="1000" spc="7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razuman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opis</a:t>
            </a:r>
            <a:r>
              <a:rPr dirty="0" sz="1000" spc="7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napada.</a:t>
            </a:r>
            <a:endParaRPr sz="1000">
              <a:latin typeface="Georgia"/>
              <a:cs typeface="Georgia"/>
            </a:endParaRPr>
          </a:p>
          <a:p>
            <a:pPr marL="279400" marR="43180" indent="-201295">
              <a:lnSpc>
                <a:spcPct val="100000"/>
              </a:lnSpc>
              <a:spcBef>
                <a:spcPts val="395"/>
              </a:spcBef>
              <a:buAutoNum type="alphaLcParenBoth" startAt="6"/>
              <a:tabLst>
                <a:tab pos="282575" algn="l"/>
              </a:tabLst>
            </a:pPr>
            <a:r>
              <a:rPr dirty="0" sz="1000">
                <a:latin typeface="Georgia"/>
                <a:cs typeface="Georgia"/>
              </a:rPr>
              <a:t>(1)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Navedite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dva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naˇcina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kriptiranja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bloka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u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kojima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blok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skirvenog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teksta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ne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ovisi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blokovima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skrivenog</a:t>
            </a:r>
            <a:r>
              <a:rPr dirty="0" sz="1000" spc="8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teksta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koji</a:t>
            </a:r>
            <a:r>
              <a:rPr dirty="0" sz="1000" spc="8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mu </a:t>
            </a:r>
            <a:r>
              <a:rPr dirty="0" sz="1000" spc="-25">
                <a:latin typeface="Georgia"/>
                <a:cs typeface="Georgia"/>
              </a:rPr>
              <a:t>	</a:t>
            </a:r>
            <a:r>
              <a:rPr dirty="0" sz="1000" spc="-10">
                <a:latin typeface="Georgia"/>
                <a:cs typeface="Georgia"/>
              </a:rPr>
              <a:t>prethode.</a:t>
            </a:r>
            <a:endParaRPr sz="1000">
              <a:latin typeface="Georgia"/>
              <a:cs typeface="Georgia"/>
            </a:endParaRPr>
          </a:p>
          <a:p>
            <a:pPr marL="282575">
              <a:lnSpc>
                <a:spcPct val="100000"/>
              </a:lnSpc>
              <a:spcBef>
                <a:spcPts val="190"/>
              </a:spcBef>
            </a:pP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CTR,</a:t>
            </a:r>
            <a:r>
              <a:rPr dirty="0" sz="1000" spc="9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OFB</a:t>
            </a:r>
            <a:endParaRPr sz="1000">
              <a:latin typeface="Georgia"/>
              <a:cs typeface="Georgia"/>
            </a:endParaRPr>
          </a:p>
          <a:p>
            <a:pPr marL="279400" marR="43815" indent="-222250">
              <a:lnSpc>
                <a:spcPct val="100000"/>
              </a:lnSpc>
              <a:spcBef>
                <a:spcPts val="390"/>
              </a:spcBef>
              <a:buAutoNum type="alphaLcParenBoth" startAt="7"/>
              <a:tabLst>
                <a:tab pos="282575" algn="l"/>
              </a:tabLst>
            </a:pPr>
            <a:r>
              <a:rPr dirty="0" sz="1000">
                <a:latin typeface="Georgia"/>
                <a:cs typeface="Georgia"/>
              </a:rPr>
              <a:t>(1)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Algoritmi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zasnovani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konstrukciji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60">
                <a:latin typeface="Georgia"/>
                <a:cs typeface="Georgia"/>
              </a:rPr>
              <a:t>Merkle–Damg˚ard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ranjivi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su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napad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na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tajni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sufiks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poruke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(</a:t>
            </a:r>
            <a:r>
              <a:rPr dirty="0" sz="1000" i="1">
                <a:latin typeface="Palatino Linotype"/>
                <a:cs typeface="Palatino Linotype"/>
              </a:rPr>
              <a:t>Length</a:t>
            </a:r>
            <a:r>
              <a:rPr dirty="0" sz="1000" spc="90" i="1">
                <a:latin typeface="Palatino Linotype"/>
                <a:cs typeface="Palatino Linotype"/>
              </a:rPr>
              <a:t> </a:t>
            </a:r>
            <a:r>
              <a:rPr dirty="0" sz="1000" spc="-10" i="1">
                <a:latin typeface="Palatino Linotype"/>
                <a:cs typeface="Palatino Linotype"/>
              </a:rPr>
              <a:t>Extension </a:t>
            </a:r>
            <a:r>
              <a:rPr dirty="0" sz="1000" spc="-10" i="1">
                <a:latin typeface="Palatino Linotype"/>
                <a:cs typeface="Palatino Linotype"/>
              </a:rPr>
              <a:t>	</a:t>
            </a:r>
            <a:r>
              <a:rPr dirty="0" sz="1000" i="1">
                <a:latin typeface="Palatino Linotype"/>
                <a:cs typeface="Palatino Linotype"/>
              </a:rPr>
              <a:t>Attack</a:t>
            </a:r>
            <a:r>
              <a:rPr dirty="0" sz="1000">
                <a:latin typeface="Georgia"/>
                <a:cs typeface="Georgia"/>
              </a:rPr>
              <a:t>).</a:t>
            </a:r>
            <a:r>
              <a:rPr dirty="0" sz="1000" spc="190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Ukratko</a:t>
            </a:r>
            <a:r>
              <a:rPr dirty="0" sz="1000" spc="90">
                <a:latin typeface="Georgia"/>
                <a:cs typeface="Georgia"/>
              </a:rPr>
              <a:t> </a:t>
            </a:r>
            <a:r>
              <a:rPr dirty="0" sz="1000" spc="-75">
                <a:latin typeface="Georgia"/>
                <a:cs typeface="Georgia"/>
              </a:rPr>
              <a:t>opiˇsite</a:t>
            </a:r>
            <a:r>
              <a:rPr dirty="0" sz="1000" spc="9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napad.</a:t>
            </a:r>
            <a:endParaRPr sz="1000">
              <a:latin typeface="Georgia"/>
              <a:cs typeface="Georgia"/>
            </a:endParaRPr>
          </a:p>
          <a:p>
            <a:pPr marL="282575" marR="44450">
              <a:lnSpc>
                <a:spcPct val="100000"/>
              </a:lnSpc>
              <a:spcBef>
                <a:spcPts val="190"/>
              </a:spcBef>
            </a:pPr>
            <a:r>
              <a:rPr dirty="0" sz="1000" spc="-70">
                <a:solidFill>
                  <a:srgbClr val="0000FF"/>
                </a:solidFill>
                <a:latin typeface="Georgia"/>
                <a:cs typeface="Georgia"/>
              </a:rPr>
              <a:t>Napadaˇc</a:t>
            </a:r>
            <a:r>
              <a:rPr dirty="0" sz="1000" spc="1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na</a:t>
            </a:r>
            <a:r>
              <a:rPr dirty="0" sz="1000" spc="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temelju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poznatog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80">
                <a:solidFill>
                  <a:srgbClr val="0000FF"/>
                </a:solidFill>
                <a:latin typeface="Georgia"/>
                <a:cs typeface="Georgia"/>
              </a:rPr>
              <a:t>saˇzetka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90" i="1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dirty="0" sz="1000" spc="90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9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135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sz="1000" spc="90">
                <a:solidFill>
                  <a:srgbClr val="0000FF"/>
                </a:solidFill>
                <a:latin typeface="Georgia"/>
                <a:cs typeface="Georgia"/>
              </a:rPr>
              <a:t>)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duljine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poruke</a:t>
            </a:r>
            <a:r>
              <a:rPr dirty="0" sz="1000" spc="1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5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75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,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a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bez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da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poznaje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poruku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5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75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,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40">
                <a:solidFill>
                  <a:srgbClr val="0000FF"/>
                </a:solidFill>
                <a:latin typeface="Georgia"/>
                <a:cs typeface="Georgia"/>
              </a:rPr>
              <a:t>moˇze</a:t>
            </a:r>
            <a:r>
              <a:rPr dirty="0" sz="1000" spc="4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umetnuti</a:t>
            </a:r>
            <a:r>
              <a:rPr dirty="0" sz="1000" spc="2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dodatne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podatke</a:t>
            </a:r>
            <a:r>
              <a:rPr dirty="0" sz="1000" spc="3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na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kraj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poruke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5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75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sz="1000" spc="50">
                <a:solidFill>
                  <a:srgbClr val="0000FF"/>
                </a:solidFill>
                <a:latin typeface="Georgia"/>
                <a:cs typeface="Georgia"/>
              </a:rPr>
              <a:t>,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tj.</a:t>
            </a:r>
            <a:r>
              <a:rPr dirty="0" sz="1000" spc="1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30">
                <a:solidFill>
                  <a:srgbClr val="0000FF"/>
                </a:solidFill>
                <a:latin typeface="Georgia"/>
                <a:cs typeface="Georgia"/>
              </a:rPr>
              <a:t>moˇze</a:t>
            </a:r>
            <a:r>
              <a:rPr dirty="0" sz="1000" spc="7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dodati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proizvoljnu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dodatnu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poruku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5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75">
                <a:solidFill>
                  <a:srgbClr val="0000FF"/>
                </a:solidFill>
                <a:latin typeface="Roboto"/>
                <a:cs typeface="Roboto"/>
              </a:rPr>
              <a:t>2</a:t>
            </a:r>
            <a:r>
              <a:rPr dirty="0" baseline="-11904" sz="1050" spc="262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55">
                <a:solidFill>
                  <a:srgbClr val="0000FF"/>
                </a:solidFill>
                <a:latin typeface="Georgia"/>
                <a:cs typeface="Georgia"/>
              </a:rPr>
              <a:t>izraˇcunati</a:t>
            </a:r>
            <a:r>
              <a:rPr dirty="0" sz="1000" spc="6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95" i="1">
                <a:solidFill>
                  <a:srgbClr val="0000FF"/>
                </a:solidFill>
                <a:latin typeface="Calibri"/>
                <a:cs typeface="Calibri"/>
              </a:rPr>
              <a:t>H</a:t>
            </a:r>
            <a:r>
              <a:rPr dirty="0" sz="1000" spc="95">
                <a:solidFill>
                  <a:srgbClr val="0000FF"/>
                </a:solidFill>
                <a:latin typeface="Georgia"/>
                <a:cs typeface="Georgia"/>
              </a:rPr>
              <a:t>(</a:t>
            </a:r>
            <a:r>
              <a:rPr dirty="0" sz="1000" spc="95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142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baseline="-11904" sz="1050" spc="104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90">
                <a:solidFill>
                  <a:srgbClr val="0000FF"/>
                </a:solidFill>
                <a:latin typeface="Lucida Sans Unicode"/>
                <a:cs typeface="Lucida Sans Unicode"/>
              </a:rPr>
              <a:t>∥</a:t>
            </a:r>
            <a:r>
              <a:rPr dirty="0" sz="1000" spc="-9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 spc="-30">
                <a:solidFill>
                  <a:srgbClr val="0000FF"/>
                </a:solidFill>
                <a:latin typeface="Roboto"/>
                <a:cs typeface="Roboto"/>
              </a:rPr>
              <a:t>2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).</a:t>
            </a:r>
            <a:endParaRPr sz="1000">
              <a:latin typeface="Georgia"/>
              <a:cs typeface="Georgia"/>
            </a:endParaRPr>
          </a:p>
          <a:p>
            <a:pPr marL="279400" marR="43180" indent="-229235">
              <a:lnSpc>
                <a:spcPct val="100000"/>
              </a:lnSpc>
              <a:spcBef>
                <a:spcPts val="390"/>
              </a:spcBef>
              <a:buAutoNum type="alphaLcParenBoth" startAt="8"/>
              <a:tabLst>
                <a:tab pos="282575" algn="l"/>
              </a:tabLst>
            </a:pPr>
            <a:r>
              <a:rPr dirty="0" sz="1000">
                <a:latin typeface="Georgia"/>
                <a:cs typeface="Georgia"/>
              </a:rPr>
              <a:t>(1)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Kod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80">
                <a:latin typeface="Georgia"/>
                <a:cs typeface="Georgia"/>
              </a:rPr>
              <a:t>naˇcina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kriptiranja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Counter</a:t>
            </a:r>
            <a:r>
              <a:rPr dirty="0" sz="1000" spc="80" i="1">
                <a:latin typeface="Palatino Linotype"/>
                <a:cs typeface="Palatino Linotype"/>
              </a:rPr>
              <a:t> </a:t>
            </a:r>
            <a:r>
              <a:rPr dirty="0" sz="1000" i="1">
                <a:latin typeface="Palatino Linotype"/>
                <a:cs typeface="Palatino Linotype"/>
              </a:rPr>
              <a:t>Mode</a:t>
            </a:r>
            <a:r>
              <a:rPr dirty="0" sz="1000" spc="90" i="1">
                <a:latin typeface="Palatino Linotype"/>
                <a:cs typeface="Palatino Linotype"/>
              </a:rPr>
              <a:t> </a:t>
            </a:r>
            <a:r>
              <a:rPr dirty="0" sz="1000">
                <a:latin typeface="Georgia"/>
                <a:cs typeface="Georgia"/>
              </a:rPr>
              <a:t>(CTR),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95">
                <a:latin typeface="Georgia"/>
                <a:cs typeface="Georgia"/>
              </a:rPr>
              <a:t>zaˇsto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nije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dobro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koristiti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isti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inicijalizacijski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10">
                <a:latin typeface="Georgia"/>
                <a:cs typeface="Georgia"/>
              </a:rPr>
              <a:t>vektor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s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istim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spc="-80">
                <a:latin typeface="Georgia"/>
                <a:cs typeface="Georgia"/>
              </a:rPr>
              <a:t>kljuˇcem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25">
                <a:latin typeface="Georgia"/>
                <a:cs typeface="Georgia"/>
              </a:rPr>
              <a:t>za </a:t>
            </a:r>
            <a:r>
              <a:rPr dirty="0" sz="1000" spc="-25">
                <a:latin typeface="Georgia"/>
                <a:cs typeface="Georgia"/>
              </a:rPr>
              <a:t>	</a:t>
            </a:r>
            <a:r>
              <a:rPr dirty="0" sz="1000" spc="-10">
                <a:latin typeface="Georgia"/>
                <a:cs typeface="Georgia"/>
              </a:rPr>
              <a:t>kriptiranje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>
                <a:latin typeface="Georgia"/>
                <a:cs typeface="Georgia"/>
              </a:rPr>
              <a:t>dvije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60">
                <a:latin typeface="Georgia"/>
                <a:cs typeface="Georgia"/>
              </a:rPr>
              <a:t>razliˇcite</a:t>
            </a:r>
            <a:r>
              <a:rPr dirty="0" sz="1000" spc="75">
                <a:latin typeface="Georgia"/>
                <a:cs typeface="Georgia"/>
              </a:rPr>
              <a:t> </a:t>
            </a:r>
            <a:r>
              <a:rPr dirty="0" sz="1000" spc="-20">
                <a:latin typeface="Georgia"/>
                <a:cs typeface="Georgia"/>
              </a:rPr>
              <a:t>poruke</a:t>
            </a:r>
            <a:r>
              <a:rPr dirty="0" sz="1000" spc="65">
                <a:latin typeface="Georgia"/>
                <a:cs typeface="Georgia"/>
              </a:rPr>
              <a:t> </a:t>
            </a:r>
            <a:r>
              <a:rPr dirty="0" sz="1000" i="1">
                <a:latin typeface="Calibri"/>
                <a:cs typeface="Calibri"/>
              </a:rPr>
              <a:t>m</a:t>
            </a:r>
            <a:r>
              <a:rPr dirty="0" baseline="-11904" sz="1050">
                <a:latin typeface="Roboto"/>
                <a:cs typeface="Roboto"/>
              </a:rPr>
              <a:t>1</a:t>
            </a:r>
            <a:r>
              <a:rPr dirty="0" baseline="-11904" sz="1050" spc="284">
                <a:latin typeface="Roboto"/>
                <a:cs typeface="Roboto"/>
              </a:rPr>
              <a:t> </a:t>
            </a:r>
            <a:r>
              <a:rPr dirty="0" sz="1000">
                <a:latin typeface="Georgia"/>
                <a:cs typeface="Georgia"/>
              </a:rPr>
              <a:t>i</a:t>
            </a:r>
            <a:r>
              <a:rPr dirty="0" sz="1000" spc="70">
                <a:latin typeface="Georgia"/>
                <a:cs typeface="Georgia"/>
              </a:rPr>
              <a:t> </a:t>
            </a:r>
            <a:r>
              <a:rPr dirty="0" sz="1000" spc="-25" i="1">
                <a:latin typeface="Calibri"/>
                <a:cs typeface="Calibri"/>
              </a:rPr>
              <a:t>m</a:t>
            </a:r>
            <a:r>
              <a:rPr dirty="0" baseline="-11904" sz="1050" spc="-37">
                <a:latin typeface="Roboto"/>
                <a:cs typeface="Roboto"/>
              </a:rPr>
              <a:t>2</a:t>
            </a:r>
            <a:r>
              <a:rPr dirty="0" sz="1000" spc="-25">
                <a:latin typeface="Georgia"/>
                <a:cs typeface="Georgia"/>
              </a:rPr>
              <a:t>?</a:t>
            </a:r>
            <a:endParaRPr sz="1000">
              <a:latin typeface="Georgia"/>
              <a:cs typeface="Georgia"/>
            </a:endParaRPr>
          </a:p>
          <a:p>
            <a:pPr marL="282575" marR="43815">
              <a:lnSpc>
                <a:spcPct val="100000"/>
              </a:lnSpc>
              <a:spcBef>
                <a:spcPts val="190"/>
              </a:spcBef>
            </a:pP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Zbog</a:t>
            </a:r>
            <a:r>
              <a:rPr dirty="0" sz="1000" spc="6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toga</a:t>
            </a:r>
            <a:r>
              <a:rPr dirty="0" sz="1000" spc="5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20">
                <a:solidFill>
                  <a:srgbClr val="0000FF"/>
                </a:solidFill>
                <a:latin typeface="Georgia"/>
                <a:cs typeface="Georgia"/>
              </a:rPr>
              <a:t>ˇsto</a:t>
            </a:r>
            <a:r>
              <a:rPr dirty="0" sz="1000" spc="8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14">
                <a:solidFill>
                  <a:srgbClr val="0000FF"/>
                </a:solidFill>
                <a:latin typeface="Georgia"/>
                <a:cs typeface="Georgia"/>
              </a:rPr>
              <a:t>´cemo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dobiti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relaciju</a:t>
            </a:r>
            <a:r>
              <a:rPr dirty="0" sz="1000" spc="10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baseline="-11904" sz="1050" spc="150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6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c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2</a:t>
            </a:r>
            <a:r>
              <a:rPr dirty="0" baseline="-11904" sz="1050" spc="292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130">
                <a:solidFill>
                  <a:srgbClr val="0000FF"/>
                </a:solidFill>
                <a:latin typeface="Georgia"/>
                <a:cs typeface="Georgia"/>
              </a:rPr>
              <a:t>=</a:t>
            </a:r>
            <a:r>
              <a:rPr dirty="0" sz="1000" spc="85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1</a:t>
            </a:r>
            <a:r>
              <a:rPr dirty="0" baseline="-11904" sz="1050" spc="150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 spc="-40">
                <a:solidFill>
                  <a:srgbClr val="0000FF"/>
                </a:solidFill>
                <a:latin typeface="Lucida Sans Unicode"/>
                <a:cs typeface="Lucida Sans Unicode"/>
              </a:rPr>
              <a:t>⊕</a:t>
            </a:r>
            <a:r>
              <a:rPr dirty="0" sz="1000" spc="-65">
                <a:solidFill>
                  <a:srgbClr val="0000FF"/>
                </a:solidFill>
                <a:latin typeface="Lucida Sans Unicode"/>
                <a:cs typeface="Lucida Sans Unicode"/>
              </a:rPr>
              <a:t> </a:t>
            </a:r>
            <a:r>
              <a:rPr dirty="0" sz="1000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-11904" sz="1050">
                <a:solidFill>
                  <a:srgbClr val="0000FF"/>
                </a:solidFill>
                <a:latin typeface="Roboto"/>
                <a:cs typeface="Roboto"/>
              </a:rPr>
              <a:t>2</a:t>
            </a:r>
            <a:r>
              <a:rPr dirty="0" baseline="-11904" sz="1050" spc="330">
                <a:solidFill>
                  <a:srgbClr val="0000FF"/>
                </a:solidFill>
                <a:latin typeface="Roboto"/>
                <a:cs typeface="Roboto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jezik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ima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000FF"/>
                </a:solidFill>
                <a:latin typeface="Georgia"/>
                <a:cs typeface="Georgia"/>
              </a:rPr>
              <a:t>dovoljno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redundantnosti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da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dodemo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do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sad</a:t>
            </a:r>
            <a:r>
              <a:rPr dirty="0" sz="1000" spc="-35">
                <a:solidFill>
                  <a:srgbClr val="0000FF"/>
                </a:solidFill>
                <a:latin typeface="Georgia"/>
                <a:cs typeface="Georgia"/>
              </a:rPr>
              <a:t>r</a:t>
            </a:r>
            <a:r>
              <a:rPr dirty="0" sz="1000" spc="-480">
                <a:solidFill>
                  <a:srgbClr val="0000FF"/>
                </a:solidFill>
                <a:latin typeface="Georgia"/>
                <a:cs typeface="Georgia"/>
              </a:rPr>
              <a:t>ˇ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z</a:t>
            </a:r>
            <a:r>
              <a:rPr dirty="0" sz="1000" spc="25">
                <a:solidFill>
                  <a:srgbClr val="0000FF"/>
                </a:solidFill>
                <a:latin typeface="Georgia"/>
                <a:cs typeface="Georgia"/>
              </a:rPr>
              <a:t>a</a:t>
            </a:r>
            <a:r>
              <a:rPr dirty="0" sz="1000">
                <a:solidFill>
                  <a:srgbClr val="0000FF"/>
                </a:solidFill>
                <a:latin typeface="Georgia"/>
                <a:cs typeface="Georgia"/>
              </a:rPr>
              <a:t>ja</a:t>
            </a:r>
            <a:r>
              <a:rPr dirty="0" sz="1000" spc="100">
                <a:solidFill>
                  <a:srgbClr val="0000FF"/>
                </a:solidFill>
                <a:latin typeface="Georgia"/>
                <a:cs typeface="Georgia"/>
              </a:rPr>
              <a:t> </a:t>
            </a:r>
            <a:r>
              <a:rPr dirty="0" sz="1000" spc="-25">
                <a:solidFill>
                  <a:srgbClr val="0000FF"/>
                </a:solidFill>
                <a:latin typeface="Georgia"/>
                <a:cs typeface="Georgia"/>
              </a:rPr>
              <a:t>tih </a:t>
            </a:r>
            <a:r>
              <a:rPr dirty="0" sz="1000" spc="-10">
                <a:solidFill>
                  <a:srgbClr val="0000FF"/>
                </a:solidFill>
                <a:latin typeface="Georgia"/>
                <a:cs typeface="Georgia"/>
              </a:rPr>
              <a:t>poruka.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220"/>
              </a:spcBef>
            </a:pPr>
            <a:r>
              <a:rPr dirty="0" spc="20"/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2025-11-30T22:42:35Z</dcterms:created>
  <dcterms:modified xsi:type="dcterms:W3CDTF">2025-11-30T22:42:35Z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2025-11-30T00:00:00Z</vt:filetime>
  </property>
  <property fmtid="{D5CDD505-2E9C-101B-9397-08002B2CF9AE}" pid="3" name="LastSaved">
    <vt:filetime>2025-11-30T00:00:00Z</vt:filetime>
  </property>
  <property fmtid="{D5CDD505-2E9C-101B-9397-08002B2CF9AE}" pid="4" name="Producer">
    <vt:lpwstr>iLovePDF</vt:lpwstr>
  </property>
</Properties>
</file>