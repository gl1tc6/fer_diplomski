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55" r:id="rId4"/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1A2B2A-436A-480B-A1B8-D0FBDF0A8AFE}">
  <a:tblStyle styleId="{A31A2B2A-436A-480B-A1B8-D0FBDF0A8A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hr-H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eb.archive.org/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r-HR"/>
              <a:t>Rješava se paralize analize uzrokovane prevelikom količinom podataka.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r-HR"/>
              <a:t>Strukturirana analiza ključnih varijabli situacije.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r-HR"/>
              <a:t>8, nadzor i usavršavanje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r-HR"/>
              <a:t>OODA petlja, jer je kraća i efikasnija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r-HR"/>
              <a:t>Hijerarhijska ukoćenost, svi čekaju na odluku zapovjednika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hr-HR"/>
              <a:t>Za zapovjednika/vođu tima</a:t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619a50260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b619a50260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19a5026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b619a5026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1ed0dea9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/>
              <a:t>Chief Information Security Officer</a:t>
            </a:r>
            <a:endParaRPr/>
          </a:p>
        </p:txBody>
      </p:sp>
      <p:sp>
        <p:nvSpPr>
          <p:cNvPr id="101" name="Google Shape;101;g3b61ed0dea9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619a5026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619a50260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1ed0dea9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61ed0dea9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61ed0dea9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61ed0dea9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61ed0dea9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61ed0dea9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61ed0dea9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61ed0dea9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61ed0dea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61ed0dea9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61ed0dea9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61ed0dea9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61ed0dea9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61ed0dea9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/>
              <a:t>Black Swan događaji</a:t>
            </a:r>
            <a:endParaRPr/>
          </a:p>
        </p:txBody>
      </p:sp>
      <p:sp>
        <p:nvSpPr>
          <p:cNvPr id="150" name="Google Shape;150;g3b61ed0dea9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61ed0dea9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61ed0dea9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/>
              <a:t>Black Swan događaji</a:t>
            </a:r>
            <a:endParaRPr/>
          </a:p>
        </p:txBody>
      </p:sp>
      <p:sp>
        <p:nvSpPr>
          <p:cNvPr id="157" name="Google Shape;157;g3b61ed0dea9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/>
              <a:t>Ukoliko nisu stranice dostupne predlažem: </a:t>
            </a:r>
            <a:r>
              <a:rPr lang="hr-HR" u="sng">
                <a:solidFill>
                  <a:schemeClr val="hlink"/>
                </a:solidFill>
                <a:hlinkClick r:id="rId2"/>
              </a:rPr>
              <a:t>http://web.archive.org/</a:t>
            </a:r>
            <a:r>
              <a:rPr lang="hr-HR"/>
              <a:t> , gledati pod navedenim datumom ili starije</a:t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">
  <p:cSld name="Naslov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1516257" y="1410045"/>
            <a:ext cx="8281197" cy="13102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20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1521475" y="4865569"/>
            <a:ext cx="6104036" cy="1310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9353" y="369103"/>
            <a:ext cx="743718" cy="3114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8996515" y="369103"/>
            <a:ext cx="2816131" cy="41389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100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idx="3" type="body"/>
          </p:nvPr>
        </p:nvSpPr>
        <p:spPr>
          <a:xfrm>
            <a:off x="9055299" y="266407"/>
            <a:ext cx="2700600" cy="41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4" type="body"/>
          </p:nvPr>
        </p:nvSpPr>
        <p:spPr>
          <a:xfrm>
            <a:off x="1519026" y="3067052"/>
            <a:ext cx="9524112" cy="1310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raj">
  <p:cSld name="Kraj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946044" y="2995430"/>
            <a:ext cx="8804637" cy="2173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ial"/>
              <a:buNone/>
              <a:defRPr b="1" i="0" sz="7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9353" y="369104"/>
            <a:ext cx="498480" cy="20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+Bullets Layout">
  <p:cSld name="Text+Bullets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/>
        </p:nvSpPr>
        <p:spPr>
          <a:xfrm>
            <a:off x="2022231" y="5627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65509" y="1824450"/>
            <a:ext cx="10398978" cy="3955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565509" y="871572"/>
            <a:ext cx="10398978" cy="716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/>
        </p:nvSpPr>
        <p:spPr>
          <a:xfrm>
            <a:off x="11143129" y="6320118"/>
            <a:ext cx="61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hr-H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slov">
  <p:cSld name="Naslov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1516257" y="1410045"/>
            <a:ext cx="8281197" cy="13102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20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1521475" y="4865569"/>
            <a:ext cx="6104036" cy="1310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9353" y="369103"/>
            <a:ext cx="743718" cy="31144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8996515" y="369103"/>
            <a:ext cx="2816131" cy="41389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100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 txBox="1"/>
          <p:nvPr>
            <p:ph idx="3" type="body"/>
          </p:nvPr>
        </p:nvSpPr>
        <p:spPr>
          <a:xfrm>
            <a:off x="9055299" y="266407"/>
            <a:ext cx="2700600" cy="41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4" type="body"/>
          </p:nvPr>
        </p:nvSpPr>
        <p:spPr>
          <a:xfrm>
            <a:off x="1519026" y="3067052"/>
            <a:ext cx="9524112" cy="1310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dnaslov">
  <p:cSld name="Podnaslov">
    <p:bg>
      <p:bgPr>
        <a:solidFill>
          <a:schemeClr val="dk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8478" y="236351"/>
            <a:ext cx="765313" cy="47680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/>
          <p:nvPr>
            <p:ph idx="1" type="body"/>
          </p:nvPr>
        </p:nvSpPr>
        <p:spPr>
          <a:xfrm>
            <a:off x="2951263" y="1682496"/>
            <a:ext cx="8804636" cy="6233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2951263" y="2749258"/>
            <a:ext cx="8804636" cy="1327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/>
        </p:nvSpPr>
        <p:spPr>
          <a:xfrm>
            <a:off x="2022231" y="5627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353" y="369103"/>
            <a:ext cx="743718" cy="31144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/>
          <p:nvPr/>
        </p:nvSpPr>
        <p:spPr>
          <a:xfrm>
            <a:off x="8996516" y="369103"/>
            <a:ext cx="2816131" cy="36933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1000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9055299" y="266407"/>
            <a:ext cx="2700600" cy="41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azan">
  <p:cSld name="Praza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/>
        </p:nvSpPr>
        <p:spPr>
          <a:xfrm>
            <a:off x="11143129" y="6320118"/>
            <a:ext cx="61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-H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hr-H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raj">
  <p:cSld name="Kraj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idx="1" type="body"/>
          </p:nvPr>
        </p:nvSpPr>
        <p:spPr>
          <a:xfrm>
            <a:off x="2946044" y="2995430"/>
            <a:ext cx="8804637" cy="2173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ial"/>
              <a:buNone/>
              <a:defRPr b="1" i="0" sz="7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9353" y="369104"/>
            <a:ext cx="498480" cy="20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4365644" y="297317"/>
            <a:ext cx="2700600" cy="41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hr-H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Ofenzivna sigurnost</a:t>
            </a:r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81001" y="372471"/>
            <a:ext cx="813542" cy="340682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/>
        </p:nvSpPr>
        <p:spPr>
          <a:xfrm>
            <a:off x="9055299" y="297317"/>
            <a:ext cx="2700600" cy="41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0" i="0" lang="hr-H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Studentske prezentacije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/>
        </p:nvSpPr>
        <p:spPr>
          <a:xfrm>
            <a:off x="4365644" y="297317"/>
            <a:ext cx="2700600" cy="41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hr-H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Ofenzivna sigurnost</a:t>
            </a:r>
            <a:endParaRPr/>
          </a:p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81001" y="372471"/>
            <a:ext cx="813542" cy="34068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/>
        </p:nvSpPr>
        <p:spPr>
          <a:xfrm>
            <a:off x="9055299" y="297317"/>
            <a:ext cx="2700600" cy="41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hr-H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Studentske prezentacije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Z_b3W4x1SNjI5EQfjvHGA3HVVurFRYaN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youtube.com/watch?v=MW8PLWazisE" TargetMode="External"/><Relationship Id="rId4" Type="http://schemas.openxmlformats.org/officeDocument/2006/relationships/hyperlink" Target="https://safety.army.mil/Portals/0/Documents/MEDIA/SMALLUNITLEADERCARDS/Standard/Troop-Leading-Procedures.pdf" TargetMode="External"/><Relationship Id="rId9" Type="http://schemas.openxmlformats.org/officeDocument/2006/relationships/hyperlink" Target="https://thedecisionlab.com/reference-guide/computer-science/the-ooda-loop" TargetMode="External"/><Relationship Id="rId5" Type="http://schemas.openxmlformats.org/officeDocument/2006/relationships/hyperlink" Target="https://en.wikipedia.org/wiki/Troop_Leading_Procedures" TargetMode="External"/><Relationship Id="rId6" Type="http://schemas.openxmlformats.org/officeDocument/2006/relationships/hyperlink" Target="https://en.wikipedia.org/wiki/Military_Decision_Making_Process" TargetMode="External"/><Relationship Id="rId7" Type="http://schemas.openxmlformats.org/officeDocument/2006/relationships/hyperlink" Target="https://www.educationconnection.com/army-study-guide/troop-leading-procedures/" TargetMode="External"/><Relationship Id="rId8" Type="http://schemas.openxmlformats.org/officeDocument/2006/relationships/hyperlink" Target="https://www.ssh.com/academy/military-cybersecurity-protecting-operation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rdl.train.army.mil/catalog-ws/view/100.ATSC/B2CD5B93-A4F0-40F3-82E3-AAA34EA2ECAD-1395943497063/report.pdf" TargetMode="External"/><Relationship Id="rId4" Type="http://schemas.openxmlformats.org/officeDocument/2006/relationships/hyperlink" Target="https://www.187fw.ang.af.mil/Portals/1/08%20--%20TLP%20and%20Convoy%20Planning%20%28SFC2%29.pp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516257" y="1410045"/>
            <a:ext cx="8281197" cy="13102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20312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hr-HR">
                <a:latin typeface="Arial"/>
                <a:ea typeface="Arial"/>
                <a:cs typeface="Arial"/>
                <a:sym typeface="Arial"/>
              </a:rPr>
              <a:t>Ofenzivna sigurnost</a:t>
            </a:r>
            <a:endParaRPr/>
          </a:p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521475" y="4865569"/>
            <a:ext cx="6104036" cy="1310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hr-HR"/>
              <a:t>Ante Čavar, 12.01.2026</a:t>
            </a:r>
            <a:endParaRPr/>
          </a:p>
        </p:txBody>
      </p:sp>
      <p:sp>
        <p:nvSpPr>
          <p:cNvPr id="58" name="Google Shape;58;p10"/>
          <p:cNvSpPr txBox="1"/>
          <p:nvPr>
            <p:ph idx="3" type="body"/>
          </p:nvPr>
        </p:nvSpPr>
        <p:spPr>
          <a:xfrm>
            <a:off x="9055299" y="266407"/>
            <a:ext cx="2700600" cy="41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hr-HR" sz="1100"/>
              <a:t>Akademska godina 2025/2026</a:t>
            </a:r>
            <a:endParaRPr/>
          </a:p>
        </p:txBody>
      </p:sp>
      <p:sp>
        <p:nvSpPr>
          <p:cNvPr id="59" name="Google Shape;59;p10"/>
          <p:cNvSpPr txBox="1"/>
          <p:nvPr>
            <p:ph idx="4" type="body"/>
          </p:nvPr>
        </p:nvSpPr>
        <p:spPr>
          <a:xfrm>
            <a:off x="1519026" y="3067052"/>
            <a:ext cx="9524112" cy="1626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hr-HR"/>
              <a:t>TLP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hr-HR" sz="3200"/>
              <a:t>Motivacija</a:t>
            </a:r>
            <a:endParaRPr sz="32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Pitanja za ispite</a:t>
            </a:r>
            <a:endParaRPr sz="3200"/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Ukratko o TLP-u</a:t>
            </a:r>
            <a:endParaRPr sz="32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Video uvod (TLP u vojsci)</a:t>
            </a:r>
            <a:endParaRPr sz="32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Analogija koraka</a:t>
            </a:r>
            <a:endParaRPr sz="32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Opširnije o koracima</a:t>
            </a:r>
            <a:endParaRPr sz="32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Mane i alternative</a:t>
            </a:r>
            <a:endParaRPr sz="32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Zaključak</a:t>
            </a:r>
            <a:endParaRPr sz="32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Literatura</a:t>
            </a:r>
            <a:endParaRPr sz="3200"/>
          </a:p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565509" y="871572"/>
            <a:ext cx="10398978" cy="716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Pregled predavanja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Jeste li ikada osjetili nervozu kada se dogodi problem koji od vas zahtjeva trenutno rješavanje, a niste znali kako mu pristupiti?</a:t>
            </a:r>
            <a:endParaRPr/>
          </a:p>
          <a:p>
            <a:pPr indent="-228600" lvl="1" marL="56991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r-HR"/>
              <a:t>Takozvani “analysis </a:t>
            </a:r>
            <a:r>
              <a:rPr lang="hr-HR"/>
              <a:t>paralysis</a:t>
            </a:r>
            <a:r>
              <a:rPr lang="hr-HR"/>
              <a:t>” tj. paraliza zbog analize (previše podataka)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Zbog velike količine podatak u stresnim i kompliciranim situacijama nema uvijek vremena konzultirati se sa nadređenim ili pitati za savjet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I ovdje TLP to rješava</a:t>
            </a:r>
            <a:endParaRPr/>
          </a:p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565509" y="871572"/>
            <a:ext cx="10398978" cy="716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Motivacija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r-HR" sz="2800"/>
              <a:t>Koji je glavni razlog za korištenje okvira poput TLP-a (Troop Leading Procedures) u stresnim situacijama kibernetičke sigurnosti?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hr-HR" sz="2800"/>
              <a:t>U koraku "Izrada privremenog plana", što je glavna svrha korištenja vojnog akronima METT-TC?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hr-HR" sz="2800"/>
              <a:t>Koliko koraka ima TLP i u kojem koraku se radi analiza provedenih akcija?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hr-HR" sz="2800"/>
              <a:t>Koja je alternativa TLP-u i zašto nam je ona bolja?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hr-HR" sz="2800"/>
              <a:t>Navedi i opiši jednu manu TLP-a.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hr-HR" sz="2800"/>
              <a:t>Za koga je TLP namjenjen?</a:t>
            </a:r>
            <a:endParaRPr sz="2800"/>
          </a:p>
        </p:txBody>
      </p:sp>
      <p:sp>
        <p:nvSpPr>
          <p:cNvPr id="77" name="Google Shape;77;p13"/>
          <p:cNvSpPr txBox="1"/>
          <p:nvPr>
            <p:ph idx="2" type="body"/>
          </p:nvPr>
        </p:nvSpPr>
        <p:spPr>
          <a:xfrm>
            <a:off x="565509" y="871572"/>
            <a:ext cx="10398978" cy="716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Pitanja za ispite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hr-HR" sz="3200"/>
              <a:t>Sistematski pristup planiranju, pripremanju i izvedbi (vojnih) operacija na razini manjih jedinica</a:t>
            </a:r>
            <a:endParaRPr sz="3200"/>
          </a:p>
          <a:p>
            <a:pPr indent="-22225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hr-HR" sz="2700"/>
              <a:t>namijenjen</a:t>
            </a:r>
            <a:r>
              <a:rPr lang="hr-HR" sz="2700"/>
              <a:t> zapovjednicima</a:t>
            </a:r>
            <a:endParaRPr sz="2700"/>
          </a:p>
          <a:p>
            <a:pPr indent="-22225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hr-HR" sz="2700"/>
              <a:t>Vojska, marinci</a:t>
            </a:r>
            <a:endParaRPr sz="2700"/>
          </a:p>
          <a:p>
            <a:pPr indent="-22225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hr-HR" sz="2700"/>
              <a:t>brigade, specijalizirani timovi…</a:t>
            </a:r>
            <a:endParaRPr sz="27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hr-HR" sz="3200"/>
              <a:t>MDMP</a:t>
            </a:r>
            <a:r>
              <a:rPr lang="hr-HR" sz="3200"/>
              <a:t> (Military Decision-Making Process), no “usitnjenija” i dinamičnija verzija</a:t>
            </a:r>
            <a:endParaRPr sz="3200"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hr-HR" sz="3200"/>
              <a:t>Koraci navedeni ne moraju teći linearno već se njihov poredak i način izvršavanja mijenjaju ovisno o situaciji</a:t>
            </a:r>
            <a:endParaRPr sz="3200"/>
          </a:p>
        </p:txBody>
      </p:sp>
      <p:sp>
        <p:nvSpPr>
          <p:cNvPr id="83" name="Google Shape;83;p14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Ukratko o TLP-u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idx="2" type="body"/>
          </p:nvPr>
        </p:nvSpPr>
        <p:spPr>
          <a:xfrm>
            <a:off x="565509" y="871572"/>
            <a:ext cx="10398978" cy="716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Video uvod</a:t>
            </a:r>
            <a:endParaRPr/>
          </a:p>
        </p:txBody>
      </p:sp>
      <p:pic>
        <p:nvPicPr>
          <p:cNvPr id="89" name="Google Shape;89;p15" title="TLP_shotrt_fast_subtitle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7725" y="1587723"/>
            <a:ext cx="6314525" cy="473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 sz="3500"/>
              <a:t>Analogija koraka u kontekstu </a:t>
            </a:r>
            <a:r>
              <a:rPr lang="hr-HR" sz="3500"/>
              <a:t>kibernetičke sigurnosti</a:t>
            </a:r>
            <a:endParaRPr sz="3500"/>
          </a:p>
        </p:txBody>
      </p:sp>
      <p:graphicFrame>
        <p:nvGraphicFramePr>
          <p:cNvPr id="96" name="Google Shape;96;p16"/>
          <p:cNvGraphicFramePr/>
          <p:nvPr/>
        </p:nvGraphicFramePr>
        <p:xfrm>
          <a:off x="357725" y="158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{A31A2B2A-436A-480B-A1B8-D0FBDF0A8AFE}</a:tableStyleId>
              </a:tblPr>
              <a:tblGrid>
                <a:gridCol w="3866800"/>
                <a:gridCol w="3866800"/>
                <a:gridCol w="3866800"/>
              </a:tblGrid>
              <a:tr h="48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300"/>
                        <a:t>Korak</a:t>
                      </a:r>
                      <a:endParaRPr sz="2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300"/>
                        <a:t>Vojni kontekst</a:t>
                      </a:r>
                      <a:endParaRPr sz="2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300"/>
                        <a:t>Kibernetička analogija</a:t>
                      </a:r>
                      <a:endParaRPr sz="2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AutoNum type="arabicPeriod"/>
                      </a:pPr>
                      <a:r>
                        <a:rPr b="1" lang="hr-HR" sz="1300"/>
                        <a:t>Primitak misije</a:t>
                      </a:r>
                      <a:endParaRPr b="1"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Dobitak zapovijedi (OPORD)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Primitak obavijesti o incidentu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 sz="1300"/>
                        <a:t>2. Izdavanje naredbe upozorenja (WARNO)</a:t>
                      </a:r>
                      <a:endParaRPr b="1"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Izvješće podređenima da se pripreme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Slanje WARNO tima, priprema alata ovisno o situaciji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 sz="1300"/>
                        <a:t>3. Izrada privremenog plana (METT-TC)</a:t>
                      </a:r>
                      <a:endParaRPr b="1"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Analiza neprijatelja, terena i resursa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Analiza vektora napada, topologije mreže i dostupnih alata/ljudstva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 sz="1300"/>
                        <a:t>4. </a:t>
                      </a:r>
                      <a:r>
                        <a:rPr b="1" lang="hr-HR" sz="1300"/>
                        <a:t>Inicijaliziranje</a:t>
                      </a:r>
                      <a:r>
                        <a:rPr b="1" lang="hr-HR" sz="1300"/>
                        <a:t> pokretanja (mobilizacija)</a:t>
                      </a:r>
                      <a:endParaRPr b="1"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Premještanje postrojbe na lokaciju.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Priprema infrastrukture, izolacija segmenata mreže…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 sz="1300"/>
                        <a:t>5. Provođenje izviđanja</a:t>
                      </a:r>
                      <a:endParaRPr b="1"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Izviđanje neprijateljskih pozicija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Skeniranje mreže, analiza logova, lov na prijetnje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 sz="1300"/>
                        <a:t>6. Završavanje plana</a:t>
                      </a:r>
                      <a:endParaRPr b="1"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Finalizacija operativnog plana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Definiranje ROE (Rules of Engagement) i konačne strategije ublažavanja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 sz="1300"/>
                        <a:t>7. Izdavanje naredbe</a:t>
                      </a:r>
                      <a:endParaRPr b="1"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Izdavanje krajnje zapovijedi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Zadnje informiranje tima prije početka ofenzivne/obrambene operacije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r-HR" sz="1300"/>
                        <a:t>8. Nadzor i “pročišćavanje”</a:t>
                      </a:r>
                      <a:endParaRPr b="1"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Nadzor, vježbe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300"/>
                        <a:t>Nadgledanje sustava nakon/tokom operacije</a:t>
                      </a:r>
                      <a:endParaRPr sz="13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16"/>
          <p:cNvSpPr txBox="1"/>
          <p:nvPr/>
        </p:nvSpPr>
        <p:spPr>
          <a:xfrm>
            <a:off x="250775" y="6373850"/>
            <a:ext cx="95562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hr-HR">
                <a:solidFill>
                  <a:srgbClr val="434343"/>
                </a:solidFill>
              </a:rPr>
              <a:t>Tablica 1. Analogija vojnih termina u kontekstu kibernetičke sigurnosti </a:t>
            </a:r>
            <a:endParaRPr i="1">
              <a:solidFill>
                <a:srgbClr val="434343"/>
              </a:solidFill>
            </a:endParaRPr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Ticket u JIRA-i, poziv CISO-a, alarm s IDS-a, poziv incident respondera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naglasak na analizi vremena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koliko je prošlo od alarma, kada se prvi oglasio, koliko će nam trebati da se mobiliziramo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Cilj ovog koraka je razumijevanje i definiranje prioriteta i ograničenja</a:t>
            </a:r>
            <a:endParaRPr/>
          </a:p>
        </p:txBody>
      </p:sp>
      <p:sp>
        <p:nvSpPr>
          <p:cNvPr id="104" name="Google Shape;104;p17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Opširno: Primitak misije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Obavještavanje podređenih relevantnih ljudi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forenzičari pripremaju snapshotove, mrežni admini provjeravaju vatrozid…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Naglasak na brzini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Cilj je mobilizacija resursa i ljudi dok nadređeni razmišlja što i kako dalje</a:t>
            </a:r>
            <a:endParaRPr/>
          </a:p>
        </p:txBody>
      </p:sp>
      <p:sp>
        <p:nvSpPr>
          <p:cNvPr id="110" name="Google Shape;110;p18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Opširno: Izdavanje naredbe upozorenje WARNO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METT-TC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i="1" lang="hr-HR"/>
              <a:t>Mission, Enemy, Terrain, Troops, Time, Civilians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/>
              <a:t>Cilj je definirati:</a:t>
            </a:r>
            <a:endParaRPr/>
          </a:p>
          <a:p>
            <a:pPr indent="-2413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hr-HR" sz="3000"/>
              <a:t>koja je misija (konačni cilj)</a:t>
            </a:r>
            <a:endParaRPr sz="3000"/>
          </a:p>
          <a:p>
            <a:pPr indent="-2413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hr-HR" sz="3000"/>
              <a:t>tko je neprijatelj (APT, pojedinac, grupa)</a:t>
            </a:r>
            <a:endParaRPr sz="3000"/>
          </a:p>
          <a:p>
            <a:pPr indent="-2413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hr-HR" sz="3000"/>
              <a:t>kako izgleda naš kompromitirani segment mreže i njegova okolina</a:t>
            </a:r>
            <a:endParaRPr sz="3000"/>
          </a:p>
          <a:p>
            <a:pPr indent="-2413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hr-HR" sz="3000"/>
              <a:t>tko je od ljudstva dostupan (on-site, može doći on-site, nedostupni)</a:t>
            </a:r>
            <a:endParaRPr sz="3000"/>
          </a:p>
          <a:p>
            <a:pPr indent="-2413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hr-HR" sz="3000"/>
              <a:t>analiza vremena (operativnog i onog što smo saznali u 1. koraku)</a:t>
            </a:r>
            <a:endParaRPr sz="3000"/>
          </a:p>
          <a:p>
            <a:pPr indent="-304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hr-HR" sz="3000"/>
              <a:t>Na temelju odgovora na ova pitanja stvara se inicijalni plan</a:t>
            </a:r>
            <a:endParaRPr sz="3000"/>
          </a:p>
        </p:txBody>
      </p:sp>
      <p:sp>
        <p:nvSpPr>
          <p:cNvPr id="116" name="Google Shape;116;p19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Opširno: Izrada privremenog plana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Nema direktnog prijevoda u kontekstu kibernetičke sigurnosti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Podrazumijeva: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podizanje virtualnih mašina za analizu (sandbox)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priprema alata koji će potencijalno trebati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prikupljanje informacija prethodnih incidenata (radi usporedbe i potencijalnih podudaranja)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 …</a:t>
            </a:r>
            <a:endParaRPr/>
          </a:p>
        </p:txBody>
      </p:sp>
      <p:sp>
        <p:nvSpPr>
          <p:cNvPr id="122" name="Google Shape;122;p20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Opširno: Mobilizacija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Ne vjeruj slijepo inicijalnoj analizi (iz 1. koraka)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Nmap - skeniranje mreže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provjera integriteta datotek (Tripwire)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analiza mrežnih (PCAP) zapisa</a:t>
            </a:r>
            <a:endParaRPr/>
          </a:p>
        </p:txBody>
      </p:sp>
      <p:sp>
        <p:nvSpPr>
          <p:cNvPr id="128" name="Google Shape;128;p21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Opširno: Izviđanje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Dopuna i izmjene inicijalnog plana na temelju informacija dobivenih iz prethodnih koraka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Definiramo: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tko smije pričati sa medijima i što smije reći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tko priča sa upravom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tko rješava koji dio problema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kako ćemo se oporaviti od incidenta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koje su naknadne radnje koje moramo poduzeti</a:t>
            </a:r>
            <a:endParaRPr/>
          </a:p>
        </p:txBody>
      </p:sp>
      <p:sp>
        <p:nvSpPr>
          <p:cNvPr id="134" name="Google Shape;134;p22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Opširno: Završavanje plana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Upravo ono što naslov kaže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Provodimo plan na način kako smo to definirali u prethodnom koraku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U ovom koraku se očekuje da svatko zna koji mu je posao i kako ga mora napraviti</a:t>
            </a:r>
            <a:endParaRPr/>
          </a:p>
        </p:txBody>
      </p:sp>
      <p:sp>
        <p:nvSpPr>
          <p:cNvPr id="140" name="Google Shape;140;p23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Opširno: Izdavanje naredbe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Najbitniji korak za unaprjeđivanje i doradu procesa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jesu li naredbe izvršene kako treba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što smo napravili a nismo morali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što nismo napravili a trebali smo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što smo mogli brže napraviti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kako spriječiti da se incident ponovi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Također podrazumijeva i trenutno provođenje prethodne naredbe</a:t>
            </a:r>
            <a:endParaRPr/>
          </a:p>
        </p:txBody>
      </p:sp>
      <p:sp>
        <p:nvSpPr>
          <p:cNvPr id="146" name="Google Shape;146;p24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Opširno: Nadzor i usavršavanje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SzPts val="3700"/>
              <a:buChar char="•"/>
            </a:pPr>
            <a:r>
              <a:rPr b="1" lang="hr-HR" sz="2900">
                <a:latin typeface="Calibri"/>
                <a:ea typeface="Calibri"/>
                <a:cs typeface="Calibri"/>
                <a:sym typeface="Calibri"/>
              </a:rPr>
              <a:t>Hijerarhijska ukočenost</a:t>
            </a:r>
            <a:r>
              <a:rPr lang="hr-HR" sz="2900">
                <a:latin typeface="Calibri"/>
                <a:ea typeface="Calibri"/>
                <a:cs typeface="Calibri"/>
                <a:sym typeface="Calibri"/>
              </a:rPr>
              <a:t> - TLP je zamišljen za strukturu gdje vođa planira a podređeni izvršavaju bez preispitivanja vođe; gubitak dragocjenih sekundi zbog zapovjednog lanca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900"/>
              <a:buFont typeface="Calibri"/>
              <a:buChar char="•"/>
            </a:pPr>
            <a:r>
              <a:rPr b="1" lang="hr-HR" sz="2900">
                <a:latin typeface="Calibri"/>
                <a:ea typeface="Calibri"/>
                <a:cs typeface="Calibri"/>
                <a:sym typeface="Calibri"/>
              </a:rPr>
              <a:t>Linearna zamka</a:t>
            </a:r>
            <a:r>
              <a:rPr lang="hr-HR" sz="2900">
                <a:latin typeface="Calibri"/>
                <a:ea typeface="Calibri"/>
                <a:cs typeface="Calibri"/>
                <a:sym typeface="Calibri"/>
              </a:rPr>
              <a:t> - koliko god koraci bili dinamični, TLP je inherentno sekvencijalan; držanje redoslijeda može dovesti do toga da planiramo za situaciju koja je postojala prije 10 minuta</a:t>
            </a:r>
            <a:endParaRPr sz="3700"/>
          </a:p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hr-HR" sz="2900">
                <a:latin typeface="Calibri"/>
                <a:ea typeface="Calibri"/>
                <a:cs typeface="Calibri"/>
                <a:sym typeface="Calibri"/>
              </a:rPr>
              <a:t>Kognitivno opterećenje vođe</a:t>
            </a:r>
            <a:r>
              <a:rPr lang="hr-HR" sz="2900">
                <a:latin typeface="Calibri"/>
                <a:ea typeface="Calibri"/>
                <a:cs typeface="Calibri"/>
                <a:sym typeface="Calibri"/>
              </a:rPr>
              <a:t> - TLP agregira svu odgovornost na jednu osobu od kog se očekuje da donese odluku za svaku stvar; u kibernetičkim incidentima nastaje tolika količina informacija da nije moguće da uz razumijevanje istih davati naredbe efektivno</a:t>
            </a:r>
            <a:endParaRPr sz="3700"/>
          </a:p>
        </p:txBody>
      </p:sp>
      <p:sp>
        <p:nvSpPr>
          <p:cNvPr id="153" name="Google Shape;153;p25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hr-HR"/>
              <a:t>Mane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b="1" lang="hr-HR">
                <a:latin typeface="Calibri"/>
                <a:ea typeface="Calibri"/>
                <a:cs typeface="Calibri"/>
                <a:sym typeface="Calibri"/>
              </a:rPr>
              <a:t>OODA Loop</a:t>
            </a:r>
            <a:r>
              <a:rPr lang="hr-HR">
                <a:latin typeface="Calibri"/>
                <a:ea typeface="Calibri"/>
                <a:cs typeface="Calibri"/>
                <a:sym typeface="Calibri"/>
              </a:rPr>
              <a:t> (Observe-Orient-Decide-Act)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413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Calibri"/>
              <a:buChar char="•"/>
            </a:pPr>
            <a:r>
              <a:rPr lang="hr-HR" sz="3000"/>
              <a:t>rješava problem tromosti</a:t>
            </a:r>
            <a:endParaRPr sz="3000"/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b="1" lang="hr-HR"/>
              <a:t>Mission Command</a:t>
            </a:r>
            <a:endParaRPr b="1"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daj timu cilj, pusti ih da sami nađu cilj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Heuristika i intuicija</a:t>
            </a:r>
            <a:endParaRPr/>
          </a:p>
          <a:p>
            <a:pPr indent="-228600" lvl="1" marL="56991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iskusnim ljudima ne treba pretjerani nadzor</a:t>
            </a:r>
            <a:endParaRPr/>
          </a:p>
        </p:txBody>
      </p:sp>
      <p:sp>
        <p:nvSpPr>
          <p:cNvPr id="160" name="Google Shape;160;p26"/>
          <p:cNvSpPr txBox="1"/>
          <p:nvPr>
            <p:ph idx="2" type="body"/>
          </p:nvPr>
        </p:nvSpPr>
        <p:spPr>
          <a:xfrm>
            <a:off x="565509" y="871572"/>
            <a:ext cx="10398900" cy="716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hr-HR"/>
              <a:t>Alternative</a:t>
            </a:r>
            <a:endParaRPr/>
          </a:p>
        </p:txBody>
      </p:sp>
      <p:grpSp>
        <p:nvGrpSpPr>
          <p:cNvPr id="161" name="Google Shape;161;p26"/>
          <p:cNvGrpSpPr/>
          <p:nvPr/>
        </p:nvGrpSpPr>
        <p:grpSpPr>
          <a:xfrm>
            <a:off x="7222323" y="2077504"/>
            <a:ext cx="5382900" cy="5375939"/>
            <a:chOff x="7338448" y="1938154"/>
            <a:chExt cx="5382900" cy="5375939"/>
          </a:xfrm>
        </p:grpSpPr>
        <p:grpSp>
          <p:nvGrpSpPr>
            <p:cNvPr id="162" name="Google Shape;162;p26"/>
            <p:cNvGrpSpPr/>
            <p:nvPr/>
          </p:nvGrpSpPr>
          <p:grpSpPr>
            <a:xfrm>
              <a:off x="7338448" y="3489766"/>
              <a:ext cx="2780292" cy="2704778"/>
              <a:chOff x="1917433" y="1453653"/>
              <a:chExt cx="2742176" cy="2667697"/>
            </a:xfrm>
          </p:grpSpPr>
          <p:sp>
            <p:nvSpPr>
              <p:cNvPr id="163" name="Google Shape;163;p26"/>
              <p:cNvSpPr/>
              <p:nvPr/>
            </p:nvSpPr>
            <p:spPr>
              <a:xfrm rot="-2700000">
                <a:off x="2440767" y="1711670"/>
                <a:ext cx="1621029" cy="2151664"/>
              </a:xfrm>
              <a:custGeom>
                <a:rect b="b" l="l" r="r" t="t"/>
                <a:pathLst>
                  <a:path extrusionOk="0" h="332" w="250">
                    <a:moveTo>
                      <a:pt x="32" y="286"/>
                    </a:moveTo>
                    <a:cubicBezTo>
                      <a:pt x="32" y="157"/>
                      <a:pt x="127" y="49"/>
                      <a:pt x="250" y="29"/>
                    </a:cubicBezTo>
                    <a:cubicBezTo>
                      <a:pt x="245" y="19"/>
                      <a:pt x="239" y="9"/>
                      <a:pt x="232" y="0"/>
                    </a:cubicBezTo>
                    <a:cubicBezTo>
                      <a:pt x="100" y="28"/>
                      <a:pt x="0" y="145"/>
                      <a:pt x="0" y="286"/>
                    </a:cubicBezTo>
                    <a:cubicBezTo>
                      <a:pt x="0" y="302"/>
                      <a:pt x="1" y="317"/>
                      <a:pt x="3" y="332"/>
                    </a:cubicBezTo>
                    <a:cubicBezTo>
                      <a:pt x="13" y="325"/>
                      <a:pt x="23" y="319"/>
                      <a:pt x="33" y="314"/>
                    </a:cubicBezTo>
                    <a:cubicBezTo>
                      <a:pt x="33" y="305"/>
                      <a:pt x="32" y="296"/>
                      <a:pt x="32" y="286"/>
                    </a:cubicBezTo>
                    <a:close/>
                  </a:path>
                </a:pathLst>
              </a:custGeom>
              <a:solidFill>
                <a:srgbClr val="AAAAAA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350" lIns="92700" spcFirstLastPara="1" rIns="92700" wrap="square" tIns="4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26"/>
              <p:cNvSpPr/>
              <p:nvPr/>
            </p:nvSpPr>
            <p:spPr>
              <a:xfrm rot="-2700000">
                <a:off x="2689034" y="1771298"/>
                <a:ext cx="1575643" cy="1769691"/>
              </a:xfrm>
              <a:custGeom>
                <a:rect b="b" l="l" r="r" t="t"/>
                <a:pathLst>
                  <a:path extrusionOk="0" h="285" w="254">
                    <a:moveTo>
                      <a:pt x="200" y="153"/>
                    </a:moveTo>
                    <a:cubicBezTo>
                      <a:pt x="217" y="143"/>
                      <a:pt x="236" y="137"/>
                      <a:pt x="254" y="136"/>
                    </a:cubicBezTo>
                    <a:cubicBezTo>
                      <a:pt x="253" y="87"/>
                      <a:pt x="240" y="41"/>
                      <a:pt x="218" y="0"/>
                    </a:cubicBezTo>
                    <a:cubicBezTo>
                      <a:pt x="95" y="20"/>
                      <a:pt x="0" y="128"/>
                      <a:pt x="0" y="257"/>
                    </a:cubicBezTo>
                    <a:cubicBezTo>
                      <a:pt x="0" y="267"/>
                      <a:pt x="1" y="276"/>
                      <a:pt x="1" y="285"/>
                    </a:cubicBezTo>
                    <a:cubicBezTo>
                      <a:pt x="43" y="263"/>
                      <a:pt x="90" y="251"/>
                      <a:pt x="140" y="250"/>
                    </a:cubicBezTo>
                    <a:cubicBezTo>
                      <a:pt x="142" y="211"/>
                      <a:pt x="164" y="174"/>
                      <a:pt x="200" y="153"/>
                    </a:cubicBezTo>
                    <a:close/>
                  </a:path>
                </a:pathLst>
              </a:custGeom>
              <a:solidFill>
                <a:srgbClr val="3D3D3D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350" lIns="92700" spcFirstLastPara="1" rIns="92700" wrap="square" tIns="4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26"/>
              <p:cNvSpPr txBox="1"/>
              <p:nvPr/>
            </p:nvSpPr>
            <p:spPr>
              <a:xfrm rot="-5400000">
                <a:off x="2686908" y="2290153"/>
                <a:ext cx="14961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2700" lIns="92700" spcFirstLastPara="1" rIns="92700" wrap="square" tIns="92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r-HR" sz="225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Act</a:t>
                </a:r>
                <a:endParaRPr sz="22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66" name="Google Shape;166;p26"/>
            <p:cNvGrpSpPr/>
            <p:nvPr/>
          </p:nvGrpSpPr>
          <p:grpSpPr>
            <a:xfrm>
              <a:off x="8893748" y="4530223"/>
              <a:ext cx="2706224" cy="2783869"/>
              <a:chOff x="3451411" y="2479847"/>
              <a:chExt cx="2669123" cy="2745704"/>
            </a:xfrm>
          </p:grpSpPr>
          <p:sp>
            <p:nvSpPr>
              <p:cNvPr id="167" name="Google Shape;167;p26"/>
              <p:cNvSpPr/>
              <p:nvPr/>
            </p:nvSpPr>
            <p:spPr>
              <a:xfrm rot="-2700000">
                <a:off x="3709147" y="3080460"/>
                <a:ext cx="2153650" cy="1621060"/>
              </a:xfrm>
              <a:custGeom>
                <a:rect b="b" l="l" r="r" t="t"/>
                <a:pathLst>
                  <a:path extrusionOk="0" h="250" w="333">
                    <a:moveTo>
                      <a:pt x="287" y="218"/>
                    </a:moveTo>
                    <a:cubicBezTo>
                      <a:pt x="157" y="218"/>
                      <a:pt x="50" y="124"/>
                      <a:pt x="30" y="0"/>
                    </a:cubicBezTo>
                    <a:cubicBezTo>
                      <a:pt x="19" y="5"/>
                      <a:pt x="10" y="11"/>
                      <a:pt x="0" y="18"/>
                    </a:cubicBezTo>
                    <a:cubicBezTo>
                      <a:pt x="28" y="151"/>
                      <a:pt x="146" y="250"/>
                      <a:pt x="287" y="250"/>
                    </a:cubicBezTo>
                    <a:cubicBezTo>
                      <a:pt x="302" y="250"/>
                      <a:pt x="318" y="249"/>
                      <a:pt x="333" y="247"/>
                    </a:cubicBezTo>
                    <a:cubicBezTo>
                      <a:pt x="326" y="237"/>
                      <a:pt x="320" y="227"/>
                      <a:pt x="315" y="217"/>
                    </a:cubicBezTo>
                    <a:cubicBezTo>
                      <a:pt x="306" y="218"/>
                      <a:pt x="296" y="218"/>
                      <a:pt x="287" y="218"/>
                    </a:cubicBezTo>
                    <a:close/>
                  </a:path>
                </a:pathLst>
              </a:custGeom>
              <a:solidFill>
                <a:srgbClr val="AAAAAA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350" lIns="92700" spcFirstLastPara="1" rIns="92700" wrap="square" tIns="4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26"/>
              <p:cNvSpPr/>
              <p:nvPr/>
            </p:nvSpPr>
            <p:spPr>
              <a:xfrm rot="-2700000">
                <a:off x="3773733" y="2873178"/>
                <a:ext cx="1764275" cy="1573502"/>
              </a:xfrm>
              <a:custGeom>
                <a:rect b="b" l="l" r="r" t="t"/>
                <a:pathLst>
                  <a:path extrusionOk="0" h="254" w="285">
                    <a:moveTo>
                      <a:pt x="152" y="54"/>
                    </a:moveTo>
                    <a:cubicBezTo>
                      <a:pt x="142" y="37"/>
                      <a:pt x="137" y="19"/>
                      <a:pt x="136" y="0"/>
                    </a:cubicBezTo>
                    <a:cubicBezTo>
                      <a:pt x="86" y="1"/>
                      <a:pt x="40" y="14"/>
                      <a:pt x="0" y="36"/>
                    </a:cubicBezTo>
                    <a:cubicBezTo>
                      <a:pt x="20" y="160"/>
                      <a:pt x="127" y="254"/>
                      <a:pt x="257" y="254"/>
                    </a:cubicBezTo>
                    <a:cubicBezTo>
                      <a:pt x="266" y="254"/>
                      <a:pt x="276" y="254"/>
                      <a:pt x="285" y="253"/>
                    </a:cubicBezTo>
                    <a:cubicBezTo>
                      <a:pt x="263" y="211"/>
                      <a:pt x="251" y="164"/>
                      <a:pt x="250" y="115"/>
                    </a:cubicBezTo>
                    <a:cubicBezTo>
                      <a:pt x="210" y="112"/>
                      <a:pt x="173" y="91"/>
                      <a:pt x="152" y="54"/>
                    </a:cubicBezTo>
                    <a:close/>
                  </a:path>
                </a:pathLst>
              </a:custGeom>
              <a:solidFill>
                <a:srgbClr val="414141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350" lIns="92700" spcFirstLastPara="1" rIns="92700" wrap="square" tIns="4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26"/>
              <p:cNvSpPr txBox="1"/>
              <p:nvPr/>
            </p:nvSpPr>
            <p:spPr>
              <a:xfrm>
                <a:off x="3823936" y="3427182"/>
                <a:ext cx="14961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2700" lIns="92700" spcFirstLastPara="1" rIns="92700" wrap="square" tIns="92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r-HR" sz="2288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Decide</a:t>
                </a:r>
                <a:endParaRPr sz="228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70" name="Google Shape;170;p26"/>
            <p:cNvGrpSpPr/>
            <p:nvPr/>
          </p:nvGrpSpPr>
          <p:grpSpPr>
            <a:xfrm>
              <a:off x="9938387" y="3052166"/>
              <a:ext cx="2782961" cy="2702006"/>
              <a:chOff x="4481729" y="1022053"/>
              <a:chExt cx="2744808" cy="2664963"/>
            </a:xfrm>
          </p:grpSpPr>
          <p:sp>
            <p:nvSpPr>
              <p:cNvPr id="171" name="Google Shape;171;p26"/>
              <p:cNvSpPr/>
              <p:nvPr/>
            </p:nvSpPr>
            <p:spPr>
              <a:xfrm rot="-2700000">
                <a:off x="5085474" y="1278703"/>
                <a:ext cx="1617163" cy="2151664"/>
              </a:xfrm>
              <a:custGeom>
                <a:rect b="b" l="l" r="r" t="t"/>
                <a:pathLst>
                  <a:path extrusionOk="0" h="332" w="250">
                    <a:moveTo>
                      <a:pt x="218" y="45"/>
                    </a:moveTo>
                    <a:cubicBezTo>
                      <a:pt x="218" y="175"/>
                      <a:pt x="123" y="282"/>
                      <a:pt x="0" y="303"/>
                    </a:cubicBezTo>
                    <a:cubicBezTo>
                      <a:pt x="5" y="313"/>
                      <a:pt x="11" y="323"/>
                      <a:pt x="18" y="332"/>
                    </a:cubicBezTo>
                    <a:cubicBezTo>
                      <a:pt x="150" y="304"/>
                      <a:pt x="250" y="186"/>
                      <a:pt x="250" y="45"/>
                    </a:cubicBezTo>
                    <a:cubicBezTo>
                      <a:pt x="250" y="30"/>
                      <a:pt x="248" y="15"/>
                      <a:pt x="246" y="0"/>
                    </a:cubicBezTo>
                    <a:cubicBezTo>
                      <a:pt x="237" y="6"/>
                      <a:pt x="226" y="12"/>
                      <a:pt x="216" y="18"/>
                    </a:cubicBezTo>
                    <a:cubicBezTo>
                      <a:pt x="217" y="27"/>
                      <a:pt x="218" y="36"/>
                      <a:pt x="218" y="45"/>
                    </a:cubicBezTo>
                    <a:close/>
                  </a:path>
                </a:pathLst>
              </a:custGeom>
              <a:solidFill>
                <a:srgbClr val="AAAAAA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350" lIns="92700" spcFirstLastPara="1" rIns="92700" wrap="square" tIns="4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6"/>
              <p:cNvSpPr/>
              <p:nvPr/>
            </p:nvSpPr>
            <p:spPr>
              <a:xfrm rot="-2700000">
                <a:off x="4874704" y="1604373"/>
                <a:ext cx="1579339" cy="1765685"/>
              </a:xfrm>
              <a:custGeom>
                <a:rect b="b" l="l" r="r" t="t"/>
                <a:pathLst>
                  <a:path extrusionOk="0" h="285" w="254">
                    <a:moveTo>
                      <a:pt x="53" y="133"/>
                    </a:moveTo>
                    <a:cubicBezTo>
                      <a:pt x="37" y="142"/>
                      <a:pt x="18" y="148"/>
                      <a:pt x="0" y="149"/>
                    </a:cubicBezTo>
                    <a:cubicBezTo>
                      <a:pt x="1" y="198"/>
                      <a:pt x="14" y="244"/>
                      <a:pt x="36" y="285"/>
                    </a:cubicBezTo>
                    <a:cubicBezTo>
                      <a:pt x="159" y="264"/>
                      <a:pt x="254" y="157"/>
                      <a:pt x="254" y="27"/>
                    </a:cubicBezTo>
                    <a:cubicBezTo>
                      <a:pt x="254" y="18"/>
                      <a:pt x="253" y="9"/>
                      <a:pt x="252" y="0"/>
                    </a:cubicBezTo>
                    <a:cubicBezTo>
                      <a:pt x="211" y="21"/>
                      <a:pt x="164" y="34"/>
                      <a:pt x="114" y="34"/>
                    </a:cubicBezTo>
                    <a:cubicBezTo>
                      <a:pt x="112" y="74"/>
                      <a:pt x="90" y="111"/>
                      <a:pt x="53" y="133"/>
                    </a:cubicBezTo>
                    <a:close/>
                  </a:path>
                </a:pathLst>
              </a:custGeom>
              <a:solidFill>
                <a:srgbClr val="464646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350" lIns="92700" spcFirstLastPara="1" rIns="92700" wrap="square" tIns="4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26"/>
              <p:cNvSpPr txBox="1"/>
              <p:nvPr/>
            </p:nvSpPr>
            <p:spPr>
              <a:xfrm rot="5400000">
                <a:off x="4960966" y="2290154"/>
                <a:ext cx="14961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2700" lIns="92700" spcFirstLastPara="1" rIns="92700" wrap="square" tIns="92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r-HR" sz="2288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Orient</a:t>
                </a:r>
                <a:endParaRPr sz="228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74" name="Google Shape;174;p26"/>
            <p:cNvGrpSpPr/>
            <p:nvPr/>
          </p:nvGrpSpPr>
          <p:grpSpPr>
            <a:xfrm>
              <a:off x="8462598" y="1938154"/>
              <a:ext cx="2691930" cy="2778169"/>
              <a:chOff x="3026172" y="-76686"/>
              <a:chExt cx="2655026" cy="2740082"/>
            </a:xfrm>
          </p:grpSpPr>
          <p:sp>
            <p:nvSpPr>
              <p:cNvPr id="175" name="Google Shape;175;p26"/>
              <p:cNvSpPr/>
              <p:nvPr/>
            </p:nvSpPr>
            <p:spPr>
              <a:xfrm rot="-2700000">
                <a:off x="3282650" y="444474"/>
                <a:ext cx="2142068" cy="1612705"/>
              </a:xfrm>
              <a:custGeom>
                <a:rect b="b" l="l" r="r" t="t"/>
                <a:pathLst>
                  <a:path extrusionOk="0" h="249" w="331">
                    <a:moveTo>
                      <a:pt x="45" y="32"/>
                    </a:moveTo>
                    <a:cubicBezTo>
                      <a:pt x="174" y="32"/>
                      <a:pt x="281" y="126"/>
                      <a:pt x="302" y="249"/>
                    </a:cubicBezTo>
                    <a:cubicBezTo>
                      <a:pt x="312" y="244"/>
                      <a:pt x="322" y="238"/>
                      <a:pt x="331" y="231"/>
                    </a:cubicBezTo>
                    <a:cubicBezTo>
                      <a:pt x="303" y="99"/>
                      <a:pt x="186" y="0"/>
                      <a:pt x="45" y="0"/>
                    </a:cubicBezTo>
                    <a:cubicBezTo>
                      <a:pt x="29" y="0"/>
                      <a:pt x="14" y="1"/>
                      <a:pt x="0" y="3"/>
                    </a:cubicBezTo>
                    <a:cubicBezTo>
                      <a:pt x="6" y="13"/>
                      <a:pt x="12" y="23"/>
                      <a:pt x="17" y="33"/>
                    </a:cubicBezTo>
                    <a:cubicBezTo>
                      <a:pt x="26" y="32"/>
                      <a:pt x="36" y="32"/>
                      <a:pt x="45" y="32"/>
                    </a:cubicBezTo>
                    <a:close/>
                  </a:path>
                </a:pathLst>
              </a:custGeom>
              <a:solidFill>
                <a:srgbClr val="AAAAAA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350" lIns="92700" spcFirstLastPara="1" rIns="92700" wrap="square" tIns="4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6"/>
              <p:cNvSpPr/>
              <p:nvPr/>
            </p:nvSpPr>
            <p:spPr>
              <a:xfrm rot="-2700000">
                <a:off x="3599956" y="695260"/>
                <a:ext cx="1767975" cy="1573496"/>
              </a:xfrm>
              <a:custGeom>
                <a:rect b="b" l="l" r="r" t="t"/>
                <a:pathLst>
                  <a:path extrusionOk="0" h="253" w="285">
                    <a:moveTo>
                      <a:pt x="28" y="0"/>
                    </a:moveTo>
                    <a:cubicBezTo>
                      <a:pt x="19" y="0"/>
                      <a:pt x="9" y="0"/>
                      <a:pt x="0" y="1"/>
                    </a:cubicBezTo>
                    <a:cubicBezTo>
                      <a:pt x="22" y="43"/>
                      <a:pt x="34" y="90"/>
                      <a:pt x="35" y="140"/>
                    </a:cubicBezTo>
                    <a:cubicBezTo>
                      <a:pt x="74" y="142"/>
                      <a:pt x="112" y="163"/>
                      <a:pt x="133" y="200"/>
                    </a:cubicBezTo>
                    <a:cubicBezTo>
                      <a:pt x="143" y="217"/>
                      <a:pt x="148" y="235"/>
                      <a:pt x="149" y="253"/>
                    </a:cubicBezTo>
                    <a:cubicBezTo>
                      <a:pt x="198" y="252"/>
                      <a:pt x="244" y="239"/>
                      <a:pt x="285" y="217"/>
                    </a:cubicBezTo>
                    <a:cubicBezTo>
                      <a:pt x="264" y="94"/>
                      <a:pt x="157" y="0"/>
                      <a:pt x="28" y="0"/>
                    </a:cubicBezTo>
                    <a:close/>
                  </a:path>
                </a:pathLst>
              </a:custGeom>
              <a:solidFill>
                <a:srgbClr val="2F2F2F"/>
              </a:solidFill>
              <a:ln cap="flat" cmpd="sng" w="952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6350" lIns="92700" spcFirstLastPara="1" rIns="92700" wrap="square" tIns="4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6"/>
              <p:cNvSpPr txBox="1"/>
              <p:nvPr/>
            </p:nvSpPr>
            <p:spPr>
              <a:xfrm>
                <a:off x="3823913" y="1153125"/>
                <a:ext cx="14961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2700" lIns="92700" spcFirstLastPara="1" rIns="92700" wrap="square" tIns="92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r-HR" sz="2288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Observe</a:t>
                </a:r>
                <a:endParaRPr sz="228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78" name="Google Shape;178;p26"/>
            <p:cNvSpPr/>
            <p:nvPr/>
          </p:nvSpPr>
          <p:spPr>
            <a:xfrm rot="-2700000">
              <a:off x="9359003" y="3953702"/>
              <a:ext cx="1342372" cy="1339402"/>
            </a:xfrm>
            <a:prstGeom prst="ellipse">
              <a:avLst/>
            </a:prstGeom>
            <a:solidFill>
              <a:srgbClr val="AAAAAA"/>
            </a:solidFill>
            <a:ln>
              <a:noFill/>
            </a:ln>
          </p:spPr>
          <p:txBody>
            <a:bodyPr anchorCtr="0" anchor="ctr" bIns="46350" lIns="92700" spcFirstLastPara="1" rIns="92700" wrap="square" tIns="4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64"/>
            </a:p>
          </p:txBody>
        </p:sp>
      </p:grpSp>
      <p:sp>
        <p:nvSpPr>
          <p:cNvPr id="179" name="Google Shape;179;p26"/>
          <p:cNvSpPr txBox="1"/>
          <p:nvPr/>
        </p:nvSpPr>
        <p:spPr>
          <a:xfrm>
            <a:off x="8893738" y="2395763"/>
            <a:ext cx="3111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hr-HR" sz="1500">
                <a:solidFill>
                  <a:srgbClr val="434343"/>
                </a:solidFill>
              </a:rPr>
              <a:t>Slika 1. OODA petlja</a:t>
            </a:r>
            <a:endParaRPr i="1" sz="1500">
              <a:solidFill>
                <a:srgbClr val="434343"/>
              </a:solidFill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0147750" y="3836525"/>
            <a:ext cx="1857900" cy="18579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565509" y="1824450"/>
            <a:ext cx="10398978" cy="3955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hr-HR"/>
              <a:t>U kontekstu vojske - zlatni standard</a:t>
            </a:r>
            <a:endParaRPr/>
          </a:p>
          <a:p>
            <a:pPr indent="-228600" lvl="1" marL="5699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hr-HR"/>
              <a:t>nama i ne baš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Dobar za standardizaciju i trening neiskusnih timova kako bi znali što uopće raditi u krizi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hr-HR"/>
              <a:t>Za iskusne timove procedura je previše troma i trebalo bi se zamijeniti agilnijim i dinamičnijim sustavima (OODA petlja)</a:t>
            </a:r>
            <a:endParaRPr/>
          </a:p>
        </p:txBody>
      </p:sp>
      <p:sp>
        <p:nvSpPr>
          <p:cNvPr id="186" name="Google Shape;186;p27"/>
          <p:cNvSpPr txBox="1"/>
          <p:nvPr>
            <p:ph idx="2" type="body"/>
          </p:nvPr>
        </p:nvSpPr>
        <p:spPr>
          <a:xfrm>
            <a:off x="565509" y="871572"/>
            <a:ext cx="10398978" cy="716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Zaključak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565509" y="1824450"/>
            <a:ext cx="103989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hr-HR" sz="2300" u="sng">
                <a:solidFill>
                  <a:schemeClr val="hlink"/>
                </a:solidFill>
                <a:hlinkClick r:id="rId3"/>
              </a:rPr>
              <a:t>https://www.youtube.com/watch?v=MW8PLWazisE</a:t>
            </a:r>
            <a:r>
              <a:rPr lang="hr-HR" sz="2300"/>
              <a:t> - posjećeno 10.1., Troop Leading Procedures</a:t>
            </a:r>
            <a:endParaRPr sz="2300"/>
          </a:p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r-HR" sz="2300" u="sng">
                <a:solidFill>
                  <a:schemeClr val="hlink"/>
                </a:solidFill>
                <a:hlinkClick r:id="rId4"/>
              </a:rPr>
              <a:t>https://safety.army.mil/Portals/0/Documents/MEDIA/SMALLUNITLEADERCARDS/Standard/Troop-Leading-Procedures.pdf</a:t>
            </a:r>
            <a:r>
              <a:rPr lang="hr-HR" sz="2300"/>
              <a:t> - posjećeno 10.1.</a:t>
            </a:r>
            <a:endParaRPr sz="2300"/>
          </a:p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r-HR" sz="2300" u="sng">
                <a:solidFill>
                  <a:schemeClr val="hlink"/>
                </a:solidFill>
                <a:hlinkClick r:id="rId5"/>
              </a:rPr>
              <a:t>https://en.wikipedia.org/wiki/Troop_Leading_Procedures</a:t>
            </a:r>
            <a:r>
              <a:rPr lang="hr-HR" sz="2300"/>
              <a:t> - </a:t>
            </a:r>
            <a:r>
              <a:rPr lang="hr-HR" sz="2300"/>
              <a:t>posjećeno 10.1.</a:t>
            </a:r>
            <a:endParaRPr sz="2300"/>
          </a:p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r-HR" sz="2300" u="sng">
                <a:solidFill>
                  <a:schemeClr val="hlink"/>
                </a:solidFill>
                <a:hlinkClick r:id="rId6"/>
              </a:rPr>
              <a:t>https://en.wikipedia.org/wiki/Military_Decision_Making_Process</a:t>
            </a:r>
            <a:r>
              <a:rPr lang="hr-HR" sz="2300"/>
              <a:t> - posjećeno 10.1.</a:t>
            </a:r>
            <a:endParaRPr sz="2300"/>
          </a:p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r-HR" sz="2300" u="sng">
                <a:solidFill>
                  <a:schemeClr val="hlink"/>
                </a:solidFill>
                <a:hlinkClick r:id="rId7"/>
              </a:rPr>
              <a:t>https://www.educationconnection.com/army-study-guide/troop-leading-procedures/</a:t>
            </a:r>
            <a:r>
              <a:rPr lang="hr-HR" sz="2300"/>
              <a:t> - posjećeno 10.1.</a:t>
            </a:r>
            <a:endParaRPr sz="2300"/>
          </a:p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r-HR" sz="2300" u="sng">
                <a:solidFill>
                  <a:schemeClr val="hlink"/>
                </a:solidFill>
                <a:hlinkClick r:id="rId8"/>
              </a:rPr>
              <a:t>https://www.ssh.com/academy/military-cybersecurity-protecting-operations</a:t>
            </a:r>
            <a:r>
              <a:rPr lang="hr-HR" sz="2300"/>
              <a:t> - posjećeno 10.1</a:t>
            </a:r>
            <a:endParaRPr sz="2300"/>
          </a:p>
          <a:p>
            <a:pPr indent="-26035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hr-HR" sz="2300" u="sng">
                <a:solidFill>
                  <a:schemeClr val="hlink"/>
                </a:solidFill>
                <a:hlinkClick r:id="rId9"/>
              </a:rPr>
              <a:t>https://thedecisionlab.com/reference-guide/computer-science/the-ooda-loop</a:t>
            </a:r>
            <a:r>
              <a:rPr lang="hr-HR" sz="2300"/>
              <a:t> - posjećeno 11.1.</a:t>
            </a:r>
            <a:endParaRPr sz="2300"/>
          </a:p>
        </p:txBody>
      </p:sp>
      <p:sp>
        <p:nvSpPr>
          <p:cNvPr id="192" name="Google Shape;192;p28"/>
          <p:cNvSpPr txBox="1"/>
          <p:nvPr>
            <p:ph idx="2" type="body"/>
          </p:nvPr>
        </p:nvSpPr>
        <p:spPr>
          <a:xfrm>
            <a:off x="565509" y="871572"/>
            <a:ext cx="10398978" cy="716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Literatura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idx="1" type="body"/>
          </p:nvPr>
        </p:nvSpPr>
        <p:spPr>
          <a:xfrm>
            <a:off x="565509" y="1824450"/>
            <a:ext cx="10398978" cy="3955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hr-HR" sz="3000" u="sng">
                <a:solidFill>
                  <a:schemeClr val="hlink"/>
                </a:solidFill>
                <a:hlinkClick r:id="rId3"/>
              </a:rPr>
              <a:t>https://rdl.train.army.mil/catalog-ws/view/100.ATSC/B2CD5B93-A4F0-40F3-82E3-AAA34EA2ECAD-1395943497063/report.pdf</a:t>
            </a:r>
            <a:r>
              <a:rPr lang="hr-HR" sz="3000"/>
              <a:t> - posjećeno 10.1.</a:t>
            </a:r>
            <a:endParaRPr sz="3000"/>
          </a:p>
          <a:p>
            <a:pPr indent="-3048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hr-HR" sz="3000" u="sng">
                <a:solidFill>
                  <a:schemeClr val="hlink"/>
                </a:solidFill>
                <a:hlinkClick r:id="rId4"/>
              </a:rPr>
              <a:t>https://www.187fw.ang.af.mil/Portals/1/08%20--%20TLP%20and%20Convoy%20Planning%20%28SFC2%29.ppt</a:t>
            </a:r>
            <a:r>
              <a:rPr lang="hr-HR" sz="3000"/>
              <a:t> - posjećeno 11.1.</a:t>
            </a:r>
            <a:endParaRPr sz="3000"/>
          </a:p>
        </p:txBody>
      </p:sp>
      <p:sp>
        <p:nvSpPr>
          <p:cNvPr id="198" name="Google Shape;198;p29"/>
          <p:cNvSpPr txBox="1"/>
          <p:nvPr>
            <p:ph idx="2" type="body"/>
          </p:nvPr>
        </p:nvSpPr>
        <p:spPr>
          <a:xfrm>
            <a:off x="565509" y="871572"/>
            <a:ext cx="10398978" cy="716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hr-HR"/>
              <a:t>Dodatna literatura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2946044" y="2995430"/>
            <a:ext cx="8804637" cy="2173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lang="hr-HR"/>
              <a:t>Hvala!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2000B"/>
      </a:dk1>
      <a:lt1>
        <a:srgbClr val="FFFFFF"/>
      </a:lt1>
      <a:dk2>
        <a:srgbClr val="02000C"/>
      </a:dk2>
      <a:lt2>
        <a:srgbClr val="E7E6E6"/>
      </a:lt2>
      <a:accent1>
        <a:srgbClr val="02000E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2000B"/>
      </a:dk1>
      <a:lt1>
        <a:srgbClr val="FFFFFF"/>
      </a:lt1>
      <a:dk2>
        <a:srgbClr val="02000C"/>
      </a:dk2>
      <a:lt2>
        <a:srgbClr val="E7E6E6"/>
      </a:lt2>
      <a:accent1>
        <a:srgbClr val="02000E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